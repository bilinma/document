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71"/>
  </p:notesMasterIdLst>
  <p:handoutMasterIdLst>
    <p:handoutMasterId r:id="rId72"/>
  </p:handoutMasterIdLst>
  <p:sldIdLst>
    <p:sldId id="256" r:id="rId2"/>
    <p:sldId id="298" r:id="rId3"/>
    <p:sldId id="257" r:id="rId4"/>
    <p:sldId id="301" r:id="rId5"/>
    <p:sldId id="300" r:id="rId6"/>
    <p:sldId id="302" r:id="rId7"/>
    <p:sldId id="303" r:id="rId8"/>
    <p:sldId id="304" r:id="rId9"/>
    <p:sldId id="305" r:id="rId10"/>
    <p:sldId id="308" r:id="rId11"/>
    <p:sldId id="309" r:id="rId12"/>
    <p:sldId id="314" r:id="rId13"/>
    <p:sldId id="312" r:id="rId14"/>
    <p:sldId id="311" r:id="rId15"/>
    <p:sldId id="310" r:id="rId16"/>
    <p:sldId id="316" r:id="rId17"/>
    <p:sldId id="313" r:id="rId18"/>
    <p:sldId id="307" r:id="rId19"/>
    <p:sldId id="317" r:id="rId20"/>
    <p:sldId id="306" r:id="rId21"/>
    <p:sldId id="318" r:id="rId22"/>
    <p:sldId id="319" r:id="rId23"/>
    <p:sldId id="320" r:id="rId24"/>
    <p:sldId id="321" r:id="rId25"/>
    <p:sldId id="322" r:id="rId26"/>
    <p:sldId id="323" r:id="rId27"/>
    <p:sldId id="324" r:id="rId28"/>
    <p:sldId id="325" r:id="rId29"/>
    <p:sldId id="326" r:id="rId30"/>
    <p:sldId id="327" r:id="rId31"/>
    <p:sldId id="330" r:id="rId32"/>
    <p:sldId id="328" r:id="rId33"/>
    <p:sldId id="329" r:id="rId34"/>
    <p:sldId id="337" r:id="rId35"/>
    <p:sldId id="339" r:id="rId36"/>
    <p:sldId id="331" r:id="rId37"/>
    <p:sldId id="336" r:id="rId38"/>
    <p:sldId id="340" r:id="rId39"/>
    <p:sldId id="341" r:id="rId40"/>
    <p:sldId id="342" r:id="rId41"/>
    <p:sldId id="343" r:id="rId42"/>
    <p:sldId id="344" r:id="rId43"/>
    <p:sldId id="345" r:id="rId44"/>
    <p:sldId id="332" r:id="rId45"/>
    <p:sldId id="346" r:id="rId46"/>
    <p:sldId id="347" r:id="rId47"/>
    <p:sldId id="348" r:id="rId48"/>
    <p:sldId id="349" r:id="rId49"/>
    <p:sldId id="350" r:id="rId50"/>
    <p:sldId id="353" r:id="rId51"/>
    <p:sldId id="359" r:id="rId52"/>
    <p:sldId id="351" r:id="rId53"/>
    <p:sldId id="355" r:id="rId54"/>
    <p:sldId id="352" r:id="rId55"/>
    <p:sldId id="362" r:id="rId56"/>
    <p:sldId id="363" r:id="rId57"/>
    <p:sldId id="333" r:id="rId58"/>
    <p:sldId id="360" r:id="rId59"/>
    <p:sldId id="361" r:id="rId60"/>
    <p:sldId id="365" r:id="rId61"/>
    <p:sldId id="364" r:id="rId62"/>
    <p:sldId id="366" r:id="rId63"/>
    <p:sldId id="367" r:id="rId64"/>
    <p:sldId id="334" r:id="rId65"/>
    <p:sldId id="335" r:id="rId66"/>
    <p:sldId id="356" r:id="rId67"/>
    <p:sldId id="357" r:id="rId68"/>
    <p:sldId id="358" r:id="rId69"/>
    <p:sldId id="299" r:id="rId7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74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74" autoAdjust="0"/>
    <p:restoredTop sz="70705" autoAdjust="0"/>
  </p:normalViewPr>
  <p:slideViewPr>
    <p:cSldViewPr>
      <p:cViewPr varScale="1">
        <p:scale>
          <a:sx n="114" d="100"/>
          <a:sy n="114" d="100"/>
        </p:scale>
        <p:origin x="2454" y="102"/>
      </p:cViewPr>
      <p:guideLst>
        <p:guide orient="horz" pos="2160"/>
        <p:guide pos="2880"/>
      </p:guideLst>
    </p:cSldViewPr>
  </p:slideViewPr>
  <p:notesTextViewPr>
    <p:cViewPr>
      <p:scale>
        <a:sx n="1" d="1"/>
        <a:sy n="1" d="1"/>
      </p:scale>
      <p:origin x="0" y="0"/>
    </p:cViewPr>
  </p:notesTextViewPr>
  <p:notesViewPr>
    <p:cSldViewPr>
      <p:cViewPr varScale="1">
        <p:scale>
          <a:sx n="55" d="100"/>
          <a:sy n="55" d="100"/>
        </p:scale>
        <p:origin x="-290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dirty="0"/>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DA06295-79AA-40A7-A98F-8C471DB72C6F}" type="datetimeFigureOut">
              <a:rPr lang="zh-CN" altLang="en-US" smtClean="0"/>
              <a:t>2017/9/21</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8638487-4380-493F-BA8D-A6AC2F4D834F}" type="slidenum">
              <a:rPr lang="zh-CN" altLang="en-US" smtClean="0"/>
              <a:t>‹#›</a:t>
            </a:fld>
            <a:endParaRPr lang="zh-CN" altLang="en-US"/>
          </a:p>
        </p:txBody>
      </p:sp>
    </p:spTree>
    <p:extLst>
      <p:ext uri="{BB962C8B-B14F-4D97-AF65-F5344CB8AC3E}">
        <p14:creationId xmlns:p14="http://schemas.microsoft.com/office/powerpoint/2010/main" val="1233553594"/>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zh-CN" altLang="en-US" smtClean="0"/>
              <a:t>当乐网技术部</a:t>
            </a: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6E9FB5-3F0C-4555-A5BB-C259D7EA134E}" type="datetimeFigureOut">
              <a:rPr lang="zh-CN" altLang="en-US" smtClean="0"/>
              <a:t>2017/9/21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4177D7-82B2-4228-8D0F-6725CF61C1B8}" type="slidenum">
              <a:rPr lang="zh-CN" altLang="en-US" smtClean="0"/>
              <a:t>‹#›</a:t>
            </a:fld>
            <a:endParaRPr lang="zh-CN" altLang="en-US"/>
          </a:p>
        </p:txBody>
      </p:sp>
    </p:spTree>
    <p:extLst>
      <p:ext uri="{BB962C8B-B14F-4D97-AF65-F5344CB8AC3E}">
        <p14:creationId xmlns:p14="http://schemas.microsoft.com/office/powerpoint/2010/main" val="367117299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14177D7-82B2-4228-8D0F-6725CF61C1B8}" type="slidenum">
              <a:rPr lang="zh-CN" altLang="en-US" smtClean="0"/>
              <a:t>1</a:t>
            </a:fld>
            <a:endParaRPr lang="zh-CN" altLang="en-US"/>
          </a:p>
        </p:txBody>
      </p:sp>
      <p:sp>
        <p:nvSpPr>
          <p:cNvPr id="5" name="页眉占位符 4"/>
          <p:cNvSpPr>
            <a:spLocks noGrp="1"/>
          </p:cNvSpPr>
          <p:nvPr>
            <p:ph type="hdr" sz="quarter" idx="11"/>
          </p:nvPr>
        </p:nvSpPr>
        <p:spPr/>
        <p:txBody>
          <a:bodyPr/>
          <a:lstStyle/>
          <a:p>
            <a:r>
              <a:rPr lang="zh-CN" altLang="en-US" smtClean="0"/>
              <a:t>当乐网技术部</a:t>
            </a:r>
            <a:endParaRPr lang="zh-CN" altLang="en-US"/>
          </a:p>
        </p:txBody>
      </p:sp>
    </p:spTree>
    <p:extLst>
      <p:ext uri="{BB962C8B-B14F-4D97-AF65-F5344CB8AC3E}">
        <p14:creationId xmlns:p14="http://schemas.microsoft.com/office/powerpoint/2010/main" val="2096358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idx="10"/>
          </p:nvPr>
        </p:nvSpPr>
        <p:spPr/>
        <p:txBody>
          <a:bodyPr/>
          <a:lstStyle/>
          <a:p>
            <a:r>
              <a:rPr lang="zh-CN" altLang="en-US" smtClean="0"/>
              <a:t>当乐网技术部</a:t>
            </a:r>
            <a:endParaRPr lang="zh-CN" altLang="en-US"/>
          </a:p>
        </p:txBody>
      </p:sp>
      <p:sp>
        <p:nvSpPr>
          <p:cNvPr id="5" name="灯片编号占位符 4"/>
          <p:cNvSpPr>
            <a:spLocks noGrp="1"/>
          </p:cNvSpPr>
          <p:nvPr>
            <p:ph type="sldNum" sz="quarter" idx="11"/>
          </p:nvPr>
        </p:nvSpPr>
        <p:spPr/>
        <p:txBody>
          <a:bodyPr/>
          <a:lstStyle/>
          <a:p>
            <a:fld id="{914177D7-82B2-4228-8D0F-6725CF61C1B8}" type="slidenum">
              <a:rPr lang="zh-CN" altLang="en-US" smtClean="0"/>
              <a:t>4</a:t>
            </a:fld>
            <a:endParaRPr lang="zh-CN" altLang="en-US"/>
          </a:p>
        </p:txBody>
      </p:sp>
    </p:spTree>
    <p:extLst>
      <p:ext uri="{BB962C8B-B14F-4D97-AF65-F5344CB8AC3E}">
        <p14:creationId xmlns:p14="http://schemas.microsoft.com/office/powerpoint/2010/main" val="2258587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idx="10"/>
          </p:nvPr>
        </p:nvSpPr>
        <p:spPr/>
        <p:txBody>
          <a:bodyPr/>
          <a:lstStyle/>
          <a:p>
            <a:r>
              <a:rPr lang="zh-CN" altLang="en-US" smtClean="0"/>
              <a:t>当乐网技术部</a:t>
            </a:r>
            <a:endParaRPr lang="zh-CN" altLang="en-US"/>
          </a:p>
        </p:txBody>
      </p:sp>
      <p:sp>
        <p:nvSpPr>
          <p:cNvPr id="5" name="灯片编号占位符 4"/>
          <p:cNvSpPr>
            <a:spLocks noGrp="1"/>
          </p:cNvSpPr>
          <p:nvPr>
            <p:ph type="sldNum" sz="quarter" idx="11"/>
          </p:nvPr>
        </p:nvSpPr>
        <p:spPr/>
        <p:txBody>
          <a:bodyPr/>
          <a:lstStyle/>
          <a:p>
            <a:fld id="{914177D7-82B2-4228-8D0F-6725CF61C1B8}" type="slidenum">
              <a:rPr lang="zh-CN" altLang="en-US" smtClean="0"/>
              <a:t>7</a:t>
            </a:fld>
            <a:endParaRPr lang="zh-CN" altLang="en-US"/>
          </a:p>
        </p:txBody>
      </p:sp>
    </p:spTree>
    <p:extLst>
      <p:ext uri="{BB962C8B-B14F-4D97-AF65-F5344CB8AC3E}">
        <p14:creationId xmlns:p14="http://schemas.microsoft.com/office/powerpoint/2010/main" val="4217288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7" name="Date Placeholder 6"/>
          <p:cNvSpPr>
            <a:spLocks noGrp="1"/>
          </p:cNvSpPr>
          <p:nvPr>
            <p:ph type="dt" sz="half" idx="10"/>
          </p:nvPr>
        </p:nvSpPr>
        <p:spPr/>
        <p:txBody>
          <a:bodyPr/>
          <a:lstStyle/>
          <a:p>
            <a:fld id="{14EF19DA-053E-4705-8A08-9D6B782BD849}" type="datetimeFigureOut">
              <a:rPr lang="zh-CN" altLang="en-US" smtClean="0"/>
              <a:t>2017/9/21</a:t>
            </a:fld>
            <a:endParaRPr lang="zh-CN" altLang="en-US"/>
          </a:p>
        </p:txBody>
      </p:sp>
      <p:sp>
        <p:nvSpPr>
          <p:cNvPr id="8" name="Slide Number Placeholder 7"/>
          <p:cNvSpPr>
            <a:spLocks noGrp="1"/>
          </p:cNvSpPr>
          <p:nvPr>
            <p:ph type="sldNum" sz="quarter" idx="11"/>
          </p:nvPr>
        </p:nvSpPr>
        <p:spPr/>
        <p:txBody>
          <a:bodyPr/>
          <a:lstStyle/>
          <a:p>
            <a:fld id="{35DEE534-515C-4047-8F97-A8511209F167}" type="slidenum">
              <a:rPr lang="zh-CN" altLang="en-US" smtClean="0"/>
              <a:t>‹#›</a:t>
            </a:fld>
            <a:endParaRPr lang="zh-CN" altLang="en-US"/>
          </a:p>
        </p:txBody>
      </p:sp>
      <p:sp>
        <p:nvSpPr>
          <p:cNvPr id="9" name="Footer Placeholder 8"/>
          <p:cNvSpPr>
            <a:spLocks noGrp="1"/>
          </p:cNvSpPr>
          <p:nvPr>
            <p:ph type="ftr" sz="quarter" idx="12"/>
          </p:nvPr>
        </p:nvSpPr>
        <p:spPr/>
        <p:txBody>
          <a:bodyPr/>
          <a:lstStyle/>
          <a:p>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smtClean="0"/>
          </a:p>
        </p:txBody>
      </p:sp>
      <p:sp>
        <p:nvSpPr>
          <p:cNvPr id="4" name="Date Placeholder 3"/>
          <p:cNvSpPr>
            <a:spLocks noGrp="1"/>
          </p:cNvSpPr>
          <p:nvPr>
            <p:ph type="dt" sz="half" idx="10"/>
          </p:nvPr>
        </p:nvSpPr>
        <p:spPr/>
        <p:txBody>
          <a:bodyPr/>
          <a:lstStyle/>
          <a:p>
            <a:fld id="{14EF19DA-053E-4705-8A08-9D6B782BD849}" type="datetimeFigureOut">
              <a:rPr lang="zh-CN" altLang="en-US" smtClean="0"/>
              <a:t>2017/9/21</a:t>
            </a:fld>
            <a:endParaRPr lang="zh-CN" altLang="en-US"/>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35DEE534-515C-4047-8F97-A8511209F167}"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14EF19DA-053E-4705-8A08-9D6B782BD849}" type="datetimeFigureOut">
              <a:rPr lang="zh-CN" altLang="en-US" smtClean="0"/>
              <a:t>2017/9/21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5DEE534-515C-4047-8F97-A8511209F167}" type="slidenum">
              <a:rPr lang="zh-CN" altLang="en-US" smtClean="0"/>
              <a:t>‹#›</a:t>
            </a:fld>
            <a:endParaRPr lang="zh-CN" alt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smtClean="0"/>
          </a:p>
        </p:txBody>
      </p:sp>
      <p:sp>
        <p:nvSpPr>
          <p:cNvPr id="5" name="Date Placeholder 4"/>
          <p:cNvSpPr>
            <a:spLocks noGrp="1"/>
          </p:cNvSpPr>
          <p:nvPr>
            <p:ph type="dt" sz="half" idx="10"/>
          </p:nvPr>
        </p:nvSpPr>
        <p:spPr/>
        <p:txBody>
          <a:bodyPr/>
          <a:lstStyle/>
          <a:p>
            <a:fld id="{14EF19DA-053E-4705-8A08-9D6B782BD849}" type="datetimeFigureOut">
              <a:rPr lang="zh-CN" altLang="en-US" smtClean="0"/>
              <a:t>2017/9/21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5DEE534-515C-4047-8F97-A8511209F167}" type="slidenum">
              <a:rPr lang="zh-CN" altLang="en-US" smtClean="0"/>
              <a:t>‹#›</a:t>
            </a:fld>
            <a:endParaRPr lang="zh-CN" altLang="en-US"/>
          </a:p>
        </p:txBody>
      </p:sp>
      <p:sp>
        <p:nvSpPr>
          <p:cNvPr id="9" name="Content Placeholder 8"/>
          <p:cNvSpPr>
            <a:spLocks noGrp="1"/>
          </p:cNvSpPr>
          <p:nvPr>
            <p:ph sz="quarter" idx="13"/>
          </p:nvPr>
        </p:nvSpPr>
        <p:spPr>
          <a:xfrm>
            <a:off x="365760" y="1600200"/>
            <a:ext cx="4041648" cy="452628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7" name="Date Placeholder 6"/>
          <p:cNvSpPr>
            <a:spLocks noGrp="1"/>
          </p:cNvSpPr>
          <p:nvPr>
            <p:ph type="dt" sz="half" idx="10"/>
          </p:nvPr>
        </p:nvSpPr>
        <p:spPr/>
        <p:txBody>
          <a:bodyPr/>
          <a:lstStyle/>
          <a:p>
            <a:fld id="{14EF19DA-053E-4705-8A08-9D6B782BD849}" type="datetimeFigureOut">
              <a:rPr lang="zh-CN" altLang="en-US" smtClean="0"/>
              <a:t>2017/9/21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5DEE534-515C-4047-8F97-A8511209F167}" type="slidenum">
              <a:rPr lang="zh-CN" altLang="en-US" smtClean="0"/>
              <a:t>‹#›</a:t>
            </a:fld>
            <a:endParaRPr lang="zh-CN" altLang="en-US"/>
          </a:p>
        </p:txBody>
      </p:sp>
      <p:sp>
        <p:nvSpPr>
          <p:cNvPr id="11" name="Content Placeholder 10"/>
          <p:cNvSpPr>
            <a:spLocks noGrp="1"/>
          </p:cNvSpPr>
          <p:nvPr>
            <p:ph sz="quarter" idx="13"/>
          </p:nvPr>
        </p:nvSpPr>
        <p:spPr>
          <a:xfrm>
            <a:off x="457200" y="2212848"/>
            <a:ext cx="4041648" cy="391363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14EF19DA-053E-4705-8A08-9D6B782BD849}" type="datetimeFigureOut">
              <a:rPr lang="zh-CN" altLang="en-US" smtClean="0"/>
              <a:t>2017/9/21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5DEE534-515C-4047-8F97-A8511209F167}"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EF19DA-053E-4705-8A08-9D6B782BD849}" type="datetimeFigureOut">
              <a:rPr lang="zh-CN" altLang="en-US" smtClean="0"/>
              <a:t>2017/9/21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5DEE534-515C-4047-8F97-A8511209F167}"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14EF19DA-053E-4705-8A08-9D6B782BD849}" type="datetimeFigureOut">
              <a:rPr lang="zh-CN" altLang="en-US" smtClean="0"/>
              <a:t>2017/9/21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5DEE534-515C-4047-8F97-A8511209F167}"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zh-CN" altLang="en-US" smtClean="0"/>
              <a:t>单击此处编辑母版标题样式</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14EF19DA-053E-4705-8A08-9D6B782BD849}" type="datetimeFigureOut">
              <a:rPr lang="zh-CN" altLang="en-US" smtClean="0"/>
              <a:t>2017/9/21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5DEE534-515C-4047-8F97-A8511209F167}"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14EF19DA-053E-4705-8A08-9D6B782BD849}" type="datetimeFigureOut">
              <a:rPr lang="zh-CN" altLang="en-US" smtClean="0"/>
              <a:t>2017/9/21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5DEE534-515C-4047-8F97-A8511209F167}"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14EF19DA-053E-4705-8A08-9D6B782BD849}" type="datetimeFigureOut">
              <a:rPr lang="zh-CN" altLang="en-US" smtClean="0"/>
              <a:t>2017/9/21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5DEE534-515C-4047-8F97-A8511209F167}"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14EF19DA-053E-4705-8A08-9D6B782BD849}" type="datetimeFigureOut">
              <a:rPr lang="zh-CN" altLang="en-US" smtClean="0"/>
              <a:t>2017/9/21</a:t>
            </a:fld>
            <a:endParaRPr lang="zh-CN" alt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zh-CN" alt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35DEE534-515C-4047-8F97-A8511209F167}" type="slidenum">
              <a:rPr lang="zh-CN" altLang="en-US" smtClean="0"/>
              <a:t>‹#›</a:t>
            </a:fld>
            <a:endParaRPr lang="zh-CN" alt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file:///C:\Users\Administrator\Desktop\mongodb%20doc\mongodb\docs.mongodb.org\manual\reference\operator\update\addToSet\index.htm"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70861" r="70861"/>
          <a:stretch/>
        </p:blipFill>
        <p:spPr>
          <a:xfrm>
            <a:off x="-6480000" y="19918"/>
            <a:ext cx="9144000" cy="6858000"/>
          </a:xfrm>
          <a:prstGeom prst="rect">
            <a:avLst/>
          </a:prstGeom>
        </p:spPr>
      </p:pic>
      <p:pic>
        <p:nvPicPr>
          <p:cNvPr id="5" name="图片 4"/>
          <p:cNvPicPr>
            <a:picLocks noChangeAspect="1"/>
          </p:cNvPicPr>
          <p:nvPr/>
        </p:nvPicPr>
        <p:blipFill rotWithShape="1">
          <a:blip r:embed="rId4">
            <a:extLst>
              <a:ext uri="{28A0092B-C50C-407E-A947-70E740481C1C}">
                <a14:useLocalDpi xmlns:a14="http://schemas.microsoft.com/office/drawing/2010/main" val="0"/>
              </a:ext>
            </a:extLst>
          </a:blip>
          <a:srcRect l="21217" r="-1941" b="24410"/>
          <a:stretch/>
        </p:blipFill>
        <p:spPr>
          <a:xfrm>
            <a:off x="2809367" y="2060848"/>
            <a:ext cx="1504800" cy="1728000"/>
          </a:xfrm>
          <a:prstGeom prst="rect">
            <a:avLst/>
          </a:prstGeom>
        </p:spPr>
      </p:pic>
      <p:sp>
        <p:nvSpPr>
          <p:cNvPr id="2" name="标题 1"/>
          <p:cNvSpPr>
            <a:spLocks noGrp="1"/>
          </p:cNvSpPr>
          <p:nvPr>
            <p:ph type="ctrTitle"/>
          </p:nvPr>
        </p:nvSpPr>
        <p:spPr>
          <a:xfrm>
            <a:off x="3707904" y="2577182"/>
            <a:ext cx="5043240" cy="871736"/>
          </a:xfrm>
        </p:spPr>
        <p:txBody>
          <a:bodyPr/>
          <a:lstStyle/>
          <a:p>
            <a:r>
              <a:rPr lang="en-US" altLang="zh-CN" sz="5400" b="1" i="1" dirty="0" err="1"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Mongodb</a:t>
            </a:r>
            <a:r>
              <a:rPr lang="zh-CN" altLang="en-US" sz="5400" b="1" i="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分享</a:t>
            </a:r>
            <a:endParaRPr lang="zh-CN" altLang="en-US" sz="5400" b="1" dirty="0">
              <a:solidFill>
                <a:schemeClr val="tx1"/>
              </a:solidFill>
            </a:endParaRPr>
          </a:p>
        </p:txBody>
      </p:sp>
      <p:sp>
        <p:nvSpPr>
          <p:cNvPr id="3" name="副标题 2"/>
          <p:cNvSpPr>
            <a:spLocks noGrp="1"/>
          </p:cNvSpPr>
          <p:nvPr>
            <p:ph type="subTitle" idx="1"/>
          </p:nvPr>
        </p:nvSpPr>
        <p:spPr>
          <a:xfrm>
            <a:off x="3207214" y="3797266"/>
            <a:ext cx="5184576" cy="504056"/>
          </a:xfrm>
        </p:spPr>
        <p:txBody>
          <a:bodyPr/>
          <a:lstStyle/>
          <a:p>
            <a:r>
              <a:rPr lang="zh-CN" altLang="en-US" dirty="0" smtClean="0"/>
              <a:t>钟秋</a:t>
            </a:r>
            <a:endParaRPr lang="zh-CN" altLang="en-US" dirty="0"/>
          </a:p>
        </p:txBody>
      </p:sp>
      <p:sp>
        <p:nvSpPr>
          <p:cNvPr id="6" name="TextBox 5"/>
          <p:cNvSpPr txBox="1"/>
          <p:nvPr/>
        </p:nvSpPr>
        <p:spPr>
          <a:xfrm>
            <a:off x="6931134" y="5507940"/>
            <a:ext cx="1460656" cy="369332"/>
          </a:xfrm>
          <a:prstGeom prst="rect">
            <a:avLst/>
          </a:prstGeom>
          <a:noFill/>
        </p:spPr>
        <p:txBody>
          <a:bodyPr wrap="none" rtlCol="0">
            <a:spAutoFit/>
          </a:bodyPr>
          <a:lstStyle/>
          <a:p>
            <a:r>
              <a:rPr lang="en-US" altLang="zh-CN" dirty="0" smtClean="0">
                <a:latin typeface="微软雅黑" panose="020B0503020204020204" pitchFamily="34" charset="-122"/>
                <a:ea typeface="微软雅黑" panose="020B0503020204020204" pitchFamily="34" charset="-122"/>
              </a:rPr>
              <a:t>2015-11-27</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4949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a:spLocks noGrp="1"/>
          </p:cNvSpPr>
          <p:nvPr>
            <p:ph idx="1"/>
          </p:nvPr>
        </p:nvSpPr>
        <p:spPr>
          <a:xfrm>
            <a:off x="1547664" y="1916833"/>
            <a:ext cx="4402832" cy="3600400"/>
          </a:xfrm>
        </p:spPr>
        <p:txBody>
          <a:bodyPr>
            <a:norm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背景</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2. </a:t>
            </a:r>
            <a:r>
              <a:rPr lang="en-US" altLang="zh-CN" dirty="0" err="1">
                <a:latin typeface="微软雅黑" panose="020B0503020204020204" pitchFamily="34" charset="-122"/>
                <a:ea typeface="微软雅黑" panose="020B0503020204020204" pitchFamily="34" charset="-122"/>
              </a:rPr>
              <a:t>MongoDB</a:t>
            </a:r>
            <a:r>
              <a:rPr lang="zh-CN" altLang="en-US" dirty="0" smtClean="0">
                <a:latin typeface="微软雅黑" panose="020B0503020204020204" pitchFamily="34" charset="-122"/>
                <a:ea typeface="微软雅黑" panose="020B0503020204020204" pitchFamily="34" charset="-122"/>
              </a:rPr>
              <a:t>入门</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3. </a:t>
            </a:r>
            <a:r>
              <a:rPr lang="zh-CN" altLang="en-US" dirty="0" smtClean="0">
                <a:latin typeface="微软雅黑" panose="020B0503020204020204" pitchFamily="34" charset="-122"/>
                <a:ea typeface="微软雅黑" panose="020B0503020204020204" pitchFamily="34" charset="-122"/>
              </a:rPr>
              <a:t>索引</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4</a:t>
            </a:r>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复制</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5</a:t>
            </a:r>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分片</a:t>
            </a:r>
            <a:endParaRPr lang="en-US" altLang="zh-CN" dirty="0" smtClean="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6</a:t>
            </a:r>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管理与监控</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7</a:t>
            </a:r>
            <a:r>
              <a:rPr lang="en-US" altLang="zh-CN" dirty="0" smtClean="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使用优化案例</a:t>
            </a:r>
            <a:endParaRPr lang="en-US" altLang="zh-CN" dirty="0">
              <a:latin typeface="微软雅黑" panose="020B0503020204020204" pitchFamily="34" charset="-122"/>
              <a:ea typeface="微软雅黑" panose="020B0503020204020204" pitchFamily="34" charset="-122"/>
            </a:endParaRPr>
          </a:p>
          <a:p>
            <a:endParaRPr lang="zh-CN" altLang="en-US" dirty="0"/>
          </a:p>
        </p:txBody>
      </p:sp>
      <p:sp>
        <p:nvSpPr>
          <p:cNvPr id="8" name="标题 1"/>
          <p:cNvSpPr>
            <a:spLocks noGrp="1"/>
          </p:cNvSpPr>
          <p:nvPr>
            <p:ph type="title"/>
          </p:nvPr>
        </p:nvSpPr>
        <p:spPr>
          <a:xfrm>
            <a:off x="457200" y="0"/>
            <a:ext cx="8229600" cy="1600200"/>
          </a:xfrm>
        </p:spPr>
        <p:txBody>
          <a:bodyPr/>
          <a:lstStyle/>
          <a:p>
            <a:r>
              <a:rPr lang="zh-CN" altLang="en-US" b="1" i="1" dirty="0">
                <a:solidFill>
                  <a:schemeClr val="tx1"/>
                </a:solidFill>
                <a:latin typeface="微软雅黑" panose="020B0503020204020204" pitchFamily="34" charset="-122"/>
                <a:ea typeface="微软雅黑" panose="020B0503020204020204" pitchFamily="34" charset="-122"/>
              </a:rPr>
              <a:t>主要内容</a:t>
            </a:r>
            <a:endParaRPr lang="zh-CN" altLang="en-US" dirty="0">
              <a:solidFill>
                <a:schemeClr val="tx1"/>
              </a:solidFill>
            </a:endParaRPr>
          </a:p>
        </p:txBody>
      </p:sp>
    </p:spTree>
    <p:extLst>
      <p:ext uri="{BB962C8B-B14F-4D97-AF65-F5344CB8AC3E}">
        <p14:creationId xmlns:p14="http://schemas.microsoft.com/office/powerpoint/2010/main" val="2723315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schemeClr val="tx1"/>
                </a:solidFill>
                <a:latin typeface="微软雅黑" panose="020B0503020204020204" pitchFamily="34" charset="-122"/>
                <a:ea typeface="微软雅黑" panose="020B0503020204020204" pitchFamily="34" charset="-122"/>
              </a:rPr>
              <a:t>1.</a:t>
            </a:r>
            <a:r>
              <a:rPr lang="zh-CN" altLang="en-US" b="1" i="1" dirty="0">
                <a:solidFill>
                  <a:schemeClr val="tx1"/>
                </a:solidFill>
                <a:latin typeface="微软雅黑" panose="020B0503020204020204" pitchFamily="34" charset="-122"/>
                <a:ea typeface="微软雅黑" panose="020B0503020204020204" pitchFamily="34" charset="-122"/>
              </a:rPr>
              <a:t>背景</a:t>
            </a:r>
            <a:endParaRPr lang="zh-CN" altLang="en-US" dirty="0">
              <a:solidFill>
                <a:schemeClr val="tx1"/>
              </a:solidFill>
            </a:endParaRPr>
          </a:p>
        </p:txBody>
      </p:sp>
      <p:sp>
        <p:nvSpPr>
          <p:cNvPr id="7" name="内容占位符 2"/>
          <p:cNvSpPr txBox="1">
            <a:spLocks/>
          </p:cNvSpPr>
          <p:nvPr/>
        </p:nvSpPr>
        <p:spPr>
          <a:xfrm>
            <a:off x="1547664" y="1916833"/>
            <a:ext cx="4402832" cy="3600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n-US" altLang="zh-CN" dirty="0" smtClean="0">
                <a:latin typeface="微软雅黑" panose="020B0503020204020204" pitchFamily="34" charset="-122"/>
                <a:ea typeface="微软雅黑" panose="020B0503020204020204" pitchFamily="34" charset="-122"/>
              </a:rPr>
              <a:t>1.1 </a:t>
            </a:r>
            <a:r>
              <a:rPr lang="zh-CN" altLang="en-US" dirty="0">
                <a:latin typeface="微软雅黑" panose="020B0503020204020204" pitchFamily="34" charset="-122"/>
                <a:ea typeface="微软雅黑" panose="020B0503020204020204" pitchFamily="34" charset="-122"/>
              </a:rPr>
              <a:t>从集中式到</a:t>
            </a:r>
            <a:r>
              <a:rPr lang="zh-CN" altLang="en-US" dirty="0" smtClean="0">
                <a:latin typeface="微软雅黑" panose="020B0503020204020204" pitchFamily="34" charset="-122"/>
                <a:ea typeface="微软雅黑" panose="020B0503020204020204" pitchFamily="34" charset="-122"/>
              </a:rPr>
              <a:t>分布式</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1.2 </a:t>
            </a:r>
            <a:r>
              <a:rPr lang="zh-CN" altLang="en-US" dirty="0">
                <a:latin typeface="微软雅黑" panose="020B0503020204020204" pitchFamily="34" charset="-122"/>
                <a:ea typeface="微软雅黑" panose="020B0503020204020204" pitchFamily="34" charset="-122"/>
              </a:rPr>
              <a:t>从</a:t>
            </a:r>
            <a:r>
              <a:rPr lang="en-US" altLang="zh-CN" dirty="0" err="1">
                <a:latin typeface="微软雅黑" panose="020B0503020204020204" pitchFamily="34" charset="-122"/>
                <a:ea typeface="微软雅黑" panose="020B0503020204020204" pitchFamily="34" charset="-122"/>
              </a:rPr>
              <a:t>sql</a:t>
            </a:r>
            <a:r>
              <a:rPr lang="zh-CN" altLang="en-US" dirty="0">
                <a:latin typeface="微软雅黑" panose="020B0503020204020204" pitchFamily="34" charset="-122"/>
                <a:ea typeface="微软雅黑" panose="020B0503020204020204" pitchFamily="34" charset="-122"/>
              </a:rPr>
              <a:t>到</a:t>
            </a:r>
            <a:r>
              <a:rPr lang="en-US" altLang="zh-CN" dirty="0" err="1" smtClean="0">
                <a:latin typeface="微软雅黑" panose="020B0503020204020204" pitchFamily="34" charset="-122"/>
                <a:ea typeface="微软雅黑" panose="020B0503020204020204" pitchFamily="34" charset="-122"/>
              </a:rPr>
              <a:t>nosql</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1.3 </a:t>
            </a:r>
            <a:r>
              <a:rPr lang="zh-CN" altLang="en-US" dirty="0">
                <a:latin typeface="微软雅黑" panose="020B0503020204020204" pitchFamily="34" charset="-122"/>
                <a:ea typeface="微软雅黑" panose="020B0503020204020204" pitchFamily="34" charset="-122"/>
              </a:rPr>
              <a:t>分布式一致性问题</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1.4 CAP</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BASE</a:t>
            </a:r>
            <a:r>
              <a:rPr lang="zh-CN" altLang="en-US" dirty="0">
                <a:latin typeface="微软雅黑" panose="020B0503020204020204" pitchFamily="34" charset="-122"/>
                <a:ea typeface="微软雅黑" panose="020B0503020204020204" pitchFamily="34" charset="-122"/>
              </a:rPr>
              <a:t>理论</a:t>
            </a:r>
          </a:p>
          <a:p>
            <a:endParaRPr lang="zh-CN" altLang="en-US" dirty="0"/>
          </a:p>
        </p:txBody>
      </p:sp>
    </p:spTree>
    <p:extLst>
      <p:ext uri="{BB962C8B-B14F-4D97-AF65-F5344CB8AC3E}">
        <p14:creationId xmlns:p14="http://schemas.microsoft.com/office/powerpoint/2010/main" val="137343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schemeClr val="tx1"/>
                </a:solidFill>
                <a:latin typeface="微软雅黑" pitchFamily="34" charset="-122"/>
                <a:ea typeface="微软雅黑" pitchFamily="34" charset="-122"/>
              </a:rPr>
              <a:t>1.1 </a:t>
            </a:r>
            <a:r>
              <a:rPr lang="zh-CN" altLang="en-US" b="1" i="1" dirty="0">
                <a:solidFill>
                  <a:schemeClr val="tx1"/>
                </a:solidFill>
                <a:latin typeface="微软雅黑" pitchFamily="34" charset="-122"/>
                <a:ea typeface="微软雅黑" pitchFamily="34" charset="-122"/>
              </a:rPr>
              <a:t>从集中式到分布式</a:t>
            </a:r>
            <a:endParaRPr lang="zh-CN" altLang="en-US" dirty="0">
              <a:solidFill>
                <a:schemeClr val="tx1"/>
              </a:solidFill>
            </a:endParaRPr>
          </a:p>
        </p:txBody>
      </p:sp>
      <p:sp>
        <p:nvSpPr>
          <p:cNvPr id="3" name="内容占位符 2"/>
          <p:cNvSpPr>
            <a:spLocks noGrp="1"/>
          </p:cNvSpPr>
          <p:nvPr>
            <p:ph idx="1"/>
          </p:nvPr>
        </p:nvSpPr>
        <p:spPr>
          <a:xfrm>
            <a:off x="1691680" y="1600200"/>
            <a:ext cx="6120680" cy="4525963"/>
          </a:xfrm>
        </p:spPr>
        <p:txBody>
          <a:bodyPr>
            <a:normAutofit/>
          </a:bodyPr>
          <a:lstStyle/>
          <a:p>
            <a:r>
              <a:rPr lang="zh-CN" altLang="en-US" dirty="0">
                <a:latin typeface="微软雅黑" panose="020B0503020204020204" pitchFamily="34" charset="-122"/>
                <a:ea typeface="微软雅黑" panose="020B0503020204020204" pitchFamily="34" charset="-122"/>
              </a:rPr>
              <a:t>集中</a:t>
            </a:r>
            <a:r>
              <a:rPr lang="zh-CN" altLang="en-US" dirty="0" smtClean="0">
                <a:latin typeface="微软雅黑" panose="020B0503020204020204" pitchFamily="34" charset="-122"/>
                <a:ea typeface="微软雅黑" panose="020B0503020204020204" pitchFamily="34" charset="-122"/>
              </a:rPr>
              <a:t>式的</a:t>
            </a:r>
            <a:r>
              <a:rPr lang="zh-CN" altLang="en-US" dirty="0">
                <a:latin typeface="微软雅黑" panose="020B0503020204020204" pitchFamily="34" charset="-122"/>
                <a:ea typeface="微软雅黑" panose="020B0503020204020204" pitchFamily="34" charset="-122"/>
              </a:rPr>
              <a:t>问题</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lvl="1"/>
            <a:r>
              <a:rPr lang="zh-CN" altLang="en-US" sz="2400" dirty="0" smtClean="0">
                <a:latin typeface="微软雅黑" panose="020B0503020204020204" pitchFamily="34" charset="-122"/>
                <a:ea typeface="微软雅黑" panose="020B0503020204020204" pitchFamily="34" charset="-122"/>
              </a:rPr>
              <a:t>计算、存储能力瓶颈</a:t>
            </a:r>
            <a:endParaRPr lang="en-US" altLang="zh-CN" sz="2400" dirty="0" smtClean="0">
              <a:latin typeface="微软雅黑" panose="020B0503020204020204" pitchFamily="34" charset="-122"/>
              <a:ea typeface="微软雅黑" panose="020B0503020204020204" pitchFamily="34" charset="-122"/>
            </a:endParaRPr>
          </a:p>
          <a:p>
            <a:pPr lvl="1"/>
            <a:r>
              <a:rPr lang="zh-CN" altLang="en-US" sz="2400" dirty="0" smtClean="0">
                <a:latin typeface="微软雅黑" panose="020B0503020204020204" pitchFamily="34" charset="-122"/>
                <a:ea typeface="微软雅黑" panose="020B0503020204020204" pitchFamily="34" charset="-122"/>
              </a:rPr>
              <a:t>单点问题</a:t>
            </a:r>
            <a:endParaRPr lang="en-US" altLang="zh-CN" sz="2400"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分布式的问题：</a:t>
            </a:r>
            <a:endParaRPr lang="en-US" altLang="zh-CN" dirty="0" smtClean="0">
              <a:latin typeface="微软雅黑" panose="020B0503020204020204" pitchFamily="34" charset="-122"/>
              <a:ea typeface="微软雅黑" panose="020B0503020204020204" pitchFamily="34" charset="-122"/>
            </a:endParaRPr>
          </a:p>
          <a:p>
            <a:pPr lvl="1"/>
            <a:r>
              <a:rPr lang="zh-CN" altLang="en-US" sz="2400" dirty="0" smtClean="0">
                <a:latin typeface="微软雅黑" panose="020B0503020204020204" pitchFamily="34" charset="-122"/>
                <a:ea typeface="微软雅黑" panose="020B0503020204020204" pitchFamily="34" charset="-122"/>
              </a:rPr>
              <a:t>通信</a:t>
            </a:r>
            <a:r>
              <a:rPr lang="zh-CN" altLang="en-US" sz="2400" dirty="0">
                <a:latin typeface="微软雅黑" panose="020B0503020204020204" pitchFamily="34" charset="-122"/>
                <a:ea typeface="微软雅黑" panose="020B0503020204020204" pitchFamily="34" charset="-122"/>
              </a:rPr>
              <a:t>异常</a:t>
            </a:r>
            <a:endParaRPr lang="en-US" altLang="zh-CN"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网络分区</a:t>
            </a:r>
            <a:endParaRPr lang="en-US" altLang="zh-CN"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三态</a:t>
            </a:r>
            <a:endParaRPr lang="en-US" altLang="zh-CN"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节点故障</a:t>
            </a:r>
            <a:endParaRPr lang="en-US" altLang="zh-CN"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一致性</a:t>
            </a:r>
            <a:endParaRPr lang="en-US" altLang="zh-CN" sz="2400" dirty="0">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1420986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schemeClr val="tx1"/>
                </a:solidFill>
                <a:latin typeface="微软雅黑" pitchFamily="34" charset="-122"/>
                <a:ea typeface="微软雅黑" pitchFamily="34" charset="-122"/>
              </a:rPr>
              <a:t>1.2 </a:t>
            </a:r>
            <a:r>
              <a:rPr lang="zh-CN" altLang="en-US" b="1" i="1" dirty="0" smtClean="0">
                <a:solidFill>
                  <a:schemeClr val="tx1"/>
                </a:solidFill>
                <a:latin typeface="微软雅黑" pitchFamily="34" charset="-122"/>
                <a:ea typeface="微软雅黑" pitchFamily="34" charset="-122"/>
              </a:rPr>
              <a:t>从</a:t>
            </a:r>
            <a:r>
              <a:rPr lang="en-US" altLang="zh-CN" b="1" i="1" dirty="0" smtClean="0">
                <a:solidFill>
                  <a:schemeClr val="tx1"/>
                </a:solidFill>
                <a:latin typeface="微软雅黑" pitchFamily="34" charset="-122"/>
                <a:ea typeface="微软雅黑" pitchFamily="34" charset="-122"/>
              </a:rPr>
              <a:t>SQL</a:t>
            </a:r>
            <a:r>
              <a:rPr lang="zh-CN" altLang="en-US" b="1" i="1" dirty="0" smtClean="0">
                <a:solidFill>
                  <a:schemeClr val="tx1"/>
                </a:solidFill>
                <a:latin typeface="微软雅黑" pitchFamily="34" charset="-122"/>
                <a:ea typeface="微软雅黑" pitchFamily="34" charset="-122"/>
              </a:rPr>
              <a:t>到</a:t>
            </a:r>
            <a:r>
              <a:rPr lang="en-US" altLang="zh-CN" b="1" i="1" dirty="0" smtClean="0">
                <a:solidFill>
                  <a:schemeClr val="tx1"/>
                </a:solidFill>
                <a:latin typeface="微软雅黑" pitchFamily="34" charset="-122"/>
                <a:ea typeface="微软雅黑" pitchFamily="34" charset="-122"/>
              </a:rPr>
              <a:t>NoSQL</a:t>
            </a:r>
            <a:endParaRPr lang="zh-CN" altLang="en-US" dirty="0">
              <a:solidFill>
                <a:schemeClr val="tx1"/>
              </a:solidFill>
            </a:endParaRPr>
          </a:p>
        </p:txBody>
      </p:sp>
      <p:sp>
        <p:nvSpPr>
          <p:cNvPr id="3" name="内容占位符 2"/>
          <p:cNvSpPr>
            <a:spLocks noGrp="1"/>
          </p:cNvSpPr>
          <p:nvPr>
            <p:ph idx="1"/>
          </p:nvPr>
        </p:nvSpPr>
        <p:spPr>
          <a:xfrm>
            <a:off x="1043608" y="1600200"/>
            <a:ext cx="7200800" cy="4525963"/>
          </a:xfrm>
        </p:spPr>
        <p:txBody>
          <a:bodyPr>
            <a:normAutofit fontScale="85000" lnSpcReduction="20000"/>
          </a:bodyPr>
          <a:lstStyle/>
          <a:p>
            <a:r>
              <a:rPr lang="en-US" altLang="zh-CN" dirty="0" smtClean="0">
                <a:latin typeface="微软雅黑" pitchFamily="34" charset="-122"/>
                <a:ea typeface="微软雅黑" pitchFamily="34" charset="-122"/>
              </a:rPr>
              <a:t>SQL</a:t>
            </a:r>
          </a:p>
          <a:p>
            <a:pPr lvl="1"/>
            <a:r>
              <a:rPr lang="zh-CN" altLang="en-US" sz="1900" dirty="0" smtClean="0">
                <a:latin typeface="微软雅黑" pitchFamily="34" charset="-122"/>
                <a:ea typeface="微软雅黑" pitchFamily="34" charset="-122"/>
              </a:rPr>
              <a:t>建立在严格的关系模型基础之上，通常支持复杂的事务操作，提供严格的数据一致性、完整性约束，并且支持关联查询等。</a:t>
            </a:r>
            <a:endParaRPr lang="en-US" altLang="zh-CN" sz="1900" dirty="0" smtClean="0">
              <a:latin typeface="微软雅黑" pitchFamily="34" charset="-122"/>
              <a:ea typeface="微软雅黑" pitchFamily="34" charset="-122"/>
            </a:endParaRPr>
          </a:p>
          <a:p>
            <a:pPr lvl="1"/>
            <a:r>
              <a:rPr lang="zh-CN" altLang="en-US" sz="1900" dirty="0" smtClean="0">
                <a:latin typeface="微软雅黑" pitchFamily="34" charset="-122"/>
                <a:ea typeface="微软雅黑" pitchFamily="34" charset="-122"/>
              </a:rPr>
              <a:t>复杂事务，关联查询等特性影响读写性能，同时限制了关系型数据库的分布式扩展能力。</a:t>
            </a:r>
            <a:endParaRPr lang="en-US" altLang="zh-CN" sz="1900"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NoSQL</a:t>
            </a:r>
          </a:p>
          <a:p>
            <a:pPr lvl="1"/>
            <a:r>
              <a:rPr lang="en-US" altLang="zh-CN" sz="1900" dirty="0" smtClean="0">
                <a:latin typeface="微软雅黑" pitchFamily="34" charset="-122"/>
                <a:ea typeface="微软雅黑" pitchFamily="34" charset="-122"/>
              </a:rPr>
              <a:t>non-relational</a:t>
            </a:r>
            <a:endParaRPr lang="en-US" altLang="zh-CN" sz="1900" dirty="0">
              <a:latin typeface="微软雅黑" pitchFamily="34" charset="-122"/>
              <a:ea typeface="微软雅黑" pitchFamily="34" charset="-122"/>
            </a:endParaRPr>
          </a:p>
          <a:p>
            <a:pPr lvl="1"/>
            <a:r>
              <a:rPr lang="en-US" altLang="zh-CN" sz="1900" dirty="0">
                <a:latin typeface="微软雅黑" pitchFamily="34" charset="-122"/>
                <a:ea typeface="微软雅黑" pitchFamily="34" charset="-122"/>
              </a:rPr>
              <a:t>not only </a:t>
            </a:r>
            <a:r>
              <a:rPr lang="en-US" altLang="zh-CN" sz="1900" dirty="0" err="1">
                <a:latin typeface="微软雅黑" pitchFamily="34" charset="-122"/>
                <a:ea typeface="微软雅黑" pitchFamily="34" charset="-122"/>
              </a:rPr>
              <a:t>sql</a:t>
            </a:r>
            <a:endParaRPr lang="en-US" altLang="zh-CN" sz="1900" dirty="0">
              <a:latin typeface="微软雅黑" pitchFamily="34" charset="-122"/>
              <a:ea typeface="微软雅黑" pitchFamily="34" charset="-122"/>
            </a:endParaRPr>
          </a:p>
          <a:p>
            <a:pPr lvl="1"/>
            <a:r>
              <a:rPr lang="zh-CN" altLang="en-US" sz="1900" dirty="0">
                <a:latin typeface="微软雅黑" pitchFamily="34" charset="-122"/>
                <a:ea typeface="微软雅黑" pitchFamily="34" charset="-122"/>
              </a:rPr>
              <a:t>是</a:t>
            </a:r>
            <a:r>
              <a:rPr lang="zh-CN" altLang="en-US" sz="1900" dirty="0" smtClean="0">
                <a:latin typeface="微软雅黑" pitchFamily="34" charset="-122"/>
                <a:ea typeface="微软雅黑" pitchFamily="34" charset="-122"/>
              </a:rPr>
              <a:t>对</a:t>
            </a:r>
            <a:r>
              <a:rPr lang="en-US" altLang="zh-CN" sz="1900" dirty="0" smtClean="0">
                <a:latin typeface="微软雅黑" pitchFamily="34" charset="-122"/>
                <a:ea typeface="微软雅黑" pitchFamily="34" charset="-122"/>
              </a:rPr>
              <a:t>SQL</a:t>
            </a:r>
            <a:r>
              <a:rPr lang="zh-CN" altLang="en-US" sz="1900" dirty="0" smtClean="0">
                <a:latin typeface="微软雅黑" pitchFamily="34" charset="-122"/>
                <a:ea typeface="微软雅黑" pitchFamily="34" charset="-122"/>
              </a:rPr>
              <a:t>的</a:t>
            </a:r>
            <a:r>
              <a:rPr lang="zh-CN" altLang="en-US" sz="1900" dirty="0">
                <a:latin typeface="微软雅黑" pitchFamily="34" charset="-122"/>
                <a:ea typeface="微软雅黑" pitchFamily="34" charset="-122"/>
              </a:rPr>
              <a:t>补充</a:t>
            </a:r>
            <a:r>
              <a:rPr lang="zh-CN" altLang="en-US" sz="1900" dirty="0" smtClean="0">
                <a:latin typeface="微软雅黑" pitchFamily="34" charset="-122"/>
                <a:ea typeface="微软雅黑" pitchFamily="34" charset="-122"/>
              </a:rPr>
              <a:t>：</a:t>
            </a:r>
            <a:endParaRPr lang="en-US" altLang="zh-CN" sz="1900" dirty="0" smtClean="0">
              <a:latin typeface="微软雅黑" pitchFamily="34" charset="-122"/>
              <a:ea typeface="微软雅黑" pitchFamily="34" charset="-122"/>
            </a:endParaRPr>
          </a:p>
          <a:p>
            <a:pPr lvl="2"/>
            <a:r>
              <a:rPr lang="zh-CN" altLang="en-US" dirty="0">
                <a:latin typeface="微软雅黑" pitchFamily="34" charset="-122"/>
                <a:ea typeface="微软雅黑" pitchFamily="34" charset="-122"/>
              </a:rPr>
              <a:t>高并发读写</a:t>
            </a:r>
            <a:endParaRPr lang="en-US" altLang="zh-CN" dirty="0">
              <a:latin typeface="微软雅黑" pitchFamily="34" charset="-122"/>
              <a:ea typeface="微软雅黑" pitchFamily="34" charset="-122"/>
            </a:endParaRPr>
          </a:p>
          <a:p>
            <a:pPr lvl="2"/>
            <a:r>
              <a:rPr lang="zh-CN" altLang="en-US" dirty="0">
                <a:latin typeface="微软雅黑" pitchFamily="34" charset="-122"/>
                <a:ea typeface="微软雅黑" pitchFamily="34" charset="-122"/>
              </a:rPr>
              <a:t>海量数据</a:t>
            </a:r>
            <a:endParaRPr lang="en-US" altLang="zh-CN" dirty="0">
              <a:latin typeface="微软雅黑" pitchFamily="34" charset="-122"/>
              <a:ea typeface="微软雅黑" pitchFamily="34" charset="-122"/>
            </a:endParaRPr>
          </a:p>
          <a:p>
            <a:pPr lvl="2"/>
            <a:r>
              <a:rPr lang="zh-CN" altLang="en-US" dirty="0">
                <a:latin typeface="微软雅黑" pitchFamily="34" charset="-122"/>
                <a:ea typeface="微软雅黑" pitchFamily="34" charset="-122"/>
              </a:rPr>
              <a:t>高可扩展和高</a:t>
            </a:r>
            <a:r>
              <a:rPr lang="zh-CN" altLang="en-US" dirty="0" smtClean="0">
                <a:latin typeface="微软雅黑" pitchFamily="34" charset="-122"/>
                <a:ea typeface="微软雅黑" pitchFamily="34" charset="-122"/>
              </a:rPr>
              <a:t>可用性</a:t>
            </a:r>
            <a:endParaRPr lang="en-US" altLang="zh-CN" sz="1900" dirty="0" smtClean="0">
              <a:latin typeface="微软雅黑" pitchFamily="34" charset="-122"/>
              <a:ea typeface="微软雅黑" pitchFamily="34" charset="-122"/>
            </a:endParaRPr>
          </a:p>
          <a:p>
            <a:pPr lvl="1"/>
            <a:r>
              <a:rPr lang="zh-CN" altLang="en-US" sz="1900" dirty="0" smtClean="0">
                <a:latin typeface="微软雅黑" pitchFamily="34" charset="-122"/>
                <a:ea typeface="微软雅黑" pitchFamily="34" charset="-122"/>
              </a:rPr>
              <a:t>还无法替代</a:t>
            </a:r>
            <a:r>
              <a:rPr lang="en-US" altLang="zh-CN" sz="1900" dirty="0" smtClean="0">
                <a:latin typeface="微软雅黑" pitchFamily="34" charset="-122"/>
                <a:ea typeface="微软雅黑" pitchFamily="34" charset="-122"/>
              </a:rPr>
              <a:t>SQL:</a:t>
            </a:r>
            <a:endParaRPr lang="en-US" altLang="zh-CN" dirty="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复杂</a:t>
            </a:r>
            <a:r>
              <a:rPr lang="zh-CN" altLang="en-US" dirty="0">
                <a:latin typeface="微软雅黑" pitchFamily="34" charset="-122"/>
                <a:ea typeface="微软雅黑" pitchFamily="34" charset="-122"/>
              </a:rPr>
              <a:t>事务，严格的一致性</a:t>
            </a:r>
            <a:endParaRPr lang="en-US" altLang="zh-CN" dirty="0">
              <a:latin typeface="微软雅黑" pitchFamily="34" charset="-122"/>
              <a:ea typeface="微软雅黑" pitchFamily="34" charset="-122"/>
            </a:endParaRPr>
          </a:p>
          <a:p>
            <a:pPr lvl="2"/>
            <a:r>
              <a:rPr lang="zh-CN" altLang="en-US" dirty="0">
                <a:latin typeface="微软雅黑" pitchFamily="34" charset="-122"/>
                <a:ea typeface="微软雅黑" pitchFamily="34" charset="-122"/>
              </a:rPr>
              <a:t>读写实时性</a:t>
            </a:r>
            <a:endParaRPr lang="en-US" altLang="zh-CN" dirty="0">
              <a:latin typeface="微软雅黑" pitchFamily="34" charset="-122"/>
              <a:ea typeface="微软雅黑" pitchFamily="34" charset="-122"/>
            </a:endParaRPr>
          </a:p>
          <a:p>
            <a:pPr lvl="2"/>
            <a:r>
              <a:rPr lang="en-US" altLang="zh-CN" dirty="0">
                <a:latin typeface="微软雅黑" pitchFamily="34" charset="-122"/>
                <a:ea typeface="微软雅黑" pitchFamily="34" charset="-122"/>
              </a:rPr>
              <a:t>join</a:t>
            </a:r>
          </a:p>
          <a:p>
            <a:pPr lvl="1"/>
            <a:r>
              <a:rPr lang="zh-CN" altLang="en-US" dirty="0" smtClean="0">
                <a:latin typeface="微软雅黑" pitchFamily="34" charset="-122"/>
                <a:ea typeface="微软雅黑" pitchFamily="34" charset="-122"/>
              </a:rPr>
              <a:t>与</a:t>
            </a:r>
            <a:r>
              <a:rPr lang="en-US" altLang="zh-CN" dirty="0" smtClean="0">
                <a:latin typeface="微软雅黑" pitchFamily="34" charset="-122"/>
                <a:ea typeface="微软雅黑" pitchFamily="34" charset="-122"/>
              </a:rPr>
              <a:t>SQL</a:t>
            </a:r>
            <a:r>
              <a:rPr lang="zh-CN" altLang="en-US" dirty="0" smtClean="0">
                <a:latin typeface="微软雅黑" pitchFamily="34" charset="-122"/>
                <a:ea typeface="微软雅黑" pitchFamily="34" charset="-122"/>
              </a:rPr>
              <a:t>不同，</a:t>
            </a:r>
            <a:r>
              <a:rPr lang="en-US" altLang="zh-CN" dirty="0" smtClean="0">
                <a:latin typeface="微软雅黑" pitchFamily="34" charset="-122"/>
                <a:ea typeface="微软雅黑" pitchFamily="34" charset="-122"/>
              </a:rPr>
              <a:t>NoSQL</a:t>
            </a:r>
            <a:r>
              <a:rPr lang="zh-CN" altLang="en-US" dirty="0" smtClean="0">
                <a:latin typeface="微软雅黑" pitchFamily="34" charset="-122"/>
                <a:ea typeface="微软雅黑" pitchFamily="34" charset="-122"/>
              </a:rPr>
              <a:t>没有</a:t>
            </a:r>
            <a:r>
              <a:rPr lang="zh-CN" altLang="en-US" dirty="0">
                <a:latin typeface="微软雅黑" pitchFamily="34" charset="-122"/>
                <a:ea typeface="微软雅黑" pitchFamily="34" charset="-122"/>
              </a:rPr>
              <a:t>统一的标准</a:t>
            </a:r>
            <a:r>
              <a:rPr lang="zh-CN" altLang="en-US" dirty="0" smtClean="0">
                <a:latin typeface="微软雅黑" pitchFamily="34" charset="-122"/>
                <a:ea typeface="微软雅黑" pitchFamily="34" charset="-122"/>
              </a:rPr>
              <a:t>，种类繁多</a:t>
            </a:r>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key-value</a:t>
            </a:r>
            <a:r>
              <a:rPr lang="zh-CN" altLang="en-US" dirty="0">
                <a:latin typeface="微软雅黑" pitchFamily="34" charset="-122"/>
                <a:ea typeface="微软雅黑" pitchFamily="34" charset="-122"/>
              </a:rPr>
              <a:t>，列式，文档，图），根据业务选择适合的</a:t>
            </a:r>
          </a:p>
          <a:p>
            <a:endParaRPr lang="zh-CN" altLang="en-US" dirty="0"/>
          </a:p>
        </p:txBody>
      </p:sp>
    </p:spTree>
    <p:extLst>
      <p:ext uri="{BB962C8B-B14F-4D97-AF65-F5344CB8AC3E}">
        <p14:creationId xmlns:p14="http://schemas.microsoft.com/office/powerpoint/2010/main" val="17557873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schemeClr val="tx1"/>
                </a:solidFill>
                <a:latin typeface="微软雅黑" pitchFamily="34" charset="-122"/>
                <a:ea typeface="微软雅黑" pitchFamily="34" charset="-122"/>
              </a:rPr>
              <a:t>1.3 </a:t>
            </a:r>
            <a:r>
              <a:rPr lang="zh-CN" altLang="en-US" b="1" i="1" dirty="0">
                <a:solidFill>
                  <a:schemeClr val="tx1"/>
                </a:solidFill>
                <a:latin typeface="微软雅黑" pitchFamily="34" charset="-122"/>
                <a:ea typeface="微软雅黑" pitchFamily="34" charset="-122"/>
              </a:rPr>
              <a:t>分布式一致性问题</a:t>
            </a:r>
            <a:endParaRPr lang="zh-CN" altLang="en-US" dirty="0">
              <a:solidFill>
                <a:schemeClr val="tx1"/>
              </a:solidFill>
            </a:endParaRPr>
          </a:p>
        </p:txBody>
      </p:sp>
      <p:sp>
        <p:nvSpPr>
          <p:cNvPr id="3" name="内容占位符 2"/>
          <p:cNvSpPr>
            <a:spLocks noGrp="1"/>
          </p:cNvSpPr>
          <p:nvPr>
            <p:ph idx="1"/>
          </p:nvPr>
        </p:nvSpPr>
        <p:spPr>
          <a:xfrm>
            <a:off x="2051720" y="1600200"/>
            <a:ext cx="5544616" cy="4525963"/>
          </a:xfrm>
        </p:spPr>
        <p:txBody>
          <a:bodyPr>
            <a:normAutofit/>
          </a:bodyPr>
          <a:lstStyle/>
          <a:p>
            <a:r>
              <a:rPr lang="zh-CN" altLang="en-US" dirty="0">
                <a:latin typeface="微软雅黑" panose="020B0503020204020204" pitchFamily="34" charset="-122"/>
                <a:ea typeface="微软雅黑" panose="020B0503020204020204" pitchFamily="34" charset="-122"/>
              </a:rPr>
              <a:t>强一致性</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弱一致性</a:t>
            </a:r>
            <a:endParaRPr lang="en-US" altLang="zh-CN" dirty="0">
              <a:latin typeface="微软雅黑" panose="020B0503020204020204" pitchFamily="34" charset="-122"/>
              <a:ea typeface="微软雅黑" panose="020B0503020204020204" pitchFamily="34" charset="-122"/>
            </a:endParaRPr>
          </a:p>
          <a:p>
            <a:pPr lvl="1"/>
            <a:r>
              <a:rPr lang="en-US" altLang="zh-CN" sz="2400" dirty="0">
                <a:latin typeface="微软雅黑" panose="020B0503020204020204" pitchFamily="34" charset="-122"/>
                <a:ea typeface="微软雅黑" panose="020B0503020204020204" pitchFamily="34" charset="-122"/>
              </a:rPr>
              <a:t>…</a:t>
            </a:r>
          </a:p>
          <a:p>
            <a:pPr lvl="1"/>
            <a:r>
              <a:rPr lang="zh-CN" altLang="en-US" sz="2400" dirty="0">
                <a:latin typeface="微软雅黑" panose="020B0503020204020204" pitchFamily="34" charset="-122"/>
                <a:ea typeface="微软雅黑" panose="020B0503020204020204" pitchFamily="34" charset="-122"/>
              </a:rPr>
              <a:t>最终</a:t>
            </a:r>
            <a:r>
              <a:rPr lang="zh-CN" altLang="en-US" sz="2400" dirty="0" smtClean="0">
                <a:latin typeface="微软雅黑" panose="020B0503020204020204" pitchFamily="34" charset="-122"/>
                <a:ea typeface="微软雅黑" panose="020B0503020204020204" pitchFamily="34" charset="-122"/>
              </a:rPr>
              <a:t>一致性</a:t>
            </a:r>
            <a:endParaRPr lang="en-US" altLang="zh-CN" sz="2400" dirty="0" smtClean="0">
              <a:latin typeface="微软雅黑" panose="020B0503020204020204" pitchFamily="34" charset="-122"/>
              <a:ea typeface="微软雅黑" panose="020B0503020204020204" pitchFamily="34" charset="-122"/>
            </a:endParaRPr>
          </a:p>
          <a:p>
            <a:pPr lvl="1"/>
            <a:endParaRPr lang="en-US" altLang="zh-CN" sz="2400" dirty="0" smtClean="0">
              <a:latin typeface="微软雅黑" panose="020B0503020204020204" pitchFamily="34" charset="-122"/>
              <a:ea typeface="微软雅黑" panose="020B0503020204020204" pitchFamily="34" charset="-122"/>
            </a:endParaRPr>
          </a:p>
          <a:p>
            <a:pPr marL="342900" lvl="1" indent="-342900">
              <a:buFont typeface="Arial" pitchFamily="34" charset="0"/>
              <a:buChar char="•"/>
            </a:pPr>
            <a:r>
              <a:rPr lang="zh-CN" altLang="en-US" sz="2400" dirty="0">
                <a:latin typeface="微软雅黑" panose="020B0503020204020204" pitchFamily="34" charset="-122"/>
                <a:ea typeface="微软雅黑" panose="020B0503020204020204" pitchFamily="34" charset="-122"/>
              </a:rPr>
              <a:t>鱼和熊掌：分布式系统中数据一致性和系统性能之间的关系</a:t>
            </a:r>
            <a:endParaRPr lang="en-US" altLang="zh-CN" sz="2400" dirty="0">
              <a:latin typeface="微软雅黑" panose="020B0503020204020204" pitchFamily="34" charset="-122"/>
              <a:ea typeface="微软雅黑" panose="020B0503020204020204" pitchFamily="34" charset="-122"/>
            </a:endParaRPr>
          </a:p>
          <a:p>
            <a:pPr marL="457200" lvl="1" indent="0">
              <a:buNone/>
            </a:pPr>
            <a:endParaRPr lang="zh-CN" altLang="en-US" sz="2400" dirty="0"/>
          </a:p>
          <a:p>
            <a:endParaRPr lang="zh-CN" altLang="en-US" dirty="0"/>
          </a:p>
        </p:txBody>
      </p:sp>
    </p:spTree>
    <p:extLst>
      <p:ext uri="{BB962C8B-B14F-4D97-AF65-F5344CB8AC3E}">
        <p14:creationId xmlns:p14="http://schemas.microsoft.com/office/powerpoint/2010/main" val="19655087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schemeClr val="tx1"/>
                </a:solidFill>
                <a:latin typeface="微软雅黑" pitchFamily="34" charset="-122"/>
                <a:ea typeface="微软雅黑" pitchFamily="34" charset="-122"/>
              </a:rPr>
              <a:t>1.4 CAP</a:t>
            </a:r>
            <a:r>
              <a:rPr lang="zh-CN" altLang="en-US" b="1" i="1" dirty="0">
                <a:solidFill>
                  <a:schemeClr val="tx1"/>
                </a:solidFill>
                <a:latin typeface="微软雅黑" pitchFamily="34" charset="-122"/>
                <a:ea typeface="微软雅黑" pitchFamily="34" charset="-122"/>
              </a:rPr>
              <a:t>和</a:t>
            </a:r>
            <a:r>
              <a:rPr lang="en-US" altLang="zh-CN" b="1" i="1" dirty="0">
                <a:solidFill>
                  <a:schemeClr val="tx1"/>
                </a:solidFill>
                <a:latin typeface="微软雅黑" pitchFamily="34" charset="-122"/>
                <a:ea typeface="微软雅黑" pitchFamily="34" charset="-122"/>
              </a:rPr>
              <a:t>BASE</a:t>
            </a:r>
            <a:r>
              <a:rPr lang="zh-CN" altLang="en-US" b="1" i="1" dirty="0">
                <a:solidFill>
                  <a:schemeClr val="tx1"/>
                </a:solidFill>
                <a:latin typeface="微软雅黑" pitchFamily="34" charset="-122"/>
                <a:ea typeface="微软雅黑" pitchFamily="34" charset="-122"/>
              </a:rPr>
              <a:t>理论</a:t>
            </a:r>
            <a:endParaRPr lang="zh-CN" altLang="en-US" dirty="0">
              <a:solidFill>
                <a:schemeClr val="tx1"/>
              </a:solidFill>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0032" y="1700808"/>
            <a:ext cx="2857899" cy="2762636"/>
          </a:xfrm>
          <a:prstGeom prst="rect">
            <a:avLst/>
          </a:prstGeom>
        </p:spPr>
      </p:pic>
      <p:sp>
        <p:nvSpPr>
          <p:cNvPr id="3" name="内容占位符 2"/>
          <p:cNvSpPr>
            <a:spLocks noGrp="1"/>
          </p:cNvSpPr>
          <p:nvPr>
            <p:ph idx="1"/>
          </p:nvPr>
        </p:nvSpPr>
        <p:spPr>
          <a:xfrm>
            <a:off x="323528" y="1600200"/>
            <a:ext cx="8352928" cy="4525963"/>
          </a:xfrm>
        </p:spPr>
        <p:txBody>
          <a:bodyPr>
            <a:normAutofit fontScale="92500"/>
          </a:bodyPr>
          <a:lstStyle/>
          <a:p>
            <a:r>
              <a:rPr lang="en-US" altLang="zh-CN" dirty="0">
                <a:latin typeface="微软雅黑" panose="020B0503020204020204" pitchFamily="34" charset="-122"/>
                <a:ea typeface="微软雅黑" panose="020B0503020204020204" pitchFamily="34" charset="-122"/>
              </a:rPr>
              <a:t>CAP</a:t>
            </a:r>
          </a:p>
          <a:p>
            <a:pPr lvl="1"/>
            <a:r>
              <a:rPr lang="en-US" altLang="zh-CN" sz="2400" b="1" dirty="0"/>
              <a:t>C</a:t>
            </a:r>
            <a:r>
              <a:rPr lang="zh-CN" altLang="en-US" sz="2400" b="1" dirty="0"/>
              <a:t>：</a:t>
            </a:r>
            <a:r>
              <a:rPr lang="en-US" altLang="zh-CN" sz="2400" b="1" dirty="0"/>
              <a:t>Consistency</a:t>
            </a:r>
          </a:p>
          <a:p>
            <a:pPr lvl="1"/>
            <a:r>
              <a:rPr lang="en-US" altLang="zh-CN" sz="2400" b="1" dirty="0"/>
              <a:t>A</a:t>
            </a:r>
            <a:r>
              <a:rPr lang="zh-CN" altLang="en-US" sz="2400" b="1" dirty="0"/>
              <a:t>：</a:t>
            </a:r>
            <a:r>
              <a:rPr lang="en-US" altLang="zh-CN" sz="2400" b="1" dirty="0"/>
              <a:t>Availability</a:t>
            </a:r>
          </a:p>
          <a:p>
            <a:pPr lvl="1"/>
            <a:r>
              <a:rPr lang="en-US" altLang="zh-CN" sz="2400" b="1" dirty="0"/>
              <a:t>P</a:t>
            </a:r>
            <a:r>
              <a:rPr lang="zh-CN" altLang="en-US" sz="2400" b="1" dirty="0"/>
              <a:t>：</a:t>
            </a:r>
            <a:r>
              <a:rPr lang="en-US" altLang="zh-CN" sz="2400" b="1" dirty="0"/>
              <a:t>Partition </a:t>
            </a:r>
            <a:r>
              <a:rPr lang="en-US" altLang="zh-CN" sz="2400" b="1" dirty="0" smtClean="0"/>
              <a:t>tolerance</a:t>
            </a:r>
          </a:p>
          <a:p>
            <a:pPr lvl="1"/>
            <a:endParaRPr lang="en-US" altLang="zh-CN" sz="2400" b="1" dirty="0" smtClean="0"/>
          </a:p>
          <a:p>
            <a:pPr lvl="1"/>
            <a:r>
              <a:rPr lang="zh-CN" altLang="en-US" sz="2400" b="1" dirty="0"/>
              <a:t>分布式系统中，</a:t>
            </a:r>
            <a:r>
              <a:rPr lang="en-US" altLang="zh-CN" sz="2400" b="1" dirty="0"/>
              <a:t>P</a:t>
            </a:r>
            <a:r>
              <a:rPr lang="zh-CN" altLang="en-US" sz="2400" b="1" dirty="0"/>
              <a:t>是基础，</a:t>
            </a:r>
            <a:r>
              <a:rPr lang="zh-CN" altLang="en-US" sz="2400" b="1" dirty="0" smtClean="0"/>
              <a:t>所以</a:t>
            </a:r>
            <a:endParaRPr lang="en-US" altLang="zh-CN" sz="2400" b="1" dirty="0" smtClean="0"/>
          </a:p>
          <a:p>
            <a:pPr marL="457200" lvl="1" indent="0">
              <a:buNone/>
            </a:pPr>
            <a:r>
              <a:rPr lang="en-US" altLang="zh-CN" sz="2400" b="1" dirty="0"/>
              <a:t> </a:t>
            </a:r>
            <a:r>
              <a:rPr lang="en-US" altLang="zh-CN" sz="2400" b="1" dirty="0" smtClean="0"/>
              <a:t>  </a:t>
            </a:r>
            <a:r>
              <a:rPr lang="zh-CN" altLang="en-US" sz="2400" b="1" dirty="0" smtClean="0"/>
              <a:t>一般只能在</a:t>
            </a:r>
            <a:r>
              <a:rPr lang="en-US" altLang="zh-CN" sz="2400" b="1" dirty="0"/>
              <a:t>C</a:t>
            </a:r>
            <a:r>
              <a:rPr lang="zh-CN" altLang="en-US" sz="2400" b="1" dirty="0"/>
              <a:t>、</a:t>
            </a:r>
            <a:r>
              <a:rPr lang="en-US" altLang="zh-CN" sz="2400" b="1" dirty="0"/>
              <a:t>A</a:t>
            </a:r>
            <a:r>
              <a:rPr lang="zh-CN" altLang="en-US" sz="2400" b="1" dirty="0"/>
              <a:t>之间进行取舍。</a:t>
            </a:r>
            <a:endParaRPr lang="en-US" altLang="zh-CN" sz="2400" b="1" dirty="0"/>
          </a:p>
          <a:p>
            <a:pPr lvl="1"/>
            <a:r>
              <a:rPr lang="en-US" altLang="zh-CN" sz="2400" b="1" dirty="0" err="1"/>
              <a:t>MongoDB</a:t>
            </a:r>
            <a:r>
              <a:rPr lang="zh-CN" altLang="en-US" sz="2400" b="1" dirty="0"/>
              <a:t>处于哪一部分？</a:t>
            </a:r>
            <a:endParaRPr lang="en-US" altLang="zh-CN" sz="2400" b="1" dirty="0"/>
          </a:p>
          <a:p>
            <a:pPr marL="457200" lvl="1" indent="0">
              <a:buNone/>
            </a:pPr>
            <a:endParaRPr lang="en-US" altLang="zh-CN" sz="2400"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BASE</a:t>
            </a:r>
          </a:p>
          <a:p>
            <a:pPr lvl="1"/>
            <a:r>
              <a:rPr lang="en-US" altLang="zh-CN" sz="2400" b="1" dirty="0"/>
              <a:t>Basically </a:t>
            </a:r>
            <a:r>
              <a:rPr lang="en-US" altLang="zh-CN" sz="2400" b="1" dirty="0" smtClean="0"/>
              <a:t>Available</a:t>
            </a:r>
            <a:r>
              <a:rPr lang="zh-CN" altLang="en-US" sz="2400" b="1" dirty="0" smtClean="0"/>
              <a:t>，</a:t>
            </a:r>
            <a:r>
              <a:rPr lang="en-US" altLang="zh-CN" sz="2400" b="1" dirty="0" smtClean="0"/>
              <a:t>Soft</a:t>
            </a:r>
            <a:r>
              <a:rPr lang="en-US" altLang="zh-CN" sz="2400" b="1" dirty="0"/>
              <a:t> </a:t>
            </a:r>
            <a:r>
              <a:rPr lang="en-US" altLang="zh-CN" sz="2400" b="1" dirty="0" smtClean="0"/>
              <a:t>state</a:t>
            </a:r>
            <a:r>
              <a:rPr lang="zh-CN" altLang="en-US" sz="2400" b="1" dirty="0"/>
              <a:t>，</a:t>
            </a:r>
            <a:r>
              <a:rPr lang="en-US" altLang="zh-CN" sz="2400" b="1" dirty="0" smtClean="0"/>
              <a:t>Eventually</a:t>
            </a:r>
            <a:r>
              <a:rPr lang="en-US" altLang="zh-CN" sz="2400" b="1" dirty="0"/>
              <a:t> consistent</a:t>
            </a:r>
            <a:endParaRPr lang="zh-CN" altLang="en-US" sz="2400" dirty="0"/>
          </a:p>
          <a:p>
            <a:endParaRPr lang="zh-CN" altLang="en-US" dirty="0"/>
          </a:p>
        </p:txBody>
      </p:sp>
    </p:spTree>
    <p:extLst>
      <p:ext uri="{BB962C8B-B14F-4D97-AF65-F5344CB8AC3E}">
        <p14:creationId xmlns:p14="http://schemas.microsoft.com/office/powerpoint/2010/main" val="17306341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schemeClr val="tx1"/>
                </a:solidFill>
                <a:latin typeface="微软雅黑" panose="020B0503020204020204" pitchFamily="34" charset="-122"/>
                <a:ea typeface="微软雅黑" panose="020B0503020204020204" pitchFamily="34" charset="-122"/>
              </a:rPr>
              <a:t>2.MongoDB</a:t>
            </a:r>
            <a:r>
              <a:rPr lang="zh-CN" altLang="en-US" b="1" i="1" dirty="0">
                <a:solidFill>
                  <a:schemeClr val="tx1"/>
                </a:solidFill>
                <a:latin typeface="微软雅黑" panose="020B0503020204020204" pitchFamily="34" charset="-122"/>
                <a:ea typeface="微软雅黑" panose="020B0503020204020204" pitchFamily="34" charset="-122"/>
              </a:rPr>
              <a:t>入门</a:t>
            </a:r>
            <a:endParaRPr lang="zh-CN" altLang="en-US" dirty="0">
              <a:solidFill>
                <a:schemeClr val="tx1"/>
              </a:solidFill>
            </a:endParaRPr>
          </a:p>
        </p:txBody>
      </p:sp>
      <p:sp>
        <p:nvSpPr>
          <p:cNvPr id="3" name="内容占位符 2"/>
          <p:cNvSpPr>
            <a:spLocks noGrp="1"/>
          </p:cNvSpPr>
          <p:nvPr>
            <p:ph idx="1"/>
          </p:nvPr>
        </p:nvSpPr>
        <p:spPr>
          <a:xfrm>
            <a:off x="1187624" y="1600200"/>
            <a:ext cx="7128792" cy="4525963"/>
          </a:xfrm>
        </p:spPr>
        <p:txBody>
          <a:bodyPr/>
          <a:lstStyle/>
          <a:p>
            <a:r>
              <a:rPr lang="en-US" altLang="zh-CN" dirty="0">
                <a:latin typeface="微软雅黑" panose="020B0503020204020204" pitchFamily="34" charset="-122"/>
                <a:ea typeface="微软雅黑" panose="020B0503020204020204" pitchFamily="34" charset="-122"/>
              </a:rPr>
              <a:t>2.1 </a:t>
            </a:r>
            <a:r>
              <a:rPr lang="zh-CN" altLang="en-US" dirty="0">
                <a:latin typeface="微软雅黑" panose="020B0503020204020204" pitchFamily="34" charset="-122"/>
                <a:ea typeface="微软雅黑" panose="020B0503020204020204" pitchFamily="34" charset="-122"/>
              </a:rPr>
              <a:t>什么是</a:t>
            </a:r>
            <a:r>
              <a:rPr lang="en-US" altLang="zh-CN" dirty="0" err="1" smtClean="0">
                <a:latin typeface="微软雅黑" panose="020B0503020204020204" pitchFamily="34" charset="-122"/>
                <a:ea typeface="微软雅黑" panose="020B0503020204020204" pitchFamily="34" charset="-122"/>
              </a:rPr>
              <a:t>MongoDB</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2.2 </a:t>
            </a:r>
            <a:r>
              <a:rPr lang="zh-CN" altLang="en-US" dirty="0">
                <a:latin typeface="微软雅黑" panose="020B0503020204020204" pitchFamily="34" charset="-122"/>
                <a:ea typeface="微软雅黑" panose="020B0503020204020204" pitchFamily="34" charset="-122"/>
              </a:rPr>
              <a:t>存储引擎与版本</a:t>
            </a:r>
            <a:r>
              <a:rPr lang="zh-CN" altLang="en-US" dirty="0" smtClean="0">
                <a:latin typeface="微软雅黑" panose="020B0503020204020204" pitchFamily="34" charset="-122"/>
                <a:ea typeface="微软雅黑" panose="020B0503020204020204" pitchFamily="34" charset="-122"/>
              </a:rPr>
              <a:t>选择</a:t>
            </a:r>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2.3 mongo shell</a:t>
            </a:r>
          </a:p>
          <a:p>
            <a:r>
              <a:rPr lang="en-US" altLang="zh-CN" dirty="0" smtClean="0">
                <a:latin typeface="微软雅黑" panose="020B0503020204020204" pitchFamily="34" charset="-122"/>
                <a:ea typeface="微软雅黑" panose="020B0503020204020204" pitchFamily="34" charset="-122"/>
              </a:rPr>
              <a:t>2.4 </a:t>
            </a:r>
            <a:r>
              <a:rPr lang="en-US" altLang="zh-CN" dirty="0" err="1" smtClean="0">
                <a:latin typeface="微软雅黑" panose="020B0503020204020204" pitchFamily="34" charset="-122"/>
                <a:ea typeface="微软雅黑" panose="020B0503020204020204" pitchFamily="34" charset="-122"/>
              </a:rPr>
              <a:t>mongodb</a:t>
            </a:r>
            <a:r>
              <a:rPr lang="zh-CN" altLang="en-US" dirty="0" smtClean="0">
                <a:latin typeface="微软雅黑" panose="020B0503020204020204" pitchFamily="34" charset="-122"/>
                <a:ea typeface="微软雅黑" panose="020B0503020204020204" pitchFamily="34" charset="-122"/>
              </a:rPr>
              <a:t>数据模型</a:t>
            </a:r>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2.5 </a:t>
            </a:r>
            <a:r>
              <a:rPr lang="zh-CN" altLang="en-US" dirty="0" smtClean="0">
                <a:latin typeface="微软雅黑" panose="020B0503020204020204" pitchFamily="34" charset="-122"/>
                <a:ea typeface="微软雅黑" panose="020B0503020204020204" pitchFamily="34" charset="-122"/>
              </a:rPr>
              <a:t>数据类型</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2.6 </a:t>
            </a:r>
            <a:r>
              <a:rPr lang="en-US" altLang="zh-CN" dirty="0" err="1" smtClean="0">
                <a:latin typeface="微软雅黑" panose="020B0503020204020204" pitchFamily="34" charset="-122"/>
                <a:ea typeface="微软雅黑" panose="020B0503020204020204" pitchFamily="34" charset="-122"/>
              </a:rPr>
              <a:t>bson</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2.7 </a:t>
            </a:r>
            <a:r>
              <a:rPr lang="en-US" altLang="zh-CN" dirty="0" err="1" smtClean="0">
                <a:latin typeface="微软雅黑" panose="020B0503020204020204" pitchFamily="34" charset="-122"/>
                <a:ea typeface="微软雅黑" panose="020B0503020204020204" pitchFamily="34" charset="-122"/>
              </a:rPr>
              <a:t>GridFS</a:t>
            </a:r>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2.8 </a:t>
            </a:r>
            <a:r>
              <a:rPr lang="zh-CN" altLang="en-US" dirty="0" smtClean="0">
                <a:latin typeface="微软雅黑" panose="020B0503020204020204" pitchFamily="34" charset="-122"/>
                <a:ea typeface="微软雅黑" panose="020B0503020204020204" pitchFamily="34" charset="-122"/>
              </a:rPr>
              <a:t>模式设计</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2.9 CRUD</a:t>
            </a:r>
          </a:p>
          <a:p>
            <a:endParaRPr lang="zh-CN" altLang="en-US" dirty="0">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4221655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schemeClr val="tx1"/>
                </a:solidFill>
                <a:latin typeface="微软雅黑" pitchFamily="34" charset="-122"/>
                <a:ea typeface="微软雅黑" pitchFamily="34" charset="-122"/>
              </a:rPr>
              <a:t>2.1 </a:t>
            </a:r>
            <a:r>
              <a:rPr lang="zh-CN" altLang="en-US" b="1" i="1" dirty="0">
                <a:solidFill>
                  <a:schemeClr val="tx1"/>
                </a:solidFill>
                <a:latin typeface="微软雅黑" pitchFamily="34" charset="-122"/>
                <a:ea typeface="微软雅黑" pitchFamily="34" charset="-122"/>
              </a:rPr>
              <a:t>什么是</a:t>
            </a:r>
            <a:r>
              <a:rPr lang="en-US" altLang="zh-CN" b="1" i="1" dirty="0" err="1">
                <a:solidFill>
                  <a:schemeClr val="tx1"/>
                </a:solidFill>
                <a:latin typeface="微软雅黑" pitchFamily="34" charset="-122"/>
                <a:ea typeface="微软雅黑" pitchFamily="34" charset="-122"/>
              </a:rPr>
              <a:t>MongoDB</a:t>
            </a:r>
            <a:endParaRPr lang="zh-CN" altLang="en-US" dirty="0">
              <a:solidFill>
                <a:schemeClr val="tx1"/>
              </a:solidFill>
            </a:endParaRPr>
          </a:p>
        </p:txBody>
      </p:sp>
      <p:sp>
        <p:nvSpPr>
          <p:cNvPr id="3" name="内容占位符 2"/>
          <p:cNvSpPr>
            <a:spLocks noGrp="1"/>
          </p:cNvSpPr>
          <p:nvPr>
            <p:ph idx="1"/>
          </p:nvPr>
        </p:nvSpPr>
        <p:spPr>
          <a:xfrm>
            <a:off x="827584" y="1600200"/>
            <a:ext cx="7704856" cy="4525963"/>
          </a:xfrm>
        </p:spPr>
        <p:txBody>
          <a:bodyPr/>
          <a:lstStyle/>
          <a:p>
            <a:r>
              <a:rPr lang="en-US" altLang="zh-CN" dirty="0" err="1">
                <a:latin typeface="微软雅黑" panose="020B0503020204020204" pitchFamily="34" charset="-122"/>
                <a:ea typeface="微软雅黑" panose="020B0503020204020204" pitchFamily="34" charset="-122"/>
              </a:rPr>
              <a:t>MongoDB</a:t>
            </a:r>
            <a:r>
              <a:rPr lang="zh-CN" altLang="en-US" dirty="0">
                <a:latin typeface="微软雅黑" panose="020B0503020204020204" pitchFamily="34" charset="-122"/>
                <a:ea typeface="微软雅黑" panose="020B0503020204020204" pitchFamily="34" charset="-122"/>
              </a:rPr>
              <a:t>是面向文档的，无模式</a:t>
            </a:r>
            <a:r>
              <a:rPr lang="en-US" altLang="zh-CN" dirty="0">
                <a:latin typeface="微软雅黑" panose="020B0503020204020204" pitchFamily="34" charset="-122"/>
                <a:ea typeface="微软雅黑" panose="020B0503020204020204" pitchFamily="34" charset="-122"/>
              </a:rPr>
              <a:t>(schema-less)</a:t>
            </a:r>
            <a:r>
              <a:rPr lang="zh-CN" altLang="en-US" dirty="0">
                <a:latin typeface="微软雅黑" panose="020B0503020204020204" pitchFamily="34" charset="-122"/>
                <a:ea typeface="微软雅黑" panose="020B0503020204020204" pitchFamily="34" charset="-122"/>
              </a:rPr>
              <a:t>的，支持二级索引</a:t>
            </a:r>
            <a:r>
              <a:rPr lang="zh-CN" altLang="en-US" dirty="0" smtClean="0">
                <a:latin typeface="微软雅黑" panose="020B0503020204020204" pitchFamily="34" charset="-122"/>
                <a:ea typeface="微软雅黑" panose="020B0503020204020204" pitchFamily="34" charset="-122"/>
              </a:rPr>
              <a:t>，支持冗余、自动故障转移，支持</a:t>
            </a:r>
            <a:r>
              <a:rPr lang="zh-CN" altLang="en-US" dirty="0">
                <a:latin typeface="微软雅黑" panose="020B0503020204020204" pitchFamily="34" charset="-122"/>
                <a:ea typeface="微软雅黑" panose="020B0503020204020204" pitchFamily="34" charset="-122"/>
              </a:rPr>
              <a:t>数据</a:t>
            </a:r>
            <a:r>
              <a:rPr lang="zh-CN" altLang="en-US" dirty="0" smtClean="0">
                <a:latin typeface="微软雅黑" panose="020B0503020204020204" pitchFamily="34" charset="-122"/>
                <a:ea typeface="微软雅黑" panose="020B0503020204020204" pitchFamily="34" charset="-122"/>
              </a:rPr>
              <a:t>分片、负载</a:t>
            </a:r>
            <a:r>
              <a:rPr lang="zh-CN" altLang="en-US" dirty="0">
                <a:latin typeface="微软雅黑" panose="020B0503020204020204" pitchFamily="34" charset="-122"/>
                <a:ea typeface="微软雅黑" panose="020B0503020204020204" pitchFamily="34" charset="-122"/>
              </a:rPr>
              <a:t>均衡，易扩展，能为海量数据提供支撑的非关系型数据库。</a:t>
            </a:r>
            <a:endParaRPr lang="en-US" altLang="zh-CN" dirty="0">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MongoDB</a:t>
            </a:r>
            <a:r>
              <a:rPr lang="zh-CN" altLang="en-US" dirty="0">
                <a:latin typeface="微软雅黑" panose="020B0503020204020204" pitchFamily="34" charset="-122"/>
                <a:ea typeface="微软雅黑" panose="020B0503020204020204" pitchFamily="34" charset="-122"/>
              </a:rPr>
              <a:t>不支持跨多个文档的复杂事务，但保证单文档操作原子性。</a:t>
            </a:r>
            <a:endParaRPr lang="en-US" altLang="zh-CN" dirty="0">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MongoDB</a:t>
            </a:r>
            <a:r>
              <a:rPr lang="zh-CN" altLang="en-US" dirty="0">
                <a:latin typeface="微软雅黑" panose="020B0503020204020204" pitchFamily="34" charset="-122"/>
                <a:ea typeface="微软雅黑" panose="020B0503020204020204" pitchFamily="34" charset="-122"/>
              </a:rPr>
              <a:t>不支持联接（</a:t>
            </a:r>
            <a:r>
              <a:rPr lang="en-US" altLang="zh-CN" dirty="0">
                <a:latin typeface="微软雅黑" panose="020B0503020204020204" pitchFamily="34" charset="-122"/>
                <a:ea typeface="微软雅黑" panose="020B0503020204020204" pitchFamily="34" charset="-122"/>
              </a:rPr>
              <a:t>join</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MongoDB</a:t>
            </a:r>
            <a:r>
              <a:rPr lang="zh-CN" altLang="en-US" dirty="0">
                <a:latin typeface="微软雅黑" panose="020B0503020204020204" pitchFamily="34" charset="-122"/>
                <a:ea typeface="微软雅黑" panose="020B0503020204020204" pitchFamily="34" charset="-122"/>
              </a:rPr>
              <a:t>不支持</a:t>
            </a:r>
            <a:r>
              <a:rPr lang="en-US" altLang="zh-CN" dirty="0">
                <a:latin typeface="微软雅黑" panose="020B0503020204020204" pitchFamily="34" charset="-122"/>
                <a:ea typeface="微软雅黑" panose="020B0503020204020204" pitchFamily="34" charset="-122"/>
              </a:rPr>
              <a:t>MVCC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3.x </a:t>
            </a:r>
            <a:r>
              <a:rPr lang="en-US" altLang="zh-CN" dirty="0" err="1">
                <a:latin typeface="微软雅黑" panose="020B0503020204020204" pitchFamily="34" charset="-122"/>
                <a:ea typeface="微软雅黑" panose="020B0503020204020204" pitchFamily="34" charset="-122"/>
              </a:rPr>
              <a:t>wiredTiger</a:t>
            </a:r>
            <a:r>
              <a:rPr lang="zh-CN" altLang="en-US" dirty="0">
                <a:latin typeface="微软雅黑" panose="020B0503020204020204" pitchFamily="34" charset="-122"/>
                <a:ea typeface="微软雅黑" panose="020B0503020204020204" pitchFamily="34" charset="-122"/>
              </a:rPr>
              <a:t>引擎支持）。</a:t>
            </a:r>
            <a:endParaRPr lang="en-US" altLang="zh-CN" dirty="0">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20623072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schemeClr val="tx1"/>
                </a:solidFill>
                <a:latin typeface="微软雅黑" pitchFamily="34" charset="-122"/>
                <a:ea typeface="微软雅黑" pitchFamily="34" charset="-122"/>
              </a:rPr>
              <a:t>2.2 </a:t>
            </a:r>
            <a:r>
              <a:rPr lang="zh-CN" altLang="en-US" b="1" i="1" dirty="0" smtClean="0">
                <a:solidFill>
                  <a:schemeClr val="tx1"/>
                </a:solidFill>
                <a:latin typeface="微软雅黑" pitchFamily="34" charset="-122"/>
                <a:ea typeface="微软雅黑" pitchFamily="34" charset="-122"/>
              </a:rPr>
              <a:t>存储引擎</a:t>
            </a:r>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8" y="2780928"/>
            <a:ext cx="9048750" cy="360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内容占位符 2"/>
          <p:cNvSpPr>
            <a:spLocks noGrp="1"/>
          </p:cNvSpPr>
          <p:nvPr>
            <p:ph idx="1"/>
          </p:nvPr>
        </p:nvSpPr>
        <p:spPr/>
        <p:txBody>
          <a:bodyPr/>
          <a:lstStyle/>
          <a:p>
            <a:r>
              <a:rPr lang="zh-CN" altLang="en-US" dirty="0">
                <a:latin typeface="微软雅黑" pitchFamily="34" charset="-122"/>
                <a:ea typeface="微软雅黑" pitchFamily="34" charset="-122"/>
              </a:rPr>
              <a:t>版本</a:t>
            </a:r>
            <a:r>
              <a:rPr lang="en-US" altLang="zh-CN" dirty="0" smtClean="0">
                <a:latin typeface="微软雅黑" pitchFamily="34" charset="-122"/>
                <a:ea typeface="微软雅黑" pitchFamily="34" charset="-122"/>
              </a:rPr>
              <a:t>2.8(3.0)</a:t>
            </a:r>
            <a:r>
              <a:rPr lang="zh-CN" altLang="en-US" dirty="0" smtClean="0">
                <a:latin typeface="微软雅黑" pitchFamily="34" charset="-122"/>
                <a:ea typeface="微软雅黑" pitchFamily="34" charset="-122"/>
              </a:rPr>
              <a:t>开始</a:t>
            </a:r>
            <a:r>
              <a:rPr lang="zh-CN" altLang="en-US" dirty="0">
                <a:latin typeface="微软雅黑" pitchFamily="34" charset="-122"/>
                <a:ea typeface="微软雅黑" pitchFamily="34" charset="-122"/>
              </a:rPr>
              <a:t>支持插件式存储</a:t>
            </a:r>
            <a:r>
              <a:rPr lang="zh-CN" altLang="en-US" dirty="0" smtClean="0">
                <a:latin typeface="微软雅黑" pitchFamily="34" charset="-122"/>
                <a:ea typeface="微软雅黑" pitchFamily="34" charset="-122"/>
              </a:rPr>
              <a:t>引擎</a:t>
            </a:r>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MMAPv1</a:t>
            </a:r>
          </a:p>
          <a:p>
            <a:r>
              <a:rPr lang="en-US" altLang="zh-CN" dirty="0" err="1" smtClean="0">
                <a:latin typeface="微软雅黑" pitchFamily="34" charset="-122"/>
                <a:ea typeface="微软雅黑" pitchFamily="34" charset="-122"/>
              </a:rPr>
              <a:t>WiredTiger</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since 3.0</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endParaRPr lang="zh-CN" altLang="en-US" dirty="0"/>
          </a:p>
        </p:txBody>
      </p:sp>
    </p:spTree>
    <p:extLst>
      <p:ext uri="{BB962C8B-B14F-4D97-AF65-F5344CB8AC3E}">
        <p14:creationId xmlns:p14="http://schemas.microsoft.com/office/powerpoint/2010/main" val="1809723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600200"/>
          </a:xfrm>
        </p:spPr>
        <p:txBody>
          <a:bodyPr/>
          <a:lstStyle/>
          <a:p>
            <a:r>
              <a:rPr lang="en-US" altLang="zh-CN" b="1" i="1" dirty="0">
                <a:solidFill>
                  <a:schemeClr val="tx1"/>
                </a:solidFill>
                <a:latin typeface="微软雅黑" pitchFamily="34" charset="-122"/>
                <a:ea typeface="微软雅黑" pitchFamily="34" charset="-122"/>
              </a:rPr>
              <a:t>2.2 </a:t>
            </a:r>
            <a:r>
              <a:rPr lang="zh-CN" altLang="en-US" b="1" i="1" dirty="0">
                <a:solidFill>
                  <a:schemeClr val="tx1"/>
                </a:solidFill>
                <a:latin typeface="微软雅黑" pitchFamily="34" charset="-122"/>
                <a:ea typeface="微软雅黑" pitchFamily="34" charset="-122"/>
              </a:rPr>
              <a:t>存储</a:t>
            </a:r>
            <a:r>
              <a:rPr lang="zh-CN" altLang="en-US" b="1" i="1" dirty="0" smtClean="0">
                <a:solidFill>
                  <a:schemeClr val="tx1"/>
                </a:solidFill>
                <a:latin typeface="微软雅黑" pitchFamily="34" charset="-122"/>
                <a:ea typeface="微软雅黑" pitchFamily="34" charset="-122"/>
              </a:rPr>
              <a:t>引擎</a:t>
            </a:r>
            <a:r>
              <a:rPr lang="en-US" altLang="zh-CN" b="1" i="1" dirty="0" smtClean="0">
                <a:solidFill>
                  <a:schemeClr val="tx1"/>
                </a:solidFill>
                <a:latin typeface="微软雅黑" pitchFamily="34" charset="-122"/>
                <a:ea typeface="微软雅黑" pitchFamily="34" charset="-122"/>
              </a:rPr>
              <a:t>-MMAPv1(1)</a:t>
            </a:r>
            <a:endParaRPr lang="zh-CN" altLang="en-US" dirty="0"/>
          </a:p>
        </p:txBody>
      </p:sp>
      <p:sp>
        <p:nvSpPr>
          <p:cNvPr id="3" name="内容占位符 2"/>
          <p:cNvSpPr>
            <a:spLocks noGrp="1"/>
          </p:cNvSpPr>
          <p:nvPr>
            <p:ph idx="1"/>
          </p:nvPr>
        </p:nvSpPr>
        <p:spPr>
          <a:xfrm>
            <a:off x="107504" y="1600200"/>
            <a:ext cx="8928992" cy="4525963"/>
          </a:xfrm>
        </p:spPr>
        <p:txBody>
          <a:bodyPr>
            <a:normAutofit fontScale="92500" lnSpcReduction="10000"/>
          </a:bodyPr>
          <a:lstStyle/>
          <a:p>
            <a:pPr fontAlgn="base"/>
            <a:r>
              <a:rPr lang="zh-CN" altLang="en-US" dirty="0" smtClean="0">
                <a:latin typeface="微软雅黑" pitchFamily="34" charset="-122"/>
                <a:ea typeface="微软雅黑" pitchFamily="34" charset="-122"/>
              </a:rPr>
              <a:t>读写锁</a:t>
            </a:r>
            <a:endParaRPr lang="en-US" altLang="zh-CN" dirty="0" smtClean="0">
              <a:latin typeface="微软雅黑" pitchFamily="34" charset="-122"/>
              <a:ea typeface="微软雅黑" pitchFamily="34" charset="-122"/>
            </a:endParaRPr>
          </a:p>
          <a:p>
            <a:pPr lvl="1" fontAlgn="base"/>
            <a:r>
              <a:rPr lang="zh-CN" altLang="en-US" dirty="0" smtClean="0">
                <a:latin typeface="微软雅黑" pitchFamily="34" charset="-122"/>
                <a:ea typeface="微软雅黑" pitchFamily="34" charset="-122"/>
              </a:rPr>
              <a:t>不支持</a:t>
            </a:r>
            <a:r>
              <a:rPr lang="en-US" altLang="zh-CN" dirty="0" smtClean="0">
                <a:latin typeface="微软雅黑" pitchFamily="34" charset="-122"/>
                <a:ea typeface="微软雅黑" pitchFamily="34" charset="-122"/>
              </a:rPr>
              <a:t>MVCC</a:t>
            </a:r>
          </a:p>
          <a:p>
            <a:pPr lvl="1" fontAlgn="base"/>
            <a:r>
              <a:rPr lang="en-US" altLang="zh-CN" dirty="0" smtClean="0">
                <a:latin typeface="微软雅黑" pitchFamily="34" charset="-122"/>
                <a:ea typeface="微软雅黑" pitchFamily="34" charset="-122"/>
              </a:rPr>
              <a:t>Version </a:t>
            </a:r>
            <a:r>
              <a:rPr lang="en-US" altLang="zh-CN" dirty="0">
                <a:latin typeface="微软雅黑" pitchFamily="34" charset="-122"/>
                <a:ea typeface="微软雅黑" pitchFamily="34" charset="-122"/>
              </a:rPr>
              <a:t>&lt; 2.2 : </a:t>
            </a:r>
            <a:endParaRPr lang="en-US" altLang="zh-CN" dirty="0" smtClean="0">
              <a:latin typeface="微软雅黑" pitchFamily="34" charset="-122"/>
              <a:ea typeface="微软雅黑" pitchFamily="34" charset="-122"/>
            </a:endParaRPr>
          </a:p>
          <a:p>
            <a:pPr lvl="2" fontAlgn="base"/>
            <a:r>
              <a:rPr lang="zh-CN" altLang="en-US" dirty="0" smtClean="0">
                <a:latin typeface="微软雅黑" pitchFamily="34" charset="-122"/>
                <a:ea typeface="微软雅黑" pitchFamily="34" charset="-122"/>
              </a:rPr>
              <a:t>只</a:t>
            </a:r>
            <a:r>
              <a:rPr lang="zh-CN" altLang="en-US" dirty="0">
                <a:latin typeface="微软雅黑" pitchFamily="34" charset="-122"/>
                <a:ea typeface="微软雅黑" pitchFamily="34" charset="-122"/>
              </a:rPr>
              <a:t>支持进程级锁，一个</a:t>
            </a:r>
            <a:r>
              <a:rPr lang="en-US" altLang="zh-CN" dirty="0" err="1">
                <a:latin typeface="微软雅黑" pitchFamily="34" charset="-122"/>
                <a:ea typeface="微软雅黑" pitchFamily="34" charset="-122"/>
              </a:rPr>
              <a:t>Mongod</a:t>
            </a:r>
            <a:r>
              <a:rPr lang="zh-CN" altLang="en-US" dirty="0">
                <a:latin typeface="微软雅黑" pitchFamily="34" charset="-122"/>
                <a:ea typeface="微软雅黑" pitchFamily="34" charset="-122"/>
              </a:rPr>
              <a:t>实例一</a:t>
            </a:r>
            <a:r>
              <a:rPr lang="zh-CN" altLang="en-US" dirty="0" smtClean="0">
                <a:latin typeface="微软雅黑" pitchFamily="34" charset="-122"/>
                <a:ea typeface="微软雅黑" pitchFamily="34" charset="-122"/>
              </a:rPr>
              <a:t>个锁</a:t>
            </a:r>
            <a:r>
              <a:rPr lang="zh-CN" altLang="en-US" dirty="0">
                <a:latin typeface="微软雅黑" pitchFamily="34" charset="-122"/>
                <a:ea typeface="微软雅黑" pitchFamily="34" charset="-122"/>
              </a:rPr>
              <a:t>。</a:t>
            </a:r>
          </a:p>
          <a:p>
            <a:pPr lvl="1" fontAlgn="base"/>
            <a:r>
              <a:rPr lang="en-US" altLang="zh-CN" dirty="0" smtClean="0">
                <a:latin typeface="微软雅黑" pitchFamily="34" charset="-122"/>
                <a:ea typeface="微软雅黑" pitchFamily="34" charset="-122"/>
              </a:rPr>
              <a:t>2.2 </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 Version &lt; 2.8 : </a:t>
            </a:r>
          </a:p>
          <a:p>
            <a:pPr lvl="2" fontAlgn="base"/>
            <a:r>
              <a:rPr lang="zh-CN" altLang="en-US" dirty="0" smtClean="0">
                <a:latin typeface="微软雅黑" pitchFamily="34" charset="-122"/>
                <a:ea typeface="微软雅黑" pitchFamily="34" charset="-122"/>
              </a:rPr>
              <a:t>支持</a:t>
            </a:r>
            <a:r>
              <a:rPr lang="zh-CN" altLang="en-US" dirty="0">
                <a:latin typeface="微软雅黑" pitchFamily="34" charset="-122"/>
                <a:ea typeface="微软雅黑" pitchFamily="34" charset="-122"/>
              </a:rPr>
              <a:t>库级锁，一个</a:t>
            </a:r>
            <a:r>
              <a:rPr lang="en-US" altLang="zh-CN" dirty="0" err="1">
                <a:latin typeface="微软雅黑" pitchFamily="34" charset="-122"/>
                <a:ea typeface="微软雅黑" pitchFamily="34" charset="-122"/>
              </a:rPr>
              <a:t>db</a:t>
            </a:r>
            <a:r>
              <a:rPr lang="zh-CN" altLang="en-US" dirty="0">
                <a:latin typeface="微软雅黑" pitchFamily="34" charset="-122"/>
                <a:ea typeface="微软雅黑" pitchFamily="34" charset="-122"/>
              </a:rPr>
              <a:t>一</a:t>
            </a:r>
            <a:r>
              <a:rPr lang="zh-CN" altLang="en-US" dirty="0" smtClean="0">
                <a:latin typeface="微软雅黑" pitchFamily="34" charset="-122"/>
                <a:ea typeface="微软雅黑" pitchFamily="34" charset="-122"/>
              </a:rPr>
              <a:t>把锁</a:t>
            </a:r>
            <a:r>
              <a:rPr lang="zh-CN" altLang="en-US" dirty="0">
                <a:latin typeface="微软雅黑" pitchFamily="34" charset="-122"/>
                <a:ea typeface="微软雅黑" pitchFamily="34" charset="-122"/>
              </a:rPr>
              <a:t>。</a:t>
            </a:r>
          </a:p>
          <a:p>
            <a:pPr lvl="1" fontAlgn="base"/>
            <a:r>
              <a:rPr lang="en-US" altLang="zh-CN" dirty="0" smtClean="0">
                <a:latin typeface="微软雅黑" pitchFamily="34" charset="-122"/>
                <a:ea typeface="微软雅黑" pitchFamily="34" charset="-122"/>
              </a:rPr>
              <a:t>3.0.0 </a:t>
            </a:r>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Version</a:t>
            </a:r>
          </a:p>
          <a:p>
            <a:pPr lvl="2" fontAlgn="base"/>
            <a:r>
              <a:rPr lang="zh-CN" altLang="en-US" dirty="0" smtClean="0">
                <a:latin typeface="微软雅黑" pitchFamily="34" charset="-122"/>
                <a:ea typeface="微软雅黑" pitchFamily="34" charset="-122"/>
              </a:rPr>
              <a:t>支持 </a:t>
            </a:r>
            <a:r>
              <a:rPr lang="en-US" altLang="zh-CN" dirty="0">
                <a:latin typeface="微软雅黑" pitchFamily="34" charset="-122"/>
                <a:ea typeface="微软雅黑" pitchFamily="34" charset="-122"/>
              </a:rPr>
              <a:t>collection </a:t>
            </a:r>
            <a:r>
              <a:rPr lang="zh-CN" altLang="en-US" dirty="0">
                <a:latin typeface="微软雅黑" pitchFamily="34" charset="-122"/>
                <a:ea typeface="微软雅黑" pitchFamily="34" charset="-122"/>
              </a:rPr>
              <a:t>级别的锁</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marL="342900" lvl="2" indent="-342900" fontAlgn="base"/>
            <a:r>
              <a:rPr lang="zh-CN" altLang="en-US" sz="2400" dirty="0" smtClean="0">
                <a:latin typeface="微软雅黑" pitchFamily="34" charset="-122"/>
                <a:ea typeface="微软雅黑" pitchFamily="34" charset="-122"/>
              </a:rPr>
              <a:t>内存</a:t>
            </a:r>
            <a:endParaRPr lang="en-US" altLang="zh-CN" sz="2400" dirty="0" smtClean="0">
              <a:latin typeface="微软雅黑" pitchFamily="34" charset="-122"/>
              <a:ea typeface="微软雅黑" pitchFamily="34" charset="-122"/>
            </a:endParaRPr>
          </a:p>
          <a:p>
            <a:pPr marL="800100" lvl="3" indent="-342900" fontAlgn="base"/>
            <a:r>
              <a:rPr lang="zh-CN" altLang="en-US" sz="2400" dirty="0" smtClean="0">
                <a:latin typeface="微软雅黑" pitchFamily="34" charset="-122"/>
                <a:ea typeface="微软雅黑" pitchFamily="34" charset="-122"/>
              </a:rPr>
              <a:t>内存映射文件</a:t>
            </a:r>
            <a:endParaRPr lang="en-US" altLang="zh-CN" sz="2400" dirty="0" smtClean="0">
              <a:latin typeface="微软雅黑" pitchFamily="34" charset="-122"/>
              <a:ea typeface="微软雅黑" pitchFamily="34" charset="-122"/>
            </a:endParaRPr>
          </a:p>
          <a:p>
            <a:pPr marL="800100" lvl="3" indent="-342900" fontAlgn="base"/>
            <a:r>
              <a:rPr lang="zh-CN" altLang="en-US" sz="2400" dirty="0" smtClean="0">
                <a:latin typeface="微软雅黑" pitchFamily="34" charset="-122"/>
                <a:ea typeface="微软雅黑" pitchFamily="34" charset="-122"/>
              </a:rPr>
              <a:t>交由操作系统管理，</a:t>
            </a:r>
            <a:r>
              <a:rPr lang="zh-CN" altLang="en-US" sz="2400" dirty="0">
                <a:latin typeface="微软雅黑" pitchFamily="34" charset="-122"/>
                <a:ea typeface="微软雅黑" pitchFamily="34" charset="-122"/>
              </a:rPr>
              <a:t>不能</a:t>
            </a:r>
            <a:endParaRPr lang="en-US" altLang="zh-CN" sz="2400" dirty="0">
              <a:latin typeface="微软雅黑" pitchFamily="34" charset="-122"/>
              <a:ea typeface="微软雅黑" pitchFamily="34" charset="-122"/>
            </a:endParaRPr>
          </a:p>
          <a:p>
            <a:pPr marL="457200" lvl="3" indent="0" fontAlgn="base">
              <a:buNone/>
            </a:pP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手动配置管理</a:t>
            </a:r>
            <a:endParaRPr lang="en-US" altLang="zh-CN" sz="2400" dirty="0">
              <a:latin typeface="微软雅黑" pitchFamily="34" charset="-122"/>
              <a:ea typeface="微软雅黑" pitchFamily="34" charset="-122"/>
            </a:endParaRPr>
          </a:p>
          <a:p>
            <a:pPr marL="800100" lvl="3" indent="-342900" fontAlgn="base"/>
            <a:r>
              <a:rPr lang="zh-CN" altLang="en-US" sz="2400" dirty="0" smtClean="0">
                <a:latin typeface="微软雅黑" pitchFamily="34" charset="-122"/>
                <a:ea typeface="微软雅黑" pitchFamily="34" charset="-122"/>
              </a:rPr>
              <a:t>无强制内存量要求</a:t>
            </a:r>
            <a:endParaRPr lang="en-US" altLang="zh-CN" sz="2400" dirty="0" smtClean="0">
              <a:latin typeface="微软雅黑" pitchFamily="34" charset="-122"/>
              <a:ea typeface="微软雅黑" pitchFamily="34" charset="-122"/>
            </a:endParaRPr>
          </a:p>
          <a:p>
            <a:pPr marL="800100" lvl="3" indent="-342900" fontAlgn="base"/>
            <a:r>
              <a:rPr lang="zh-CN" altLang="en-US" sz="2400" dirty="0" smtClean="0">
                <a:latin typeface="微软雅黑" pitchFamily="34" charset="-122"/>
                <a:ea typeface="微软雅黑" pitchFamily="34" charset="-122"/>
              </a:rPr>
              <a:t>缓存索引、热数据等</a:t>
            </a:r>
            <a:endParaRPr lang="en-US" altLang="zh-CN" sz="2400" dirty="0">
              <a:latin typeface="微软雅黑" pitchFamily="34" charset="-122"/>
              <a:ea typeface="微软雅黑" pitchFamily="34" charset="-122"/>
            </a:endParaRPr>
          </a:p>
          <a:p>
            <a:pPr marL="800100" lvl="3" indent="-342900" fontAlgn="base"/>
            <a:endParaRPr lang="en-US" altLang="zh-CN" sz="2400" dirty="0" smtClean="0">
              <a:latin typeface="微软雅黑" pitchFamily="34" charset="-122"/>
              <a:ea typeface="微软雅黑" pitchFamily="34" charset="-122"/>
            </a:endParaRPr>
          </a:p>
          <a:p>
            <a:pPr marL="457200" lvl="3" indent="0" fontAlgn="base">
              <a:buNone/>
            </a:pPr>
            <a:endParaRPr lang="en-US" altLang="zh-CN" sz="2400" dirty="0" smtClean="0">
              <a:latin typeface="微软雅黑" pitchFamily="34" charset="-122"/>
              <a:ea typeface="微软雅黑" pitchFamily="34" charset="-122"/>
            </a:endParaRPr>
          </a:p>
          <a:p>
            <a:pPr marL="800100" lvl="3" indent="-342900" fontAlgn="base"/>
            <a:endParaRPr lang="en-US" altLang="zh-CN" sz="2400" dirty="0" smtClean="0">
              <a:latin typeface="微软雅黑" pitchFamily="34" charset="-122"/>
              <a:ea typeface="微软雅黑" pitchFamily="34" charset="-122"/>
            </a:endParaRPr>
          </a:p>
          <a:p>
            <a:pPr marL="457200" lvl="3" indent="0" fontAlgn="base">
              <a:buNone/>
            </a:pPr>
            <a:endParaRPr lang="en-US" altLang="zh-CN" sz="2400" dirty="0">
              <a:latin typeface="微软雅黑" pitchFamily="34" charset="-122"/>
              <a:ea typeface="微软雅黑" pitchFamily="34" charset="-122"/>
            </a:endParaRPr>
          </a:p>
          <a:p>
            <a:pPr lvl="2" fontAlgn="base"/>
            <a:endParaRPr lang="zh-CN" altLang="en-US" dirty="0">
              <a:latin typeface="微软雅黑" pitchFamily="34" charset="-122"/>
              <a:ea typeface="微软雅黑" pitchFamily="34" charset="-122"/>
            </a:endParaRPr>
          </a:p>
          <a:p>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1335" y="3933056"/>
            <a:ext cx="4290212" cy="1988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50665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600200"/>
          </a:xfrm>
        </p:spPr>
        <p:txBody>
          <a:bodyPr/>
          <a:lstStyle/>
          <a:p>
            <a:r>
              <a:rPr lang="en-US" altLang="zh-CN" b="1" i="1" dirty="0">
                <a:solidFill>
                  <a:schemeClr val="tx1"/>
                </a:solidFill>
                <a:latin typeface="微软雅黑" pitchFamily="34" charset="-122"/>
                <a:ea typeface="微软雅黑" pitchFamily="34" charset="-122"/>
              </a:rPr>
              <a:t>2.2 </a:t>
            </a:r>
            <a:r>
              <a:rPr lang="zh-CN" altLang="en-US" b="1" i="1" dirty="0">
                <a:solidFill>
                  <a:schemeClr val="tx1"/>
                </a:solidFill>
                <a:latin typeface="微软雅黑" pitchFamily="34" charset="-122"/>
                <a:ea typeface="微软雅黑" pitchFamily="34" charset="-122"/>
              </a:rPr>
              <a:t>存储引擎</a:t>
            </a:r>
            <a:r>
              <a:rPr lang="en-US" altLang="zh-CN" b="1" i="1" dirty="0">
                <a:solidFill>
                  <a:schemeClr val="tx1"/>
                </a:solidFill>
                <a:latin typeface="微软雅黑" pitchFamily="34" charset="-122"/>
                <a:ea typeface="微软雅黑" pitchFamily="34" charset="-122"/>
              </a:rPr>
              <a:t>-</a:t>
            </a:r>
            <a:r>
              <a:rPr lang="en-US" altLang="zh-CN" b="1" i="1" dirty="0" smtClean="0">
                <a:solidFill>
                  <a:schemeClr val="tx1"/>
                </a:solidFill>
                <a:latin typeface="微软雅黑" pitchFamily="34" charset="-122"/>
                <a:ea typeface="微软雅黑" pitchFamily="34" charset="-122"/>
              </a:rPr>
              <a:t>MMAPv1(2)</a:t>
            </a:r>
            <a:endParaRPr lang="zh-CN" altLang="en-US" dirty="0"/>
          </a:p>
        </p:txBody>
      </p:sp>
      <p:sp>
        <p:nvSpPr>
          <p:cNvPr id="3" name="内容占位符 2"/>
          <p:cNvSpPr>
            <a:spLocks noGrp="1"/>
          </p:cNvSpPr>
          <p:nvPr>
            <p:ph idx="1"/>
          </p:nvPr>
        </p:nvSpPr>
        <p:spPr>
          <a:xfrm>
            <a:off x="179512" y="1600200"/>
            <a:ext cx="8784976" cy="4781128"/>
          </a:xfrm>
        </p:spPr>
        <p:txBody>
          <a:bodyPr>
            <a:normAutofit lnSpcReduction="10000"/>
          </a:bodyPr>
          <a:lstStyle/>
          <a:p>
            <a:r>
              <a:rPr lang="en-US" altLang="zh-CN" dirty="0">
                <a:latin typeface="微软雅黑" pitchFamily="34" charset="-122"/>
                <a:ea typeface="微软雅黑" pitchFamily="34" charset="-122"/>
              </a:rPr>
              <a:t>Journal</a:t>
            </a:r>
            <a:r>
              <a:rPr lang="zh-CN" altLang="en-US" dirty="0">
                <a:latin typeface="微软雅黑" pitchFamily="34" charset="-122"/>
                <a:ea typeface="微软雅黑" pitchFamily="34" charset="-122"/>
              </a:rPr>
              <a:t>日志</a:t>
            </a:r>
            <a:endParaRPr lang="en-US" altLang="zh-CN" dirty="0">
              <a:latin typeface="微软雅黑" pitchFamily="34" charset="-122"/>
              <a:ea typeface="微软雅黑" pitchFamily="34" charset="-122"/>
            </a:endParaRPr>
          </a:p>
          <a:p>
            <a:pPr lvl="1"/>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日志，是</a:t>
            </a:r>
            <a:r>
              <a:rPr lang="en-US" altLang="zh-CN" sz="1500" dirty="0" err="1">
                <a:latin typeface="微软雅黑" pitchFamily="34" charset="-122"/>
                <a:ea typeface="微软雅黑" pitchFamily="34" charset="-122"/>
              </a:rPr>
              <a:t>MongoDB</a:t>
            </a:r>
            <a:r>
              <a:rPr lang="zh-CN" altLang="en-US" sz="1500" dirty="0">
                <a:latin typeface="微软雅黑" pitchFamily="34" charset="-122"/>
                <a:ea typeface="微软雅黑" pitchFamily="34" charset="-122"/>
              </a:rPr>
              <a:t>的预写日志</a:t>
            </a:r>
            <a:r>
              <a:rPr lang="en-US" altLang="zh-CN" sz="1500" dirty="0">
                <a:latin typeface="微软雅黑" pitchFamily="34" charset="-122"/>
                <a:ea typeface="微软雅黑" pitchFamily="34" charset="-122"/>
              </a:rPr>
              <a:t>WAL(</a:t>
            </a:r>
            <a:r>
              <a:rPr lang="zh-CN" altLang="en-US" sz="1500" dirty="0">
                <a:latin typeface="微软雅黑" pitchFamily="34" charset="-122"/>
                <a:ea typeface="微软雅黑" pitchFamily="34" charset="-122"/>
              </a:rPr>
              <a:t>类似</a:t>
            </a:r>
            <a:r>
              <a:rPr lang="en-US" altLang="zh-CN" sz="1500" dirty="0" err="1">
                <a:latin typeface="微软雅黑" pitchFamily="34" charset="-122"/>
                <a:ea typeface="微软雅黑" pitchFamily="34" charset="-122"/>
              </a:rPr>
              <a:t>Mysql</a:t>
            </a:r>
            <a:r>
              <a:rPr lang="zh-CN" altLang="en-US" sz="1500" dirty="0">
                <a:latin typeface="微软雅黑" pitchFamily="34" charset="-122"/>
                <a:ea typeface="微软雅黑" pitchFamily="34" charset="-122"/>
              </a:rPr>
              <a:t>的</a:t>
            </a:r>
            <a:r>
              <a:rPr lang="en-US" altLang="zh-CN" sz="1500" dirty="0">
                <a:latin typeface="微软雅黑" pitchFamily="34" charset="-122"/>
                <a:ea typeface="微软雅黑" pitchFamily="34" charset="-122"/>
              </a:rPr>
              <a:t>Redo log)</a:t>
            </a:r>
            <a:r>
              <a:rPr lang="zh-CN" altLang="en-US" sz="1500" dirty="0">
                <a:latin typeface="微软雅黑" pitchFamily="34" charset="-122"/>
                <a:ea typeface="微软雅黑" pitchFamily="34" charset="-122"/>
              </a:rPr>
              <a:t>。</a:t>
            </a:r>
            <a:endParaRPr lang="en-US" altLang="zh-CN" sz="1500" dirty="0">
              <a:latin typeface="微软雅黑" pitchFamily="34" charset="-122"/>
              <a:ea typeface="微软雅黑" pitchFamily="34" charset="-122"/>
            </a:endParaRPr>
          </a:p>
          <a:p>
            <a:pPr lvl="2"/>
            <a:r>
              <a:rPr lang="zh-CN" altLang="en-US" sz="1500" dirty="0">
                <a:latin typeface="微软雅黑" pitchFamily="34" charset="-122"/>
                <a:ea typeface="微软雅黑" pitchFamily="34" charset="-122"/>
              </a:rPr>
              <a:t>因为</a:t>
            </a:r>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日志文件是磁盘上连续分配的空间，</a:t>
            </a:r>
            <a:r>
              <a:rPr lang="en-US" altLang="zh-CN" sz="1500" dirty="0" err="1">
                <a:latin typeface="微软雅黑" pitchFamily="34" charset="-122"/>
                <a:ea typeface="微软雅黑" pitchFamily="34" charset="-122"/>
              </a:rPr>
              <a:t>MongoDB</a:t>
            </a:r>
            <a:r>
              <a:rPr lang="zh-CN" altLang="en-US" sz="1500" dirty="0">
                <a:latin typeface="微软雅黑" pitchFamily="34" charset="-122"/>
                <a:ea typeface="微软雅黑" pitchFamily="34" charset="-122"/>
              </a:rPr>
              <a:t>在运行时通过顺序追加的方式记录，通过顺序</a:t>
            </a:r>
            <a:r>
              <a:rPr lang="en-US" altLang="zh-CN" sz="1500" dirty="0">
                <a:latin typeface="微软雅黑" pitchFamily="34" charset="-122"/>
                <a:ea typeface="微软雅黑" pitchFamily="34" charset="-122"/>
              </a:rPr>
              <a:t>IO</a:t>
            </a:r>
            <a:r>
              <a:rPr lang="zh-CN" altLang="en-US" sz="1500" dirty="0">
                <a:latin typeface="微软雅黑" pitchFamily="34" charset="-122"/>
                <a:ea typeface="微软雅黑" pitchFamily="34" charset="-122"/>
              </a:rPr>
              <a:t>来改善写性能。同时，后台会定时刷写</a:t>
            </a:r>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日志文件以将写操作持久化到数据文件。通过这种两次写的方式，当</a:t>
            </a:r>
            <a:r>
              <a:rPr lang="en-US" altLang="zh-CN" sz="1500" dirty="0" err="1">
                <a:latin typeface="微软雅黑" pitchFamily="34" charset="-122"/>
                <a:ea typeface="微软雅黑" pitchFamily="34" charset="-122"/>
              </a:rPr>
              <a:t>Mongodb</a:t>
            </a:r>
            <a:r>
              <a:rPr lang="zh-CN" altLang="en-US" sz="1500" dirty="0">
                <a:latin typeface="微软雅黑" pitchFamily="34" charset="-122"/>
                <a:ea typeface="微软雅黑" pitchFamily="34" charset="-122"/>
              </a:rPr>
              <a:t>因为一次非正常退出（比如崩溃），重启</a:t>
            </a:r>
            <a:r>
              <a:rPr lang="en-US" altLang="zh-CN" sz="1500" dirty="0" err="1">
                <a:latin typeface="微软雅黑" pitchFamily="34" charset="-122"/>
                <a:ea typeface="微软雅黑" pitchFamily="34" charset="-122"/>
              </a:rPr>
              <a:t>mongod</a:t>
            </a:r>
            <a:r>
              <a:rPr lang="zh-CN" altLang="en-US" sz="1500" dirty="0">
                <a:latin typeface="微软雅黑" pitchFamily="34" charset="-122"/>
                <a:ea typeface="微软雅黑" pitchFamily="34" charset="-122"/>
              </a:rPr>
              <a:t>进程后会根据</a:t>
            </a:r>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下的文件来恢复数据以达到数据一致，防止数据丢失。同时，一次正常的退出时</a:t>
            </a:r>
            <a:r>
              <a:rPr lang="en-US" altLang="zh-CN" sz="1500" dirty="0" err="1">
                <a:latin typeface="微软雅黑" pitchFamily="34" charset="-122"/>
                <a:ea typeface="微软雅黑" pitchFamily="34" charset="-122"/>
              </a:rPr>
              <a:t>MongoDB</a:t>
            </a:r>
            <a:r>
              <a:rPr lang="zh-CN" altLang="en-US" sz="1500" dirty="0">
                <a:latin typeface="微软雅黑" pitchFamily="34" charset="-122"/>
                <a:ea typeface="微软雅黑" pitchFamily="34" charset="-122"/>
              </a:rPr>
              <a:t>会刷写并删除</a:t>
            </a:r>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目录下所有文件。</a:t>
            </a:r>
            <a:endParaRPr lang="en-US" altLang="zh-CN" sz="1500" dirty="0">
              <a:latin typeface="微软雅黑" pitchFamily="34" charset="-122"/>
              <a:ea typeface="微软雅黑" pitchFamily="34" charset="-122"/>
            </a:endParaRPr>
          </a:p>
          <a:p>
            <a:pPr lvl="2"/>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除了故障恢复的作用之外，还可以提高写入的性能，通过批量提交（</a:t>
            </a:r>
            <a:r>
              <a:rPr lang="en-US" altLang="zh-CN" sz="1500" dirty="0">
                <a:latin typeface="微软雅黑" pitchFamily="34" charset="-122"/>
                <a:ea typeface="微软雅黑" pitchFamily="34" charset="-122"/>
              </a:rPr>
              <a:t>batch-commit</a:t>
            </a:r>
            <a:r>
              <a:rPr lang="zh-CN" altLang="en-US" sz="1500" dirty="0">
                <a:latin typeface="微软雅黑" pitchFamily="34" charset="-122"/>
                <a:ea typeface="微软雅黑" pitchFamily="34" charset="-122"/>
              </a:rPr>
              <a:t>）的方式减少</a:t>
            </a:r>
            <a:r>
              <a:rPr lang="en-US" altLang="zh-CN" sz="1500" dirty="0">
                <a:latin typeface="微软雅黑" pitchFamily="34" charset="-122"/>
                <a:ea typeface="微软雅黑" pitchFamily="34" charset="-122"/>
              </a:rPr>
              <a:t>IO</a:t>
            </a:r>
            <a:r>
              <a:rPr lang="zh-CN" altLang="en-US" sz="1500" dirty="0">
                <a:latin typeface="微软雅黑" pitchFamily="34" charset="-122"/>
                <a:ea typeface="微软雅黑" pitchFamily="34" charset="-122"/>
              </a:rPr>
              <a:t>次数</a:t>
            </a:r>
            <a:r>
              <a:rPr lang="zh-CN" altLang="en-US" sz="1500" dirty="0" smtClean="0">
                <a:latin typeface="微软雅黑" pitchFamily="34" charset="-122"/>
                <a:ea typeface="微软雅黑" pitchFamily="34" charset="-122"/>
              </a:rPr>
              <a:t>，一般</a:t>
            </a:r>
            <a:r>
              <a:rPr lang="zh-CN" altLang="en-US" sz="1500" dirty="0">
                <a:latin typeface="微软雅黑" pitchFamily="34" charset="-122"/>
                <a:ea typeface="微软雅黑" pitchFamily="34" charset="-122"/>
              </a:rPr>
              <a:t>默认</a:t>
            </a:r>
            <a:r>
              <a:rPr lang="en-US" altLang="zh-CN" sz="1500" dirty="0">
                <a:latin typeface="微软雅黑" pitchFamily="34" charset="-122"/>
                <a:ea typeface="微软雅黑" pitchFamily="34" charset="-122"/>
              </a:rPr>
              <a:t>100ms</a:t>
            </a:r>
            <a:r>
              <a:rPr lang="zh-CN" altLang="en-US" sz="1500" dirty="0">
                <a:latin typeface="微软雅黑" pitchFamily="34" charset="-122"/>
                <a:ea typeface="微软雅黑" pitchFamily="34" charset="-122"/>
              </a:rPr>
              <a:t>刷新一</a:t>
            </a:r>
            <a:r>
              <a:rPr lang="zh-CN" altLang="en-US" sz="1500" dirty="0" smtClean="0">
                <a:latin typeface="微软雅黑" pitchFamily="34" charset="-122"/>
                <a:ea typeface="微软雅黑" pitchFamily="34" charset="-122"/>
              </a:rPr>
              <a:t>次到</a:t>
            </a:r>
            <a:r>
              <a:rPr lang="en-US" altLang="zh-CN" sz="1500" dirty="0" smtClean="0">
                <a:latin typeface="微软雅黑" pitchFamily="34" charset="-122"/>
                <a:ea typeface="微软雅黑" pitchFamily="34" charset="-122"/>
              </a:rPr>
              <a:t>journal</a:t>
            </a:r>
            <a:r>
              <a:rPr lang="zh-CN" altLang="en-US" sz="1500" dirty="0" smtClean="0">
                <a:latin typeface="微软雅黑" pitchFamily="34" charset="-122"/>
                <a:ea typeface="微软雅黑" pitchFamily="34" charset="-122"/>
              </a:rPr>
              <a:t>，</a:t>
            </a:r>
            <a:r>
              <a:rPr lang="zh-CN" altLang="en-US" sz="1500" dirty="0">
                <a:latin typeface="微软雅黑" pitchFamily="34" charset="-122"/>
                <a:ea typeface="微软雅黑" pitchFamily="34" charset="-122"/>
              </a:rPr>
              <a:t>可通过下面参数修改：</a:t>
            </a:r>
            <a:endParaRPr lang="en-US" altLang="zh-CN" sz="1500" dirty="0">
              <a:latin typeface="微软雅黑" pitchFamily="34" charset="-122"/>
              <a:ea typeface="微软雅黑" pitchFamily="34" charset="-122"/>
            </a:endParaRPr>
          </a:p>
          <a:p>
            <a:pPr lvl="3"/>
            <a:r>
              <a:rPr lang="en-US" altLang="zh-CN" sz="1500" dirty="0" err="1">
                <a:latin typeface="微软雅黑" pitchFamily="34" charset="-122"/>
                <a:ea typeface="微软雅黑" pitchFamily="34" charset="-122"/>
              </a:rPr>
              <a:t>storage.journal.commitIntervalMs</a:t>
            </a:r>
            <a:endParaRPr lang="en-US" altLang="zh-CN" sz="1500" dirty="0">
              <a:latin typeface="微软雅黑" pitchFamily="34" charset="-122"/>
              <a:ea typeface="微软雅黑" pitchFamily="34" charset="-122"/>
            </a:endParaRPr>
          </a:p>
          <a:p>
            <a:pPr lvl="3"/>
            <a:r>
              <a:rPr lang="zh-CN" altLang="en-US" sz="1500" dirty="0">
                <a:latin typeface="微软雅黑" pitchFamily="34" charset="-122"/>
                <a:ea typeface="微软雅黑" pitchFamily="34" charset="-122"/>
              </a:rPr>
              <a:t>值越低，刷新输出频率越高，</a:t>
            </a:r>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的持久性也就越</a:t>
            </a:r>
            <a:r>
              <a:rPr lang="zh-CN" altLang="en-US" sz="1500" dirty="0" smtClean="0">
                <a:latin typeface="微软雅黑" pitchFamily="34" charset="-122"/>
                <a:ea typeface="微软雅黑" pitchFamily="34" charset="-122"/>
              </a:rPr>
              <a:t>高</a:t>
            </a:r>
            <a:r>
              <a:rPr lang="en-US" altLang="zh-CN" sz="1500" dirty="0" smtClean="0">
                <a:latin typeface="微软雅黑" pitchFamily="34" charset="-122"/>
                <a:ea typeface="微软雅黑" pitchFamily="34" charset="-122"/>
              </a:rPr>
              <a:t>(</a:t>
            </a:r>
            <a:r>
              <a:rPr lang="zh-CN" altLang="en-US" sz="1500" dirty="0" smtClean="0">
                <a:latin typeface="微软雅黑" pitchFamily="34" charset="-122"/>
                <a:ea typeface="微软雅黑" pitchFamily="34" charset="-122"/>
              </a:rPr>
              <a:t>故障意外情况下丢失的数据越少</a:t>
            </a:r>
            <a:r>
              <a:rPr lang="en-US" altLang="zh-CN" sz="1500" dirty="0" smtClean="0">
                <a:latin typeface="微软雅黑" pitchFamily="34" charset="-122"/>
                <a:ea typeface="微软雅黑" pitchFamily="34" charset="-122"/>
              </a:rPr>
              <a:t>)</a:t>
            </a:r>
            <a:r>
              <a:rPr lang="zh-CN" altLang="en-US" sz="1500" dirty="0" smtClean="0">
                <a:latin typeface="微软雅黑" pitchFamily="34" charset="-122"/>
                <a:ea typeface="微软雅黑" pitchFamily="34" charset="-122"/>
              </a:rPr>
              <a:t>，</a:t>
            </a:r>
            <a:r>
              <a:rPr lang="zh-CN" altLang="en-US" sz="1500" dirty="0">
                <a:latin typeface="微软雅黑" pitchFamily="34" charset="-122"/>
                <a:ea typeface="微软雅黑" pitchFamily="34" charset="-122"/>
              </a:rPr>
              <a:t>但同时意味着更多的磁盘</a:t>
            </a:r>
            <a:r>
              <a:rPr lang="en-US" altLang="zh-CN" sz="1500" dirty="0">
                <a:latin typeface="微软雅黑" pitchFamily="34" charset="-122"/>
                <a:ea typeface="微软雅黑" pitchFamily="34" charset="-122"/>
              </a:rPr>
              <a:t>IO</a:t>
            </a:r>
            <a:r>
              <a:rPr lang="zh-CN" altLang="en-US" sz="1500" dirty="0" smtClean="0">
                <a:latin typeface="微软雅黑" pitchFamily="34" charset="-122"/>
                <a:ea typeface="微软雅黑" pitchFamily="34" charset="-122"/>
              </a:rPr>
              <a:t>。</a:t>
            </a:r>
            <a:endParaRPr lang="en-US" altLang="zh-CN" sz="1500" dirty="0">
              <a:latin typeface="微软雅黑" pitchFamily="34" charset="-122"/>
              <a:ea typeface="微软雅黑" pitchFamily="34" charset="-122"/>
            </a:endParaRPr>
          </a:p>
          <a:p>
            <a:pPr lvl="1"/>
            <a:r>
              <a:rPr lang="en-US" altLang="zh-CN" sz="1500" dirty="0">
                <a:latin typeface="微软雅黑" pitchFamily="34" charset="-122"/>
                <a:ea typeface="微软雅黑" pitchFamily="34" charset="-122"/>
              </a:rPr>
              <a:t>2.0</a:t>
            </a:r>
            <a:r>
              <a:rPr lang="zh-CN" altLang="en-US" sz="1500" dirty="0">
                <a:latin typeface="微软雅黑" pitchFamily="34" charset="-122"/>
                <a:ea typeface="微软雅黑" pitchFamily="34" charset="-122"/>
              </a:rPr>
              <a:t>以上版本默认开启的，可以通过</a:t>
            </a:r>
            <a:r>
              <a:rPr lang="en-US" altLang="zh-CN" sz="1500" dirty="0" err="1">
                <a:latin typeface="微软雅黑" pitchFamily="34" charset="-122"/>
                <a:ea typeface="微软雅黑" pitchFamily="34" charset="-122"/>
              </a:rPr>
              <a:t>nojournal</a:t>
            </a:r>
            <a:r>
              <a:rPr lang="en-US" altLang="zh-CN" sz="1500" dirty="0">
                <a:latin typeface="微软雅黑" pitchFamily="34" charset="-122"/>
                <a:ea typeface="微软雅黑" pitchFamily="34" charset="-122"/>
              </a:rPr>
              <a:t> = true </a:t>
            </a:r>
            <a:r>
              <a:rPr lang="zh-CN" altLang="en-US" sz="1500" dirty="0">
                <a:latin typeface="微软雅黑" pitchFamily="34" charset="-122"/>
                <a:ea typeface="微软雅黑" pitchFamily="34" charset="-122"/>
              </a:rPr>
              <a:t>或</a:t>
            </a:r>
            <a:r>
              <a:rPr lang="en-US" altLang="zh-CN" sz="1500" dirty="0">
                <a:latin typeface="微软雅黑" pitchFamily="34" charset="-122"/>
                <a:ea typeface="微软雅黑" pitchFamily="34" charset="-122"/>
              </a:rPr>
              <a:t>--</a:t>
            </a:r>
            <a:r>
              <a:rPr lang="en-US" altLang="zh-CN" sz="1500" dirty="0" err="1">
                <a:latin typeface="微软雅黑" pitchFamily="34" charset="-122"/>
                <a:ea typeface="微软雅黑" pitchFamily="34" charset="-122"/>
              </a:rPr>
              <a:t>nojournal</a:t>
            </a:r>
            <a:r>
              <a:rPr lang="zh-CN" altLang="en-US" sz="1500" dirty="0">
                <a:latin typeface="微软雅黑" pitchFamily="34" charset="-122"/>
                <a:ea typeface="微软雅黑" pitchFamily="34" charset="-122"/>
              </a:rPr>
              <a:t>关闭，但建议开启</a:t>
            </a:r>
            <a:r>
              <a:rPr lang="zh-CN" altLang="en-US" sz="1500" dirty="0" smtClean="0">
                <a:latin typeface="微软雅黑" pitchFamily="34" charset="-122"/>
                <a:ea typeface="微软雅黑" pitchFamily="34" charset="-122"/>
              </a:rPr>
              <a:t>。</a:t>
            </a:r>
            <a:endParaRPr lang="en-US" altLang="zh-CN" sz="1500" dirty="0">
              <a:latin typeface="微软雅黑" pitchFamily="34" charset="-122"/>
              <a:ea typeface="微软雅黑" pitchFamily="34" charset="-122"/>
            </a:endParaRPr>
          </a:p>
          <a:p>
            <a:pPr lvl="1"/>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文件是以“</a:t>
            </a:r>
            <a:r>
              <a:rPr lang="en-US" altLang="zh-CN" sz="1500" dirty="0">
                <a:latin typeface="微软雅黑" pitchFamily="34" charset="-122"/>
                <a:ea typeface="微软雅黑" pitchFamily="34" charset="-122"/>
              </a:rPr>
              <a:t>j._”</a:t>
            </a:r>
            <a:r>
              <a:rPr lang="zh-CN" altLang="en-US" sz="1500" dirty="0">
                <a:latin typeface="微软雅黑" pitchFamily="34" charset="-122"/>
                <a:ea typeface="微软雅黑" pitchFamily="34" charset="-122"/>
              </a:rPr>
              <a:t>开头命名的，且是</a:t>
            </a:r>
            <a:r>
              <a:rPr lang="en-US" altLang="zh-CN" sz="1500" dirty="0">
                <a:latin typeface="微软雅黑" pitchFamily="34" charset="-122"/>
                <a:ea typeface="微软雅黑" pitchFamily="34" charset="-122"/>
              </a:rPr>
              <a:t>append only</a:t>
            </a:r>
            <a:r>
              <a:rPr lang="zh-CN" altLang="en-US" sz="1500" dirty="0">
                <a:latin typeface="微软雅黑" pitchFamily="34" charset="-122"/>
                <a:ea typeface="微软雅黑" pitchFamily="34" charset="-122"/>
              </a:rPr>
              <a:t>的，如果</a:t>
            </a:r>
            <a:r>
              <a:rPr lang="en-US" altLang="zh-CN" sz="1500" dirty="0">
                <a:latin typeface="微软雅黑" pitchFamily="34" charset="-122"/>
                <a:ea typeface="微软雅黑" pitchFamily="34" charset="-122"/>
              </a:rPr>
              <a:t>1</a:t>
            </a:r>
            <a:r>
              <a:rPr lang="zh-CN" altLang="en-US" sz="1500" dirty="0">
                <a:latin typeface="微软雅黑" pitchFamily="34" charset="-122"/>
                <a:ea typeface="微软雅黑" pitchFamily="34" charset="-122"/>
              </a:rPr>
              <a:t>个</a:t>
            </a:r>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文件满了</a:t>
            </a:r>
            <a:r>
              <a:rPr lang="en-US" altLang="zh-CN" sz="1500" dirty="0">
                <a:latin typeface="微软雅黑" pitchFamily="34" charset="-122"/>
                <a:ea typeface="微软雅黑" pitchFamily="34" charset="-122"/>
              </a:rPr>
              <a:t>1G</a:t>
            </a:r>
            <a:r>
              <a:rPr lang="zh-CN" altLang="en-US" sz="1500" dirty="0">
                <a:latin typeface="微软雅黑" pitchFamily="34" charset="-122"/>
                <a:ea typeface="微软雅黑" pitchFamily="34" charset="-122"/>
              </a:rPr>
              <a:t>大小，</a:t>
            </a:r>
            <a:r>
              <a:rPr lang="en-US" altLang="zh-CN" sz="1500" dirty="0" err="1">
                <a:latin typeface="微软雅黑" pitchFamily="34" charset="-122"/>
                <a:ea typeface="微软雅黑" pitchFamily="34" charset="-122"/>
              </a:rPr>
              <a:t>mongodb</a:t>
            </a:r>
            <a:r>
              <a:rPr lang="zh-CN" altLang="en-US" sz="1500" dirty="0">
                <a:latin typeface="微软雅黑" pitchFamily="34" charset="-122"/>
                <a:ea typeface="微软雅黑" pitchFamily="34" charset="-122"/>
              </a:rPr>
              <a:t>就会新创建一个</a:t>
            </a:r>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文件来使用，一旦某个</a:t>
            </a:r>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文件所记载的写操作都被使用过了，</a:t>
            </a:r>
            <a:r>
              <a:rPr lang="en-US" altLang="zh-CN" sz="1500" dirty="0" err="1">
                <a:latin typeface="微软雅黑" pitchFamily="34" charset="-122"/>
                <a:ea typeface="微软雅黑" pitchFamily="34" charset="-122"/>
              </a:rPr>
              <a:t>mongodb</a:t>
            </a:r>
            <a:r>
              <a:rPr lang="zh-CN" altLang="en-US" sz="1500" dirty="0">
                <a:latin typeface="微软雅黑" pitchFamily="34" charset="-122"/>
                <a:ea typeface="微软雅黑" pitchFamily="34" charset="-122"/>
              </a:rPr>
              <a:t>就会把这个</a:t>
            </a:r>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文件删除。通常在</a:t>
            </a:r>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文件所在的文件夹下，只会存在</a:t>
            </a:r>
            <a:r>
              <a:rPr lang="en-US" altLang="zh-CN" sz="1500" dirty="0">
                <a:latin typeface="微软雅黑" pitchFamily="34" charset="-122"/>
                <a:ea typeface="微软雅黑" pitchFamily="34" charset="-122"/>
              </a:rPr>
              <a:t>2~3</a:t>
            </a:r>
            <a:r>
              <a:rPr lang="zh-CN" altLang="en-US" sz="1500" dirty="0">
                <a:latin typeface="微软雅黑" pitchFamily="34" charset="-122"/>
                <a:ea typeface="微软雅黑" pitchFamily="34" charset="-122"/>
              </a:rPr>
              <a:t>个</a:t>
            </a:r>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文件，除非你使用</a:t>
            </a:r>
            <a:r>
              <a:rPr lang="en-US" altLang="zh-CN" sz="1500" dirty="0" err="1">
                <a:latin typeface="微软雅黑" pitchFamily="34" charset="-122"/>
                <a:ea typeface="微软雅黑" pitchFamily="34" charset="-122"/>
              </a:rPr>
              <a:t>mongodb</a:t>
            </a:r>
            <a:r>
              <a:rPr lang="zh-CN" altLang="en-US" sz="1500" dirty="0">
                <a:latin typeface="微软雅黑" pitchFamily="34" charset="-122"/>
                <a:ea typeface="微软雅黑" pitchFamily="34" charset="-122"/>
              </a:rPr>
              <a:t>每秒都写入大量的数据。</a:t>
            </a:r>
            <a:endParaRPr lang="en-US" altLang="zh-CN" sz="1500" dirty="0">
              <a:latin typeface="微软雅黑" pitchFamily="34" charset="-122"/>
              <a:ea typeface="微软雅黑" pitchFamily="34" charset="-122"/>
            </a:endParaRPr>
          </a:p>
          <a:p>
            <a:pPr lvl="1"/>
            <a:r>
              <a:rPr lang="zh-CN" altLang="en-US" sz="1500" dirty="0">
                <a:latin typeface="微软雅黑" pitchFamily="34" charset="-122"/>
                <a:ea typeface="微软雅黑" pitchFamily="34" charset="-122"/>
              </a:rPr>
              <a:t>使用 </a:t>
            </a:r>
            <a:r>
              <a:rPr lang="en-US" altLang="zh-CN" sz="1500" dirty="0" err="1">
                <a:latin typeface="微软雅黑" pitchFamily="34" charset="-122"/>
                <a:ea typeface="微软雅黑" pitchFamily="34" charset="-122"/>
              </a:rPr>
              <a:t>smallfiles</a:t>
            </a:r>
            <a:r>
              <a:rPr lang="en-US" altLang="zh-CN" sz="1500" dirty="0">
                <a:latin typeface="微软雅黑" pitchFamily="34" charset="-122"/>
                <a:ea typeface="微软雅黑" pitchFamily="34" charset="-122"/>
              </a:rPr>
              <a:t> </a:t>
            </a:r>
            <a:r>
              <a:rPr lang="zh-CN" altLang="en-US" sz="1500" dirty="0">
                <a:latin typeface="微软雅黑" pitchFamily="34" charset="-122"/>
                <a:ea typeface="微软雅黑" pitchFamily="34" charset="-122"/>
              </a:rPr>
              <a:t>这个运行时选项可以将</a:t>
            </a:r>
            <a:r>
              <a:rPr lang="en-US" altLang="zh-CN" sz="1500" dirty="0">
                <a:latin typeface="微软雅黑" pitchFamily="34" charset="-122"/>
                <a:ea typeface="微软雅黑" pitchFamily="34" charset="-122"/>
              </a:rPr>
              <a:t>journal</a:t>
            </a:r>
            <a:r>
              <a:rPr lang="zh-CN" altLang="en-US" sz="1500" dirty="0">
                <a:latin typeface="微软雅黑" pitchFamily="34" charset="-122"/>
                <a:ea typeface="微软雅黑" pitchFamily="34" charset="-122"/>
              </a:rPr>
              <a:t>文件大小减至</a:t>
            </a:r>
            <a:r>
              <a:rPr lang="en-US" altLang="zh-CN" sz="1500" dirty="0">
                <a:latin typeface="微软雅黑" pitchFamily="34" charset="-122"/>
                <a:ea typeface="微软雅黑" pitchFamily="34" charset="-122"/>
              </a:rPr>
              <a:t>128M</a:t>
            </a:r>
            <a:r>
              <a:rPr lang="zh-CN" altLang="en-US" sz="1500" dirty="0">
                <a:latin typeface="微软雅黑" pitchFamily="34" charset="-122"/>
                <a:ea typeface="微软雅黑" pitchFamily="34" charset="-122"/>
              </a:rPr>
              <a:t>大小。</a:t>
            </a:r>
            <a:endParaRPr lang="en-US" altLang="zh-CN" sz="1500" b="1" dirty="0">
              <a:latin typeface="微软雅黑" pitchFamily="34" charset="-122"/>
              <a:ea typeface="微软雅黑" pitchFamily="34" charset="-122"/>
            </a:endParaRPr>
          </a:p>
          <a:p>
            <a:pPr lvl="1"/>
            <a:endParaRPr lang="zh-CN" altLang="en-US" dirty="0"/>
          </a:p>
        </p:txBody>
      </p:sp>
    </p:spTree>
    <p:extLst>
      <p:ext uri="{BB962C8B-B14F-4D97-AF65-F5344CB8AC3E}">
        <p14:creationId xmlns:p14="http://schemas.microsoft.com/office/powerpoint/2010/main" val="876138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047" y="4221088"/>
            <a:ext cx="6060250" cy="1297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0" y="0"/>
            <a:ext cx="9144000" cy="1600200"/>
          </a:xfrm>
        </p:spPr>
        <p:txBody>
          <a:bodyPr/>
          <a:lstStyle/>
          <a:p>
            <a:r>
              <a:rPr lang="en-US" altLang="zh-CN" b="1" i="1" dirty="0">
                <a:solidFill>
                  <a:schemeClr val="tx1"/>
                </a:solidFill>
                <a:latin typeface="微软雅黑" pitchFamily="34" charset="-122"/>
                <a:ea typeface="微软雅黑" pitchFamily="34" charset="-122"/>
              </a:rPr>
              <a:t>2.2 </a:t>
            </a:r>
            <a:r>
              <a:rPr lang="zh-CN" altLang="en-US" b="1" i="1" dirty="0">
                <a:solidFill>
                  <a:schemeClr val="tx1"/>
                </a:solidFill>
                <a:latin typeface="微软雅黑" pitchFamily="34" charset="-122"/>
                <a:ea typeface="微软雅黑" pitchFamily="34" charset="-122"/>
              </a:rPr>
              <a:t>存储引擎</a:t>
            </a:r>
            <a:r>
              <a:rPr lang="en-US" altLang="zh-CN" b="1" i="1" dirty="0">
                <a:solidFill>
                  <a:schemeClr val="tx1"/>
                </a:solidFill>
                <a:latin typeface="微软雅黑" pitchFamily="34" charset="-122"/>
                <a:ea typeface="微软雅黑" pitchFamily="34" charset="-122"/>
              </a:rPr>
              <a:t>-</a:t>
            </a:r>
            <a:r>
              <a:rPr lang="en-US" altLang="zh-CN" b="1" i="1" dirty="0" smtClean="0">
                <a:solidFill>
                  <a:schemeClr val="tx1"/>
                </a:solidFill>
                <a:latin typeface="微软雅黑" pitchFamily="34" charset="-122"/>
                <a:ea typeface="微软雅黑" pitchFamily="34" charset="-122"/>
              </a:rPr>
              <a:t>MMAPv1(3)</a:t>
            </a:r>
            <a:endParaRPr lang="zh-CN" altLang="en-US" dirty="0"/>
          </a:p>
        </p:txBody>
      </p:sp>
      <p:sp>
        <p:nvSpPr>
          <p:cNvPr id="3" name="内容占位符 2"/>
          <p:cNvSpPr>
            <a:spLocks noGrp="1"/>
          </p:cNvSpPr>
          <p:nvPr>
            <p:ph idx="1"/>
          </p:nvPr>
        </p:nvSpPr>
        <p:spPr>
          <a:xfrm>
            <a:off x="251520" y="1600200"/>
            <a:ext cx="8640960" cy="4565104"/>
          </a:xfrm>
        </p:spPr>
        <p:txBody>
          <a:bodyPr>
            <a:normAutofit/>
          </a:bodyPr>
          <a:lstStyle/>
          <a:p>
            <a:r>
              <a:rPr lang="zh-CN" altLang="en-US" dirty="0" smtClean="0"/>
              <a:t>数据文件</a:t>
            </a:r>
            <a:endParaRPr lang="en-US" altLang="zh-CN" dirty="0" smtClean="0"/>
          </a:p>
          <a:p>
            <a:pPr lvl="1"/>
            <a:r>
              <a:rPr lang="zh-CN" altLang="en-US" dirty="0" smtClean="0">
                <a:latin typeface="微软雅黑" pitchFamily="34" charset="-122"/>
                <a:ea typeface="微软雅黑" pitchFamily="34" charset="-122"/>
              </a:rPr>
              <a:t>每个</a:t>
            </a:r>
            <a:r>
              <a:rPr lang="en-US" altLang="zh-CN" dirty="0" err="1" smtClean="0">
                <a:latin typeface="微软雅黑" pitchFamily="34" charset="-122"/>
                <a:ea typeface="微软雅黑" pitchFamily="34" charset="-122"/>
              </a:rPr>
              <a:t>db</a:t>
            </a:r>
            <a:r>
              <a:rPr lang="zh-CN" altLang="en-US" dirty="0" smtClean="0">
                <a:latin typeface="微软雅黑" pitchFamily="34" charset="-122"/>
                <a:ea typeface="微软雅黑" pitchFamily="34" charset="-122"/>
              </a:rPr>
              <a:t>有</a:t>
            </a:r>
            <a:r>
              <a:rPr lang="en-US" altLang="zh-CN" dirty="0" smtClean="0">
                <a:latin typeface="微软雅黑" pitchFamily="34" charset="-122"/>
                <a:ea typeface="微软雅黑" pitchFamily="34" charset="-122"/>
              </a:rPr>
              <a:t>1</a:t>
            </a:r>
            <a:r>
              <a:rPr lang="zh-CN" altLang="en-US" dirty="0" smtClean="0">
                <a:latin typeface="微软雅黑" pitchFamily="34" charset="-122"/>
                <a:ea typeface="微软雅黑" pitchFamily="34" charset="-122"/>
              </a:rPr>
              <a:t>个</a:t>
            </a:r>
            <a:r>
              <a:rPr lang="en-US" altLang="zh-CN" dirty="0" smtClean="0">
                <a:latin typeface="微软雅黑" pitchFamily="34" charset="-122"/>
                <a:ea typeface="微软雅黑" pitchFamily="34" charset="-122"/>
              </a:rPr>
              <a:t>.ns</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namespace</a:t>
            </a:r>
            <a:r>
              <a:rPr lang="zh-CN" altLang="en-US" dirty="0" smtClean="0">
                <a:latin typeface="微软雅黑" pitchFamily="34" charset="-122"/>
                <a:ea typeface="微软雅黑" pitchFamily="34" charset="-122"/>
              </a:rPr>
              <a:t>）和若干个数据文件</a:t>
            </a:r>
            <a:r>
              <a:rPr lang="en-US" altLang="zh-CN" dirty="0" smtClean="0">
                <a:latin typeface="微软雅黑" pitchFamily="34" charset="-122"/>
                <a:ea typeface="微软雅黑" pitchFamily="34" charset="-122"/>
              </a:rPr>
              <a:t>(.n)</a:t>
            </a:r>
            <a:r>
              <a:rPr lang="zh-CN" altLang="en-US" dirty="0" smtClean="0">
                <a:latin typeface="微软雅黑" pitchFamily="34" charset="-122"/>
                <a:ea typeface="微软雅黑" pitchFamily="34" charset="-122"/>
              </a:rPr>
              <a:t>构成</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数据文件随着数据的增多而增多，默认从</a:t>
            </a:r>
            <a:r>
              <a:rPr lang="en-US" altLang="zh-CN" dirty="0" smtClean="0">
                <a:latin typeface="微软雅黑" pitchFamily="34" charset="-122"/>
                <a:ea typeface="微软雅黑" pitchFamily="34" charset="-122"/>
              </a:rPr>
              <a:t>64M</a:t>
            </a:r>
            <a:r>
              <a:rPr lang="zh-CN" altLang="en-US" dirty="0" smtClean="0">
                <a:latin typeface="微软雅黑" pitchFamily="34" charset="-122"/>
                <a:ea typeface="微软雅黑" pitchFamily="34" charset="-122"/>
              </a:rPr>
              <a:t>开始，数据文件每新增一次，大小为上一个数据文件的</a:t>
            </a:r>
            <a:r>
              <a:rPr lang="en-US" altLang="zh-CN" dirty="0" smtClean="0">
                <a:latin typeface="微软雅黑" pitchFamily="34" charset="-122"/>
                <a:ea typeface="微软雅黑" pitchFamily="34" charset="-122"/>
              </a:rPr>
              <a:t>2</a:t>
            </a:r>
            <a:r>
              <a:rPr lang="zh-CN" altLang="en-US" dirty="0" smtClean="0">
                <a:latin typeface="微软雅黑" pitchFamily="34" charset="-122"/>
                <a:ea typeface="微软雅黑" pitchFamily="34" charset="-122"/>
              </a:rPr>
              <a:t>倍，上限为</a:t>
            </a:r>
            <a:r>
              <a:rPr lang="en-US" altLang="zh-CN" dirty="0" smtClean="0">
                <a:latin typeface="微软雅黑" pitchFamily="34" charset="-122"/>
                <a:ea typeface="微软雅黑" pitchFamily="34" charset="-122"/>
              </a:rPr>
              <a:t>2GB</a:t>
            </a:r>
            <a:r>
              <a:rPr lang="zh-CN" altLang="en-US" dirty="0" smtClean="0">
                <a:latin typeface="微软雅黑" pitchFamily="34" charset="-122"/>
                <a:ea typeface="微软雅黑" pitchFamily="34" charset="-122"/>
              </a:rPr>
              <a:t>。这样的设计有利于</a:t>
            </a:r>
            <a:r>
              <a:rPr lang="zh-CN" altLang="en-US" dirty="0">
                <a:latin typeface="微软雅黑" pitchFamily="34" charset="-122"/>
                <a:ea typeface="微软雅黑" pitchFamily="34" charset="-122"/>
              </a:rPr>
              <a:t>防止数据量较小的数据库浪费过多的空间，同时又能保证数据量较大的数据库有相应的空间使用</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lvl="1"/>
            <a:r>
              <a:rPr lang="en-US" altLang="zh-CN" dirty="0" err="1">
                <a:latin typeface="微软雅黑" pitchFamily="34" charset="-122"/>
                <a:ea typeface="微软雅黑" pitchFamily="34" charset="-122"/>
              </a:rPr>
              <a:t>MongoDB</a:t>
            </a:r>
            <a:r>
              <a:rPr lang="zh-CN" altLang="en-US" dirty="0">
                <a:latin typeface="微软雅黑" pitchFamily="34" charset="-122"/>
                <a:ea typeface="微软雅黑" pitchFamily="34" charset="-122"/>
              </a:rPr>
              <a:t>会使用预分配方式来保证写入性能的稳定（可通过</a:t>
            </a:r>
            <a:r>
              <a:rPr lang="en-US"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noprealloc</a:t>
            </a:r>
            <a:r>
              <a:rPr lang="zh-CN" altLang="en-US" dirty="0">
                <a:latin typeface="微软雅黑" pitchFamily="34" charset="-122"/>
                <a:ea typeface="微软雅黑" pitchFamily="34" charset="-122"/>
              </a:rPr>
              <a:t>关闭</a:t>
            </a:r>
            <a:r>
              <a:rPr lang="zh-CN" altLang="en-US" dirty="0" smtClean="0">
                <a:latin typeface="微软雅黑" pitchFamily="34" charset="-122"/>
                <a:ea typeface="微软雅黑" pitchFamily="34" charset="-122"/>
              </a:rPr>
              <a:t>，但不</a:t>
            </a:r>
            <a:r>
              <a:rPr lang="zh-CN" altLang="en-US" dirty="0">
                <a:latin typeface="微软雅黑" pitchFamily="34" charset="-122"/>
                <a:ea typeface="微软雅黑" pitchFamily="34" charset="-122"/>
              </a:rPr>
              <a:t>建议）。预分配在后台进行。预分配使得</a:t>
            </a:r>
            <a:r>
              <a:rPr lang="en-US" altLang="zh-CN" dirty="0" err="1">
                <a:latin typeface="微软雅黑" pitchFamily="34" charset="-122"/>
                <a:ea typeface="微软雅黑" pitchFamily="34" charset="-122"/>
              </a:rPr>
              <a:t>MongoDB</a:t>
            </a:r>
            <a:r>
              <a:rPr lang="zh-CN" altLang="en-US" dirty="0">
                <a:latin typeface="微软雅黑" pitchFamily="34" charset="-122"/>
                <a:ea typeface="微软雅黑" pitchFamily="34" charset="-122"/>
              </a:rPr>
              <a:t>始终保持额外的空间和空余的数据文件，从而避免了数据增长过快而带来的分配磁盘空间引起的阻塞</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p:txBody>
      </p:sp>
    </p:spTree>
    <p:extLst>
      <p:ext uri="{BB962C8B-B14F-4D97-AF65-F5344CB8AC3E}">
        <p14:creationId xmlns:p14="http://schemas.microsoft.com/office/powerpoint/2010/main" val="212855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960" y="2780928"/>
            <a:ext cx="4932040" cy="355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内容占位符 2"/>
          <p:cNvSpPr>
            <a:spLocks noGrp="1"/>
          </p:cNvSpPr>
          <p:nvPr>
            <p:ph idx="1"/>
          </p:nvPr>
        </p:nvSpPr>
        <p:spPr>
          <a:xfrm>
            <a:off x="0" y="1600200"/>
            <a:ext cx="9144000" cy="5257800"/>
          </a:xfrm>
        </p:spPr>
        <p:txBody>
          <a:bodyPr>
            <a:normAutofit/>
          </a:bodyPr>
          <a:lstStyle/>
          <a:p>
            <a:pPr fontAlgn="base"/>
            <a:r>
              <a:rPr lang="zh-CN" altLang="en-US" dirty="0" smtClean="0">
                <a:latin typeface="微软雅黑" pitchFamily="34" charset="-122"/>
                <a:ea typeface="微软雅黑" pitchFamily="34" charset="-122"/>
              </a:rPr>
              <a:t>版本</a:t>
            </a:r>
            <a:r>
              <a:rPr lang="en-US" altLang="zh-CN" dirty="0" smtClean="0">
                <a:latin typeface="微软雅黑" pitchFamily="34" charset="-122"/>
                <a:ea typeface="微软雅黑" pitchFamily="34" charset="-122"/>
              </a:rPr>
              <a:t>3.0</a:t>
            </a:r>
            <a:r>
              <a:rPr lang="zh-CN" altLang="en-US" dirty="0" smtClean="0">
                <a:latin typeface="微软雅黑" pitchFamily="34" charset="-122"/>
                <a:ea typeface="微软雅黑" pitchFamily="34" charset="-122"/>
              </a:rPr>
              <a:t>起引入，只支持</a:t>
            </a:r>
            <a:r>
              <a:rPr lang="en-US" altLang="zh-CN" dirty="0" smtClean="0">
                <a:latin typeface="微软雅黑" pitchFamily="34" charset="-122"/>
                <a:ea typeface="微软雅黑" pitchFamily="34" charset="-122"/>
              </a:rPr>
              <a:t>64</a:t>
            </a:r>
            <a:r>
              <a:rPr lang="zh-CN" altLang="en-US" dirty="0" smtClean="0">
                <a:latin typeface="微软雅黑" pitchFamily="34" charset="-122"/>
                <a:ea typeface="微软雅黑" pitchFamily="34" charset="-122"/>
              </a:rPr>
              <a:t>位系统，还不是默认的存储引擎，需要手动指定。在即将到来的</a:t>
            </a:r>
            <a:r>
              <a:rPr lang="en-US" altLang="zh-CN" dirty="0" smtClean="0">
                <a:latin typeface="微软雅黑" pitchFamily="34" charset="-122"/>
                <a:ea typeface="微软雅黑" pitchFamily="34" charset="-122"/>
              </a:rPr>
              <a:t>3.2</a:t>
            </a:r>
            <a:r>
              <a:rPr lang="zh-CN" altLang="en-US" dirty="0" smtClean="0">
                <a:latin typeface="微软雅黑" pitchFamily="34" charset="-122"/>
                <a:ea typeface="微软雅黑" pitchFamily="34" charset="-122"/>
              </a:rPr>
              <a:t>版本将成为默认引擎。</a:t>
            </a:r>
            <a:endParaRPr lang="en-US" altLang="zh-CN" dirty="0" smtClean="0">
              <a:latin typeface="微软雅黑" pitchFamily="34" charset="-122"/>
              <a:ea typeface="微软雅黑" pitchFamily="34" charset="-122"/>
            </a:endParaRPr>
          </a:p>
          <a:p>
            <a:pPr lvl="1" fontAlgn="base"/>
            <a:r>
              <a:rPr lang="en-US" altLang="zh-CN" dirty="0" err="1">
                <a:latin typeface="微软雅黑" pitchFamily="34" charset="-122"/>
                <a:ea typeface="微软雅黑" pitchFamily="34" charset="-122"/>
              </a:rPr>
              <a:t>storageEngine</a:t>
            </a:r>
            <a:r>
              <a:rPr lang="en-US" altLang="zh-CN" dirty="0">
                <a:latin typeface="微软雅黑" pitchFamily="34" charset="-122"/>
                <a:ea typeface="微软雅黑" pitchFamily="34" charset="-122"/>
              </a:rPr>
              <a:t> = </a:t>
            </a:r>
            <a:r>
              <a:rPr lang="en-US" altLang="zh-CN" dirty="0" err="1" smtClean="0">
                <a:latin typeface="微软雅黑" pitchFamily="34" charset="-122"/>
                <a:ea typeface="微软雅黑" pitchFamily="34" charset="-122"/>
              </a:rPr>
              <a:t>wiredTiger</a:t>
            </a:r>
            <a:endParaRPr lang="en-US" altLang="zh-CN" dirty="0" smtClean="0">
              <a:latin typeface="微软雅黑" pitchFamily="34" charset="-122"/>
              <a:ea typeface="微软雅黑" pitchFamily="34" charset="-122"/>
            </a:endParaRPr>
          </a:p>
          <a:p>
            <a:pPr lvl="1" fontAlgn="base"/>
            <a:endParaRPr lang="en-US" altLang="zh-CN" dirty="0" smtClean="0">
              <a:latin typeface="微软雅黑" pitchFamily="34" charset="-122"/>
              <a:ea typeface="微软雅黑" pitchFamily="34" charset="-122"/>
            </a:endParaRPr>
          </a:p>
          <a:p>
            <a:pPr fontAlgn="base"/>
            <a:r>
              <a:rPr lang="zh-CN" altLang="en-US" dirty="0" smtClean="0">
                <a:latin typeface="微软雅黑" pitchFamily="34" charset="-122"/>
                <a:ea typeface="微软雅黑" pitchFamily="34" charset="-122"/>
              </a:rPr>
              <a:t>读</a:t>
            </a:r>
            <a:r>
              <a:rPr lang="zh-CN" altLang="en-US" dirty="0">
                <a:latin typeface="微软雅黑" pitchFamily="34" charset="-122"/>
                <a:ea typeface="微软雅黑" pitchFamily="34" charset="-122"/>
              </a:rPr>
              <a:t>写锁</a:t>
            </a:r>
            <a:endParaRPr lang="en-US" altLang="zh-CN" dirty="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通过</a:t>
            </a:r>
            <a:r>
              <a:rPr lang="en-US" altLang="zh-CN" dirty="0" smtClean="0">
                <a:latin typeface="微软雅黑" pitchFamily="34" charset="-122"/>
                <a:ea typeface="微软雅黑" pitchFamily="34" charset="-122"/>
              </a:rPr>
              <a:t>MVCC</a:t>
            </a:r>
            <a:r>
              <a:rPr lang="zh-CN" altLang="en-US" dirty="0" smtClean="0">
                <a:latin typeface="微软雅黑" pitchFamily="34" charset="-122"/>
                <a:ea typeface="微软雅黑" pitchFamily="34" charset="-122"/>
              </a:rPr>
              <a:t>实现文档级别锁（</a:t>
            </a:r>
            <a:r>
              <a:rPr lang="zh-CN" altLang="en-US" dirty="0">
                <a:latin typeface="微软雅黑" pitchFamily="34" charset="-122"/>
                <a:ea typeface="微软雅黑" pitchFamily="34" charset="-122"/>
              </a:rPr>
              <a:t>更</a:t>
            </a:r>
            <a:r>
              <a:rPr lang="zh-CN" altLang="en-US" dirty="0" smtClean="0">
                <a:latin typeface="微软雅黑" pitchFamily="34" charset="-122"/>
                <a:ea typeface="微软雅黑" pitchFamily="34" charset="-122"/>
              </a:rPr>
              <a:t>细粒度</a:t>
            </a:r>
            <a:endParaRPr lang="en-US" altLang="zh-CN" dirty="0" smtClean="0">
              <a:latin typeface="微软雅黑" pitchFamily="34" charset="-122"/>
              <a:ea typeface="微软雅黑" pitchFamily="34" charset="-122"/>
            </a:endParaRPr>
          </a:p>
          <a:p>
            <a:pPr marL="457200" lvl="1" indent="0">
              <a:buNone/>
            </a:pPr>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的</a:t>
            </a:r>
            <a:r>
              <a:rPr lang="zh-CN" altLang="en-US" dirty="0">
                <a:latin typeface="微软雅黑" pitchFamily="34" charset="-122"/>
                <a:ea typeface="微软雅黑" pitchFamily="34" charset="-122"/>
              </a:rPr>
              <a:t>锁</a:t>
            </a:r>
            <a:r>
              <a:rPr lang="zh-CN" altLang="en-US" dirty="0" smtClean="0">
                <a:latin typeface="微软雅黑" pitchFamily="34" charset="-122"/>
                <a:ea typeface="微软雅黑" pitchFamily="34" charset="-122"/>
              </a:rPr>
              <a:t>，大大提高</a:t>
            </a:r>
            <a:r>
              <a:rPr lang="zh-CN" altLang="en-US" dirty="0">
                <a:latin typeface="微软雅黑" pitchFamily="34" charset="-122"/>
                <a:ea typeface="微软雅黑" pitchFamily="34" charset="-122"/>
              </a:rPr>
              <a:t>并发读写性能</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lvl="1"/>
            <a:r>
              <a:rPr lang="zh-CN" altLang="en-US" dirty="0">
                <a:latin typeface="微软雅黑" pitchFamily="34" charset="-122"/>
                <a:ea typeface="微软雅黑" pitchFamily="34" charset="-122"/>
              </a:rPr>
              <a:t>以前的微分片，分库分表及其</a:t>
            </a:r>
            <a:r>
              <a:rPr lang="zh-CN" altLang="en-US" dirty="0" smtClean="0">
                <a:latin typeface="微软雅黑" pitchFamily="34" charset="-122"/>
                <a:ea typeface="微软雅黑" pitchFamily="34" charset="-122"/>
              </a:rPr>
              <a:t>他为提高</a:t>
            </a:r>
            <a:endParaRPr lang="en-US" altLang="zh-CN" dirty="0" smtClean="0">
              <a:latin typeface="微软雅黑" pitchFamily="34" charset="-122"/>
              <a:ea typeface="微软雅黑" pitchFamily="34" charset="-122"/>
            </a:endParaRPr>
          </a:p>
          <a:p>
            <a:pPr marL="457200" lvl="1" indent="0">
              <a:buNone/>
            </a:pPr>
            <a:r>
              <a:rPr lang="en-US" altLang="zh-CN" dirty="0" smtClean="0">
                <a:latin typeface="微软雅黑" pitchFamily="34" charset="-122"/>
                <a:ea typeface="微软雅黑" pitchFamily="34" charset="-122"/>
              </a:rPr>
              <a:t>       MMAPv1</a:t>
            </a:r>
            <a:r>
              <a:rPr lang="zh-CN" altLang="en-US" dirty="0">
                <a:latin typeface="微软雅黑" pitchFamily="34" charset="-122"/>
                <a:ea typeface="微软雅黑" pitchFamily="34" charset="-122"/>
              </a:rPr>
              <a:t>并发率而实现的变通方案</a:t>
            </a:r>
            <a:r>
              <a:rPr lang="zh-CN" altLang="en-US" dirty="0" smtClean="0">
                <a:latin typeface="微软雅黑" pitchFamily="34" charset="-122"/>
                <a:ea typeface="微软雅黑" pitchFamily="34" charset="-122"/>
              </a:rPr>
              <a:t>将</a:t>
            </a:r>
            <a:endParaRPr lang="en-US" altLang="zh-CN" dirty="0" smtClean="0">
              <a:latin typeface="微软雅黑" pitchFamily="34" charset="-122"/>
              <a:ea typeface="微软雅黑" pitchFamily="34" charset="-122"/>
            </a:endParaRPr>
          </a:p>
          <a:p>
            <a:pPr marL="457200" lvl="1" indent="0">
              <a:buNone/>
            </a:pPr>
            <a:r>
              <a:rPr lang="zh-CN" altLang="en-US" dirty="0" smtClean="0">
                <a:latin typeface="微软雅黑" pitchFamily="34" charset="-122"/>
                <a:ea typeface="微软雅黑" pitchFamily="34" charset="-122"/>
              </a:rPr>
              <a:t>       不再</a:t>
            </a:r>
            <a:r>
              <a:rPr lang="zh-CN" altLang="en-US" dirty="0">
                <a:latin typeface="微软雅黑" pitchFamily="34" charset="-122"/>
                <a:ea typeface="微软雅黑" pitchFamily="34" charset="-122"/>
              </a:rPr>
              <a:t>需要</a:t>
            </a:r>
            <a:endParaRPr lang="en-US" altLang="zh-CN" dirty="0">
              <a:latin typeface="微软雅黑" pitchFamily="34" charset="-122"/>
              <a:ea typeface="微软雅黑" pitchFamily="34" charset="-122"/>
            </a:endParaRPr>
          </a:p>
          <a:p>
            <a:pPr lvl="1"/>
            <a:endParaRPr lang="en-US" altLang="zh-CN" dirty="0" smtClean="0"/>
          </a:p>
          <a:p>
            <a:pPr lvl="1"/>
            <a:endParaRPr lang="en-US" altLang="zh-CN" dirty="0" smtClean="0"/>
          </a:p>
          <a:p>
            <a:pPr marL="742950" lvl="2" indent="-342900" fontAlgn="base"/>
            <a:endParaRPr lang="en-US" altLang="zh-CN" sz="2400" dirty="0">
              <a:latin typeface="微软雅黑" pitchFamily="34" charset="-122"/>
              <a:ea typeface="微软雅黑" pitchFamily="34" charset="-122"/>
            </a:endParaRPr>
          </a:p>
          <a:p>
            <a:pPr lvl="1"/>
            <a:endParaRPr lang="zh-CN" altLang="en-US" dirty="0"/>
          </a:p>
        </p:txBody>
      </p:sp>
      <p:sp>
        <p:nvSpPr>
          <p:cNvPr id="2" name="标题 1"/>
          <p:cNvSpPr>
            <a:spLocks noGrp="1"/>
          </p:cNvSpPr>
          <p:nvPr>
            <p:ph type="title"/>
          </p:nvPr>
        </p:nvSpPr>
        <p:spPr>
          <a:xfrm>
            <a:off x="0" y="0"/>
            <a:ext cx="9144000" cy="1600200"/>
          </a:xfrm>
        </p:spPr>
        <p:txBody>
          <a:bodyPr/>
          <a:lstStyle/>
          <a:p>
            <a:r>
              <a:rPr lang="en-US" altLang="zh-CN" b="1" i="1" dirty="0">
                <a:solidFill>
                  <a:schemeClr val="tx1"/>
                </a:solidFill>
                <a:latin typeface="微软雅黑" pitchFamily="34" charset="-122"/>
                <a:ea typeface="微软雅黑" pitchFamily="34" charset="-122"/>
              </a:rPr>
              <a:t>2.2 </a:t>
            </a:r>
            <a:r>
              <a:rPr lang="zh-CN" altLang="en-US" b="1" i="1" dirty="0">
                <a:solidFill>
                  <a:schemeClr val="tx1"/>
                </a:solidFill>
                <a:latin typeface="微软雅黑" pitchFamily="34" charset="-122"/>
                <a:ea typeface="微软雅黑" pitchFamily="34" charset="-122"/>
              </a:rPr>
              <a:t>存储引擎</a:t>
            </a:r>
            <a:r>
              <a:rPr lang="en-US" altLang="zh-CN" b="1" i="1" dirty="0" smtClean="0">
                <a:solidFill>
                  <a:schemeClr val="tx1"/>
                </a:solidFill>
                <a:latin typeface="微软雅黑" pitchFamily="34" charset="-122"/>
                <a:ea typeface="微软雅黑" pitchFamily="34" charset="-122"/>
              </a:rPr>
              <a:t>-</a:t>
            </a:r>
            <a:r>
              <a:rPr lang="en-US" altLang="zh-CN" b="1" i="1" dirty="0" err="1" smtClean="0">
                <a:solidFill>
                  <a:schemeClr val="tx1"/>
                </a:solidFill>
                <a:latin typeface="微软雅黑" pitchFamily="34" charset="-122"/>
                <a:ea typeface="微软雅黑" pitchFamily="34" charset="-122"/>
              </a:rPr>
              <a:t>WiredTiger</a:t>
            </a:r>
            <a:r>
              <a:rPr lang="en-US" altLang="zh-CN" b="1" i="1" dirty="0" smtClean="0">
                <a:solidFill>
                  <a:schemeClr val="tx1"/>
                </a:solidFill>
                <a:latin typeface="微软雅黑" pitchFamily="34" charset="-122"/>
                <a:ea typeface="微软雅黑" pitchFamily="34" charset="-122"/>
              </a:rPr>
              <a:t>(1)</a:t>
            </a:r>
            <a:endParaRPr lang="zh-CN" altLang="en-US" dirty="0"/>
          </a:p>
        </p:txBody>
      </p:sp>
      <p:sp>
        <p:nvSpPr>
          <p:cNvPr id="8" name="TextBox 7"/>
          <p:cNvSpPr txBox="1"/>
          <p:nvPr/>
        </p:nvSpPr>
        <p:spPr>
          <a:xfrm>
            <a:off x="4139952" y="6207543"/>
            <a:ext cx="2849370" cy="584775"/>
          </a:xfrm>
          <a:prstGeom prst="rect">
            <a:avLst/>
          </a:prstGeom>
          <a:noFill/>
        </p:spPr>
        <p:txBody>
          <a:bodyPr wrap="none" rtlCol="0">
            <a:spAutoFit/>
          </a:bodyPr>
          <a:lstStyle/>
          <a:p>
            <a:pPr marL="0" lvl="1"/>
            <a:r>
              <a:rPr lang="en-US" altLang="zh-CN" sz="1400" dirty="0" smtClean="0">
                <a:latin typeface="微软雅黑" pitchFamily="34" charset="-122"/>
                <a:ea typeface="微软雅黑" pitchFamily="34" charset="-122"/>
              </a:rPr>
              <a:t>MVCC(snapshot, </a:t>
            </a:r>
            <a:r>
              <a:rPr lang="en-US" altLang="zh-CN" sz="1400" dirty="0" err="1" smtClean="0">
                <a:latin typeface="微软雅黑" pitchFamily="34" charset="-122"/>
                <a:ea typeface="微软雅黑" pitchFamily="34" charset="-122"/>
              </a:rPr>
              <a:t>copyOnWrite</a:t>
            </a:r>
            <a:r>
              <a:rPr lang="en-US" altLang="zh-CN" sz="1400" dirty="0">
                <a:latin typeface="微软雅黑" pitchFamily="34" charset="-122"/>
                <a:ea typeface="微软雅黑" pitchFamily="34" charset="-122"/>
              </a:rPr>
              <a:t>)</a:t>
            </a:r>
            <a:endParaRPr lang="zh-CN" altLang="en-US" sz="1400" dirty="0">
              <a:latin typeface="微软雅黑" pitchFamily="34" charset="-122"/>
              <a:ea typeface="微软雅黑" pitchFamily="34" charset="-122"/>
            </a:endParaRPr>
          </a:p>
          <a:p>
            <a:endParaRPr lang="zh-CN" altLang="en-US" dirty="0"/>
          </a:p>
        </p:txBody>
      </p:sp>
    </p:spTree>
    <p:extLst>
      <p:ext uri="{BB962C8B-B14F-4D97-AF65-F5344CB8AC3E}">
        <p14:creationId xmlns:p14="http://schemas.microsoft.com/office/powerpoint/2010/main" val="21004423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600200"/>
          </a:xfrm>
        </p:spPr>
        <p:txBody>
          <a:bodyPr/>
          <a:lstStyle/>
          <a:p>
            <a:r>
              <a:rPr lang="en-US" altLang="zh-CN" b="1" i="1" dirty="0">
                <a:solidFill>
                  <a:schemeClr val="tx1"/>
                </a:solidFill>
                <a:latin typeface="微软雅黑" pitchFamily="34" charset="-122"/>
                <a:ea typeface="微软雅黑" pitchFamily="34" charset="-122"/>
              </a:rPr>
              <a:t>2.2 </a:t>
            </a:r>
            <a:r>
              <a:rPr lang="zh-CN" altLang="en-US" b="1" i="1" dirty="0">
                <a:solidFill>
                  <a:schemeClr val="tx1"/>
                </a:solidFill>
                <a:latin typeface="微软雅黑" pitchFamily="34" charset="-122"/>
                <a:ea typeface="微软雅黑" pitchFamily="34" charset="-122"/>
              </a:rPr>
              <a:t>存储引擎</a:t>
            </a:r>
            <a:r>
              <a:rPr lang="en-US" altLang="zh-CN" b="1" i="1" dirty="0">
                <a:solidFill>
                  <a:schemeClr val="tx1"/>
                </a:solidFill>
                <a:latin typeface="微软雅黑" pitchFamily="34" charset="-122"/>
                <a:ea typeface="微软雅黑" pitchFamily="34" charset="-122"/>
              </a:rPr>
              <a:t>-</a:t>
            </a:r>
            <a:r>
              <a:rPr lang="en-US" altLang="zh-CN" b="1" i="1" dirty="0" err="1" smtClean="0">
                <a:solidFill>
                  <a:schemeClr val="tx1"/>
                </a:solidFill>
                <a:latin typeface="微软雅黑" pitchFamily="34" charset="-122"/>
                <a:ea typeface="微软雅黑" pitchFamily="34" charset="-122"/>
              </a:rPr>
              <a:t>WiredTiger</a:t>
            </a:r>
            <a:r>
              <a:rPr lang="en-US" altLang="zh-CN" b="1" i="1" dirty="0" smtClean="0">
                <a:solidFill>
                  <a:schemeClr val="tx1"/>
                </a:solidFill>
                <a:latin typeface="微软雅黑" pitchFamily="34" charset="-122"/>
                <a:ea typeface="微软雅黑" pitchFamily="34" charset="-122"/>
              </a:rPr>
              <a:t>(2)</a:t>
            </a:r>
            <a:endParaRPr lang="zh-CN" altLang="en-US" dirty="0"/>
          </a:p>
        </p:txBody>
      </p:sp>
      <p:sp>
        <p:nvSpPr>
          <p:cNvPr id="3" name="内容占位符 2"/>
          <p:cNvSpPr>
            <a:spLocks noGrp="1"/>
          </p:cNvSpPr>
          <p:nvPr>
            <p:ph idx="1"/>
          </p:nvPr>
        </p:nvSpPr>
        <p:spPr>
          <a:xfrm>
            <a:off x="457200" y="1600200"/>
            <a:ext cx="8229600" cy="4997152"/>
          </a:xfrm>
        </p:spPr>
        <p:txBody>
          <a:bodyPr>
            <a:normAutofit fontScale="92500"/>
          </a:bodyPr>
          <a:lstStyle/>
          <a:p>
            <a:pPr marL="342900" lvl="1" indent="-342900" fontAlgn="base">
              <a:buFont typeface="Arial" pitchFamily="34" charset="0"/>
              <a:buChar char="•"/>
            </a:pPr>
            <a:r>
              <a:rPr lang="zh-CN" altLang="en-US" sz="2400" dirty="0">
                <a:latin typeface="微软雅黑" pitchFamily="34" charset="-122"/>
                <a:ea typeface="微软雅黑" pitchFamily="34" charset="-122"/>
              </a:rPr>
              <a:t>内存</a:t>
            </a:r>
            <a:endParaRPr lang="en-US" altLang="zh-CN" sz="2400" dirty="0">
              <a:latin typeface="微软雅黑" pitchFamily="34" charset="-122"/>
              <a:ea typeface="微软雅黑" pitchFamily="34" charset="-122"/>
            </a:endParaRPr>
          </a:p>
          <a:p>
            <a:pPr marL="742950" lvl="2" indent="-342900" fontAlgn="base"/>
            <a:r>
              <a:rPr lang="zh-CN" altLang="en-US" sz="2400" dirty="0">
                <a:latin typeface="微软雅黑" pitchFamily="34" charset="-122"/>
                <a:ea typeface="微软雅黑" pitchFamily="34" charset="-122"/>
              </a:rPr>
              <a:t>可</a:t>
            </a:r>
            <a:r>
              <a:rPr lang="zh-CN" altLang="en-US" sz="2400" dirty="0" smtClean="0">
                <a:latin typeface="微软雅黑" pitchFamily="34" charset="-122"/>
                <a:ea typeface="微软雅黑" pitchFamily="34" charset="-122"/>
              </a:rPr>
              <a:t>配置缓存大小</a:t>
            </a:r>
            <a:r>
              <a:rPr lang="en-US" altLang="zh-CN" sz="2400" dirty="0" smtClean="0">
                <a:latin typeface="微软雅黑" pitchFamily="34" charset="-122"/>
                <a:ea typeface="微软雅黑" pitchFamily="34" charset="-122"/>
              </a:rPr>
              <a:t>(</a:t>
            </a:r>
            <a:r>
              <a:rPr lang="zh-CN" altLang="en-US" sz="2400" dirty="0">
                <a:latin typeface="微软雅黑" pitchFamily="34" charset="-122"/>
                <a:ea typeface="微软雅黑" pitchFamily="34" charset="-122"/>
              </a:rPr>
              <a:t>默认为</a:t>
            </a:r>
            <a:r>
              <a:rPr lang="en-US" altLang="zh-CN" sz="2400" dirty="0">
                <a:latin typeface="微软雅黑" pitchFamily="34" charset="-122"/>
                <a:ea typeface="微软雅黑" pitchFamily="34" charset="-122"/>
              </a:rPr>
              <a:t>1GB</a:t>
            </a:r>
            <a:r>
              <a:rPr lang="zh-CN" altLang="en-US" sz="2400" dirty="0">
                <a:latin typeface="微软雅黑" pitchFamily="34" charset="-122"/>
                <a:ea typeface="微软雅黑" pitchFamily="34" charset="-122"/>
              </a:rPr>
              <a:t>或物理内存的一半</a:t>
            </a:r>
            <a:r>
              <a:rPr lang="en-US" altLang="zh-CN" sz="2400" dirty="0">
                <a:latin typeface="微软雅黑" pitchFamily="34" charset="-122"/>
                <a:ea typeface="微软雅黑" pitchFamily="34" charset="-122"/>
              </a:rPr>
              <a:t>)</a:t>
            </a:r>
          </a:p>
          <a:p>
            <a:pPr marL="1200150" lvl="3" indent="-342900" fontAlgn="base"/>
            <a:r>
              <a:rPr lang="en-US" altLang="zh-CN" sz="2400" dirty="0" err="1">
                <a:latin typeface="微软雅黑" pitchFamily="34" charset="-122"/>
                <a:ea typeface="微软雅黑" pitchFamily="34" charset="-122"/>
              </a:rPr>
              <a:t>wiredTigerCacheSizeGB</a:t>
            </a:r>
            <a:r>
              <a:rPr lang="en-US" altLang="zh-CN" sz="2400" dirty="0">
                <a:latin typeface="微软雅黑" pitchFamily="34" charset="-122"/>
                <a:ea typeface="微软雅黑" pitchFamily="34" charset="-122"/>
              </a:rPr>
              <a:t> = </a:t>
            </a:r>
            <a:r>
              <a:rPr lang="en-US" altLang="zh-CN" sz="2400" dirty="0" smtClean="0">
                <a:latin typeface="微软雅黑" pitchFamily="34" charset="-122"/>
                <a:ea typeface="微软雅黑" pitchFamily="34" charset="-122"/>
              </a:rPr>
              <a:t>10</a:t>
            </a:r>
          </a:p>
          <a:p>
            <a:pPr marL="1200150" lvl="3" indent="-342900" fontAlgn="base"/>
            <a:endParaRPr lang="en-US" altLang="zh-CN" sz="2400" dirty="0">
              <a:latin typeface="微软雅黑" pitchFamily="34" charset="-122"/>
              <a:ea typeface="微软雅黑" pitchFamily="34" charset="-122"/>
            </a:endParaRPr>
          </a:p>
          <a:p>
            <a:pPr marL="1200150" lvl="3" indent="-342900" fontAlgn="base"/>
            <a:endParaRPr lang="en-US" altLang="zh-CN" sz="2400" dirty="0">
              <a:latin typeface="微软雅黑" pitchFamily="34" charset="-122"/>
              <a:ea typeface="微软雅黑" pitchFamily="34" charset="-122"/>
            </a:endParaRPr>
          </a:p>
          <a:p>
            <a:pPr marL="342900" lvl="1" indent="-342900" fontAlgn="base">
              <a:buFont typeface="Arial" pitchFamily="34" charset="0"/>
              <a:buChar char="•"/>
            </a:pPr>
            <a:endParaRPr lang="en-US" altLang="zh-CN" sz="2400" dirty="0" smtClean="0">
              <a:latin typeface="微软雅黑" pitchFamily="34" charset="-122"/>
              <a:ea typeface="微软雅黑" pitchFamily="34" charset="-122"/>
            </a:endParaRPr>
          </a:p>
          <a:p>
            <a:pPr marL="342900" lvl="1" indent="-342900" fontAlgn="base">
              <a:buFont typeface="Arial" pitchFamily="34" charset="0"/>
              <a:buChar char="•"/>
            </a:pPr>
            <a:endParaRPr lang="en-US" altLang="zh-CN" sz="2400" dirty="0">
              <a:latin typeface="微软雅黑" pitchFamily="34" charset="-122"/>
              <a:ea typeface="微软雅黑" pitchFamily="34" charset="-122"/>
            </a:endParaRPr>
          </a:p>
          <a:p>
            <a:pPr marL="342900" lvl="1" indent="-342900" fontAlgn="base">
              <a:buFont typeface="Arial" pitchFamily="34" charset="0"/>
              <a:buChar char="•"/>
            </a:pPr>
            <a:r>
              <a:rPr lang="zh-CN" altLang="en-US" sz="2400" dirty="0" smtClean="0">
                <a:latin typeface="微软雅黑" pitchFamily="34" charset="-122"/>
                <a:ea typeface="微软雅黑" pitchFamily="34" charset="-122"/>
              </a:rPr>
              <a:t>压缩</a:t>
            </a:r>
            <a:endParaRPr lang="en-US" altLang="zh-CN" sz="2400" dirty="0">
              <a:latin typeface="微软雅黑" pitchFamily="34" charset="-122"/>
              <a:ea typeface="微软雅黑" pitchFamily="34" charset="-122"/>
            </a:endParaRPr>
          </a:p>
          <a:p>
            <a:pPr marL="742950" lvl="2" indent="-342900" fontAlgn="base"/>
            <a:r>
              <a:rPr lang="en-US" altLang="zh-CN" sz="2400" dirty="0" err="1" smtClean="0">
                <a:latin typeface="微软雅黑" pitchFamily="34" charset="-122"/>
                <a:ea typeface="微软雅黑" pitchFamily="34" charset="-122"/>
              </a:rPr>
              <a:t>wiredTigerCollectionBlockCompressor</a:t>
            </a:r>
            <a:r>
              <a:rPr lang="en-US" altLang="zh-CN" sz="2400" dirty="0" smtClean="0">
                <a:latin typeface="微软雅黑" pitchFamily="34" charset="-122"/>
                <a:ea typeface="微软雅黑" pitchFamily="34" charset="-122"/>
              </a:rPr>
              <a:t>=snappy/</a:t>
            </a:r>
            <a:r>
              <a:rPr lang="en-US" altLang="zh-CN" sz="2400" dirty="0" err="1" smtClean="0">
                <a:latin typeface="微软雅黑" pitchFamily="34" charset="-122"/>
                <a:ea typeface="微软雅黑" pitchFamily="34" charset="-122"/>
              </a:rPr>
              <a:t>zlib</a:t>
            </a:r>
            <a:endParaRPr lang="en-US" altLang="zh-CN" sz="2400" dirty="0">
              <a:latin typeface="微软雅黑" pitchFamily="34" charset="-122"/>
              <a:ea typeface="微软雅黑" pitchFamily="34" charset="-122"/>
            </a:endParaRPr>
          </a:p>
          <a:p>
            <a:pPr marL="742950" lvl="2" indent="-342900" fontAlgn="base"/>
            <a:r>
              <a:rPr lang="en-US" altLang="zh-CN" sz="2400" dirty="0" err="1" smtClean="0">
                <a:latin typeface="微软雅黑" pitchFamily="34" charset="-122"/>
                <a:ea typeface="微软雅黑" pitchFamily="34" charset="-122"/>
              </a:rPr>
              <a:t>wiredTigerIndexPrefixCompression</a:t>
            </a:r>
            <a:r>
              <a:rPr lang="en-US" altLang="zh-CN" sz="2400" dirty="0" smtClean="0">
                <a:latin typeface="微软雅黑" pitchFamily="34" charset="-122"/>
                <a:ea typeface="微软雅黑" pitchFamily="34" charset="-122"/>
              </a:rPr>
              <a:t>=true</a:t>
            </a:r>
          </a:p>
          <a:p>
            <a:pPr marL="742950" lvl="2" indent="-342900" fontAlgn="base"/>
            <a:r>
              <a:rPr lang="en-US" altLang="zh-CN" sz="2400" dirty="0" err="1" smtClean="0">
                <a:latin typeface="微软雅黑" pitchFamily="34" charset="-122"/>
                <a:ea typeface="微软雅黑" pitchFamily="34" charset="-122"/>
              </a:rPr>
              <a:t>wiredTigerJournalCompressor</a:t>
            </a:r>
            <a:r>
              <a:rPr lang="en-US" altLang="zh-CN" sz="2400" dirty="0" smtClean="0">
                <a:latin typeface="微软雅黑" pitchFamily="34" charset="-122"/>
                <a:ea typeface="微软雅黑" pitchFamily="34" charset="-122"/>
              </a:rPr>
              <a:t>=snappy/</a:t>
            </a:r>
            <a:r>
              <a:rPr lang="en-US" altLang="zh-CN" sz="2400" dirty="0" err="1" smtClean="0">
                <a:latin typeface="微软雅黑" pitchFamily="34" charset="-122"/>
                <a:ea typeface="微软雅黑" pitchFamily="34" charset="-122"/>
              </a:rPr>
              <a:t>zlib</a:t>
            </a:r>
            <a:r>
              <a:rPr lang="en-US" altLang="zh-CN" sz="2400" dirty="0">
                <a:latin typeface="微软雅黑" pitchFamily="34" charset="-122"/>
                <a:ea typeface="微软雅黑" pitchFamily="34" charset="-122"/>
              </a:rPr>
              <a:t> </a:t>
            </a:r>
          </a:p>
          <a:p>
            <a:pPr marL="742950" lvl="2" indent="-342900" fontAlgn="base"/>
            <a:r>
              <a:rPr lang="zh-CN" altLang="en-US" sz="2400" dirty="0">
                <a:latin typeface="微软雅黑" pitchFamily="34" charset="-122"/>
                <a:ea typeface="微软雅黑" pitchFamily="34" charset="-122"/>
              </a:rPr>
              <a:t>高效的压缩算法，相比先前版本数据占用更少空间</a:t>
            </a:r>
            <a:endParaRPr lang="en-US" altLang="zh-CN" sz="2400" dirty="0">
              <a:latin typeface="微软雅黑" pitchFamily="34" charset="-122"/>
              <a:ea typeface="微软雅黑" pitchFamily="34" charset="-122"/>
            </a:endParaRPr>
          </a:p>
          <a:p>
            <a:endParaRPr lang="zh-CN" altLang="en-US" dirty="0"/>
          </a:p>
        </p:txBody>
      </p:sp>
      <p:grpSp>
        <p:nvGrpSpPr>
          <p:cNvPr id="7" name="组合 6"/>
          <p:cNvGrpSpPr/>
          <p:nvPr/>
        </p:nvGrpSpPr>
        <p:grpSpPr>
          <a:xfrm>
            <a:off x="2843808" y="2852936"/>
            <a:ext cx="4238469" cy="1955283"/>
            <a:chOff x="557031" y="1772816"/>
            <a:chExt cx="4376886" cy="2080562"/>
          </a:xfrm>
        </p:grpSpPr>
        <p:pic>
          <p:nvPicPr>
            <p:cNvPr id="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179" r="6179"/>
            <a:stretch/>
          </p:blipFill>
          <p:spPr bwMode="auto">
            <a:xfrm>
              <a:off x="557031" y="1772816"/>
              <a:ext cx="4376886" cy="208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圆角矩形 8"/>
            <p:cNvSpPr/>
            <p:nvPr/>
          </p:nvSpPr>
          <p:spPr>
            <a:xfrm>
              <a:off x="863205" y="1790083"/>
              <a:ext cx="1512168" cy="216024"/>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3042286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128" y="-23097"/>
            <a:ext cx="9154128" cy="1600200"/>
          </a:xfrm>
        </p:spPr>
        <p:txBody>
          <a:bodyPr/>
          <a:lstStyle/>
          <a:p>
            <a:r>
              <a:rPr lang="en-US" altLang="zh-CN" b="1" i="1" dirty="0">
                <a:solidFill>
                  <a:schemeClr val="tx1"/>
                </a:solidFill>
                <a:latin typeface="微软雅黑" pitchFamily="34" charset="-122"/>
                <a:ea typeface="微软雅黑" pitchFamily="34" charset="-122"/>
              </a:rPr>
              <a:t>2.2 </a:t>
            </a:r>
            <a:r>
              <a:rPr lang="zh-CN" altLang="en-US" b="1" i="1" dirty="0">
                <a:solidFill>
                  <a:schemeClr val="tx1"/>
                </a:solidFill>
                <a:latin typeface="微软雅黑" pitchFamily="34" charset="-122"/>
                <a:ea typeface="微软雅黑" pitchFamily="34" charset="-122"/>
              </a:rPr>
              <a:t>存储引擎</a:t>
            </a:r>
            <a:r>
              <a:rPr lang="en-US" altLang="zh-CN" b="1" i="1" dirty="0">
                <a:solidFill>
                  <a:schemeClr val="tx1"/>
                </a:solidFill>
                <a:latin typeface="微软雅黑" pitchFamily="34" charset="-122"/>
                <a:ea typeface="微软雅黑" pitchFamily="34" charset="-122"/>
              </a:rPr>
              <a:t>-</a:t>
            </a:r>
            <a:r>
              <a:rPr lang="en-US" altLang="zh-CN" b="1" i="1" dirty="0" err="1">
                <a:solidFill>
                  <a:schemeClr val="tx1"/>
                </a:solidFill>
                <a:latin typeface="微软雅黑" pitchFamily="34" charset="-122"/>
                <a:ea typeface="微软雅黑" pitchFamily="34" charset="-122"/>
              </a:rPr>
              <a:t>WiredTiger</a:t>
            </a:r>
            <a:r>
              <a:rPr lang="en-US" altLang="zh-CN" b="1" i="1" dirty="0">
                <a:solidFill>
                  <a:schemeClr val="tx1"/>
                </a:solidFill>
                <a:latin typeface="微软雅黑" pitchFamily="34" charset="-122"/>
                <a:ea typeface="微软雅黑" pitchFamily="34" charset="-122"/>
              </a:rPr>
              <a:t>(3)</a:t>
            </a:r>
            <a:endParaRPr lang="zh-CN" altLang="en-US" dirty="0"/>
          </a:p>
        </p:txBody>
      </p:sp>
      <p:sp>
        <p:nvSpPr>
          <p:cNvPr id="3" name="内容占位符 2"/>
          <p:cNvSpPr>
            <a:spLocks noGrp="1"/>
          </p:cNvSpPr>
          <p:nvPr>
            <p:ph idx="1"/>
          </p:nvPr>
        </p:nvSpPr>
        <p:spPr/>
        <p:txBody>
          <a:bodyPr>
            <a:normAutofit/>
          </a:bodyPr>
          <a:lstStyle/>
          <a:p>
            <a:r>
              <a:rPr lang="en-US" altLang="zh-CN" dirty="0">
                <a:latin typeface="微软雅黑" pitchFamily="34" charset="-122"/>
                <a:ea typeface="微软雅黑" pitchFamily="34" charset="-122"/>
              </a:rPr>
              <a:t>Snapshots </a:t>
            </a:r>
            <a:r>
              <a:rPr lang="zh-CN" altLang="en-US" dirty="0" smtClean="0">
                <a:latin typeface="微软雅黑" pitchFamily="34" charset="-122"/>
                <a:ea typeface="微软雅黑" pitchFamily="34" charset="-122"/>
              </a:rPr>
              <a:t>和 </a:t>
            </a:r>
            <a:r>
              <a:rPr lang="en-US" altLang="zh-CN" dirty="0" smtClean="0">
                <a:latin typeface="微软雅黑" pitchFamily="34" charset="-122"/>
                <a:ea typeface="微软雅黑" pitchFamily="34" charset="-122"/>
              </a:rPr>
              <a:t>Checkpoints</a:t>
            </a:r>
          </a:p>
          <a:p>
            <a:pPr lvl="1"/>
            <a:r>
              <a:rPr lang="en-US" altLang="zh-CN" dirty="0" smtClean="0">
                <a:latin typeface="微软雅黑" pitchFamily="34" charset="-122"/>
                <a:ea typeface="微软雅黑" pitchFamily="34" charset="-122"/>
              </a:rPr>
              <a:t>Snapshot</a:t>
            </a:r>
            <a:r>
              <a:rPr lang="zh-CN" altLang="en-US" dirty="0">
                <a:latin typeface="微软雅黑" pitchFamily="34" charset="-122"/>
                <a:ea typeface="微软雅黑" pitchFamily="34" charset="-122"/>
              </a:rPr>
              <a:t>代表缓存中数据的一个一致性状态下</a:t>
            </a:r>
            <a:r>
              <a:rPr lang="zh-CN" altLang="en-US" dirty="0" smtClean="0">
                <a:latin typeface="微软雅黑" pitchFamily="34" charset="-122"/>
                <a:ea typeface="微软雅黑" pitchFamily="34" charset="-122"/>
              </a:rPr>
              <a:t>的视图快照</a:t>
            </a:r>
            <a:r>
              <a:rPr lang="zh-CN" altLang="en-US" dirty="0">
                <a:latin typeface="微软雅黑" pitchFamily="34" charset="-122"/>
                <a:ea typeface="微软雅黑" pitchFamily="34" charset="-122"/>
              </a:rPr>
              <a:t>。</a:t>
            </a:r>
            <a:endParaRPr lang="en-US" altLang="zh-CN" dirty="0">
              <a:latin typeface="微软雅黑" pitchFamily="34" charset="-122"/>
              <a:ea typeface="微软雅黑" pitchFamily="34" charset="-122"/>
            </a:endParaRPr>
          </a:p>
          <a:p>
            <a:pPr lvl="1"/>
            <a:r>
              <a:rPr lang="en-US" altLang="zh-CN" dirty="0" err="1">
                <a:latin typeface="微软雅黑" pitchFamily="34" charset="-122"/>
                <a:ea typeface="微软雅黑" pitchFamily="34" charset="-122"/>
              </a:rPr>
              <a:t>WiredTiger</a:t>
            </a:r>
            <a:r>
              <a:rPr lang="zh-CN" altLang="en-US" dirty="0">
                <a:latin typeface="微软雅黑" pitchFamily="34" charset="-122"/>
                <a:ea typeface="微软雅黑" pitchFamily="34" charset="-122"/>
              </a:rPr>
              <a:t>会以一种一致性的方式将</a:t>
            </a:r>
            <a:r>
              <a:rPr lang="en-US" altLang="zh-CN" dirty="0">
                <a:latin typeface="微软雅黑" pitchFamily="34" charset="-122"/>
                <a:ea typeface="微软雅黑" pitchFamily="34" charset="-122"/>
              </a:rPr>
              <a:t>snapshot</a:t>
            </a:r>
            <a:r>
              <a:rPr lang="zh-CN" altLang="en-US" dirty="0">
                <a:latin typeface="微软雅黑" pitchFamily="34" charset="-122"/>
                <a:ea typeface="微软雅黑" pitchFamily="34" charset="-122"/>
              </a:rPr>
              <a:t>写到磁盘的所有数据文件上，这些持久化的数据被称为一个</a:t>
            </a:r>
            <a:r>
              <a:rPr lang="en-US" altLang="zh-CN" dirty="0">
                <a:latin typeface="微软雅黑" pitchFamily="34" charset="-122"/>
                <a:ea typeface="微软雅黑" pitchFamily="34" charset="-122"/>
              </a:rPr>
              <a:t>checkpoint</a:t>
            </a:r>
            <a:r>
              <a:rPr lang="zh-CN" altLang="en-US" dirty="0">
                <a:latin typeface="微软雅黑" pitchFamily="34" charset="-122"/>
                <a:ea typeface="微软雅黑" pitchFamily="34" charset="-122"/>
              </a:rPr>
              <a:t>。</a:t>
            </a:r>
            <a:endParaRPr lang="en-US" altLang="zh-CN" dirty="0">
              <a:latin typeface="微软雅黑" pitchFamily="34" charset="-122"/>
              <a:ea typeface="微软雅黑" pitchFamily="34" charset="-122"/>
            </a:endParaRPr>
          </a:p>
          <a:p>
            <a:pPr lvl="1"/>
            <a:r>
              <a:rPr lang="zh-CN" altLang="en-US" dirty="0">
                <a:latin typeface="微软雅黑" pitchFamily="34" charset="-122"/>
                <a:ea typeface="微软雅黑" pitchFamily="34" charset="-122"/>
              </a:rPr>
              <a:t>当一个</a:t>
            </a:r>
            <a:r>
              <a:rPr lang="en-US" altLang="zh-CN" dirty="0">
                <a:latin typeface="微软雅黑" pitchFamily="34" charset="-122"/>
                <a:ea typeface="微软雅黑" pitchFamily="34" charset="-122"/>
              </a:rPr>
              <a:t>checkpoint</a:t>
            </a:r>
            <a:r>
              <a:rPr lang="zh-CN" altLang="en-US" dirty="0">
                <a:latin typeface="微软雅黑" pitchFamily="34" charset="-122"/>
                <a:ea typeface="微软雅黑" pitchFamily="34" charset="-122"/>
              </a:rPr>
              <a:t>在写入过程中，上个</a:t>
            </a:r>
            <a:r>
              <a:rPr lang="en-US" altLang="zh-CN" dirty="0">
                <a:latin typeface="微软雅黑" pitchFamily="34" charset="-122"/>
                <a:ea typeface="微软雅黑" pitchFamily="34" charset="-122"/>
              </a:rPr>
              <a:t>checkpoint</a:t>
            </a:r>
            <a:r>
              <a:rPr lang="zh-CN" altLang="en-US" dirty="0">
                <a:latin typeface="微软雅黑" pitchFamily="34" charset="-122"/>
                <a:ea typeface="微软雅黑" pitchFamily="34" charset="-122"/>
              </a:rPr>
              <a:t>会保留，如果在这个过程中，系统崩溃，则可以恢复到上一个</a:t>
            </a:r>
            <a:r>
              <a:rPr lang="en-US" altLang="zh-CN" dirty="0">
                <a:latin typeface="微软雅黑" pitchFamily="34" charset="-122"/>
                <a:ea typeface="微软雅黑" pitchFamily="34" charset="-122"/>
              </a:rPr>
              <a:t>checkpoint</a:t>
            </a:r>
            <a:r>
              <a:rPr lang="zh-CN" altLang="en-US" dirty="0">
                <a:latin typeface="微软雅黑" pitchFamily="34" charset="-122"/>
                <a:ea typeface="微软雅黑" pitchFamily="34" charset="-122"/>
              </a:rPr>
              <a:t>的状态。</a:t>
            </a:r>
            <a:r>
              <a:rPr lang="en-US" altLang="zh-CN" dirty="0">
                <a:latin typeface="微软雅黑" pitchFamily="34" charset="-122"/>
                <a:ea typeface="微软雅黑" pitchFamily="34" charset="-122"/>
              </a:rPr>
              <a:t>Checkpoint</a:t>
            </a:r>
            <a:r>
              <a:rPr lang="zh-CN" altLang="en-US" dirty="0">
                <a:latin typeface="微软雅黑" pitchFamily="34" charset="-122"/>
                <a:ea typeface="微软雅黑" pitchFamily="34" charset="-122"/>
              </a:rPr>
              <a:t>在此扮演的角色类似一个恢复点（</a:t>
            </a:r>
            <a:r>
              <a:rPr lang="en-US" altLang="zh-CN" dirty="0">
                <a:latin typeface="微软雅黑" pitchFamily="34" charset="-122"/>
                <a:ea typeface="微软雅黑" pitchFamily="34" charset="-122"/>
              </a:rPr>
              <a:t>recover point</a:t>
            </a:r>
            <a:r>
              <a:rPr lang="en-US" altLang="zh-CN" dirty="0" smtClean="0">
                <a:latin typeface="微软雅黑" pitchFamily="34" charset="-122"/>
                <a:ea typeface="微软雅黑" pitchFamily="34" charset="-122"/>
              </a:rPr>
              <a:t>).</a:t>
            </a:r>
            <a:endParaRPr lang="en-US" altLang="zh-CN" dirty="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一旦一个新的</a:t>
            </a:r>
            <a:r>
              <a:rPr lang="en-US" altLang="zh-CN" dirty="0" smtClean="0">
                <a:latin typeface="微软雅黑" pitchFamily="34" charset="-122"/>
                <a:ea typeface="微软雅黑" pitchFamily="34" charset="-122"/>
              </a:rPr>
              <a:t>checkpoint</a:t>
            </a:r>
            <a:r>
              <a:rPr lang="zh-CN" altLang="en-US" dirty="0" smtClean="0">
                <a:latin typeface="微软雅黑" pitchFamily="34" charset="-122"/>
                <a:ea typeface="微软雅黑" pitchFamily="34" charset="-122"/>
              </a:rPr>
              <a:t>写入完成并可访问，则会释放上次的</a:t>
            </a:r>
            <a:r>
              <a:rPr lang="en-US" altLang="zh-CN" dirty="0" smtClean="0">
                <a:latin typeface="微软雅黑" pitchFamily="34" charset="-122"/>
                <a:ea typeface="微软雅黑" pitchFamily="34" charset="-122"/>
              </a:rPr>
              <a:t>checkpoint</a:t>
            </a:r>
            <a:r>
              <a:rPr lang="zh-CN" altLang="en-US" dirty="0" smtClean="0">
                <a:latin typeface="微软雅黑" pitchFamily="34" charset="-122"/>
                <a:ea typeface="微软雅黑" pitchFamily="34" charset="-122"/>
              </a:rPr>
              <a:t>。</a:t>
            </a:r>
            <a:endParaRPr lang="en-US" altLang="zh-CN" dirty="0">
              <a:latin typeface="微软雅黑" pitchFamily="34" charset="-122"/>
              <a:ea typeface="微软雅黑" pitchFamily="34" charset="-122"/>
            </a:endParaRPr>
          </a:p>
          <a:p>
            <a:pPr lvl="1"/>
            <a:r>
              <a:rPr lang="en-US" altLang="zh-CN" dirty="0" err="1">
                <a:latin typeface="微软雅黑" pitchFamily="34" charset="-122"/>
                <a:ea typeface="微软雅黑" pitchFamily="34" charset="-122"/>
              </a:rPr>
              <a:t>Mongodb</a:t>
            </a:r>
            <a:r>
              <a:rPr lang="zh-CN" altLang="en-US" dirty="0">
                <a:latin typeface="微软雅黑" pitchFamily="34" charset="-122"/>
                <a:ea typeface="微软雅黑" pitchFamily="34" charset="-122"/>
              </a:rPr>
              <a:t>每</a:t>
            </a:r>
            <a:r>
              <a:rPr lang="en-US" altLang="zh-CN" dirty="0">
                <a:latin typeface="微软雅黑" pitchFamily="34" charset="-122"/>
                <a:ea typeface="微软雅黑" pitchFamily="34" charset="-122"/>
              </a:rPr>
              <a:t>60</a:t>
            </a:r>
            <a:r>
              <a:rPr lang="zh-CN" altLang="en-US" dirty="0">
                <a:latin typeface="微软雅黑" pitchFamily="34" charset="-122"/>
                <a:ea typeface="微软雅黑" pitchFamily="34" charset="-122"/>
              </a:rPr>
              <a:t>秒或者每</a:t>
            </a:r>
            <a:r>
              <a:rPr lang="en-US" altLang="zh-CN" dirty="0">
                <a:latin typeface="微软雅黑" pitchFamily="34" charset="-122"/>
                <a:ea typeface="微软雅黑" pitchFamily="34" charset="-122"/>
              </a:rPr>
              <a:t>2GB journal</a:t>
            </a:r>
            <a:r>
              <a:rPr lang="zh-CN" altLang="en-US" dirty="0">
                <a:latin typeface="微软雅黑" pitchFamily="34" charset="-122"/>
                <a:ea typeface="微软雅黑" pitchFamily="34" charset="-122"/>
              </a:rPr>
              <a:t>的时候创建一个</a:t>
            </a:r>
            <a:r>
              <a:rPr lang="en-US" altLang="zh-CN" dirty="0">
                <a:latin typeface="微软雅黑" pitchFamily="34" charset="-122"/>
                <a:ea typeface="微软雅黑" pitchFamily="34" charset="-122"/>
              </a:rPr>
              <a:t>checkpoint</a:t>
            </a:r>
            <a:r>
              <a:rPr lang="zh-CN" altLang="en-US" dirty="0">
                <a:latin typeface="微软雅黑" pitchFamily="34" charset="-122"/>
                <a:ea typeface="微软雅黑" pitchFamily="34" charset="-122"/>
              </a:rPr>
              <a:t>（即将</a:t>
            </a:r>
            <a:r>
              <a:rPr lang="en-US" altLang="zh-CN" dirty="0">
                <a:latin typeface="微软雅黑" pitchFamily="34" charset="-122"/>
                <a:ea typeface="微软雅黑" pitchFamily="34" charset="-122"/>
              </a:rPr>
              <a:t>snapshot</a:t>
            </a:r>
            <a:r>
              <a:rPr lang="zh-CN" altLang="en-US" dirty="0">
                <a:latin typeface="微软雅黑" pitchFamily="34" charset="-122"/>
                <a:ea typeface="微软雅黑" pitchFamily="34" charset="-122"/>
              </a:rPr>
              <a:t>写到磁盘</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Journal</a:t>
            </a:r>
          </a:p>
          <a:p>
            <a:pPr lvl="1"/>
            <a:r>
              <a:rPr lang="en-US" altLang="zh-CN" dirty="0" smtClean="0">
                <a:latin typeface="微软雅黑" pitchFamily="34" charset="-122"/>
                <a:ea typeface="微软雅黑" pitchFamily="34" charset="-122"/>
              </a:rPr>
              <a:t>100MB</a:t>
            </a:r>
          </a:p>
          <a:p>
            <a:pPr lvl="1"/>
            <a:r>
              <a:rPr lang="zh-CN" altLang="en-US" dirty="0" smtClean="0">
                <a:latin typeface="微软雅黑" pitchFamily="34" charset="-122"/>
                <a:ea typeface="微软雅黑" pitchFamily="34" charset="-122"/>
              </a:rPr>
              <a:t>避免故障重启后丢失上次</a:t>
            </a:r>
            <a:r>
              <a:rPr lang="en-US" altLang="zh-CN" dirty="0" smtClean="0">
                <a:latin typeface="微软雅黑" pitchFamily="34" charset="-122"/>
                <a:ea typeface="微软雅黑" pitchFamily="34" charset="-122"/>
              </a:rPr>
              <a:t>checkpoint</a:t>
            </a:r>
            <a:r>
              <a:rPr lang="zh-CN" altLang="en-US" dirty="0" smtClean="0">
                <a:latin typeface="微软雅黑" pitchFamily="34" charset="-122"/>
                <a:ea typeface="微软雅黑" pitchFamily="34" charset="-122"/>
              </a:rPr>
              <a:t>之后的数据</a:t>
            </a:r>
            <a:endParaRPr lang="en-US" altLang="zh-CN" dirty="0" smtClean="0">
              <a:latin typeface="微软雅黑" pitchFamily="34" charset="-122"/>
              <a:ea typeface="微软雅黑" pitchFamily="34" charset="-122"/>
            </a:endParaRPr>
          </a:p>
          <a:p>
            <a:pPr marL="457200" lvl="1" indent="0">
              <a:buNone/>
            </a:pPr>
            <a:endParaRPr lang="en-US" altLang="zh-CN" sz="1500" dirty="0" smtClean="0">
              <a:latin typeface="微软雅黑" pitchFamily="34" charset="-122"/>
              <a:ea typeface="微软雅黑" pitchFamily="34" charset="-122"/>
            </a:endParaRPr>
          </a:p>
          <a:p>
            <a:pPr marL="457200" lvl="1" indent="0">
              <a:buNone/>
            </a:pPr>
            <a:endParaRPr lang="en-US" altLang="zh-CN" sz="1500" dirty="0">
              <a:latin typeface="微软雅黑" pitchFamily="34" charset="-122"/>
              <a:ea typeface="微软雅黑" pitchFamily="34" charset="-122"/>
            </a:endParaRPr>
          </a:p>
          <a:p>
            <a:endParaRPr lang="zh-CN" altLang="en-US" dirty="0"/>
          </a:p>
        </p:txBody>
      </p:sp>
    </p:spTree>
    <p:extLst>
      <p:ext uri="{BB962C8B-B14F-4D97-AF65-F5344CB8AC3E}">
        <p14:creationId xmlns:p14="http://schemas.microsoft.com/office/powerpoint/2010/main" val="483256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600200"/>
          </a:xfrm>
        </p:spPr>
        <p:txBody>
          <a:bodyPr/>
          <a:lstStyle/>
          <a:p>
            <a:r>
              <a:rPr lang="en-US" altLang="zh-CN" b="1" i="1" dirty="0">
                <a:solidFill>
                  <a:schemeClr val="tx1"/>
                </a:solidFill>
                <a:latin typeface="微软雅黑" pitchFamily="34" charset="-122"/>
                <a:ea typeface="微软雅黑" pitchFamily="34" charset="-122"/>
              </a:rPr>
              <a:t>2.2 </a:t>
            </a:r>
            <a:r>
              <a:rPr lang="zh-CN" altLang="en-US" b="1" i="1" dirty="0">
                <a:solidFill>
                  <a:schemeClr val="tx1"/>
                </a:solidFill>
                <a:latin typeface="微软雅黑" pitchFamily="34" charset="-122"/>
                <a:ea typeface="微软雅黑" pitchFamily="34" charset="-122"/>
              </a:rPr>
              <a:t>存储引擎</a:t>
            </a:r>
            <a:r>
              <a:rPr lang="en-US" altLang="zh-CN" b="1" i="1" dirty="0">
                <a:solidFill>
                  <a:schemeClr val="tx1"/>
                </a:solidFill>
                <a:latin typeface="微软雅黑" pitchFamily="34" charset="-122"/>
                <a:ea typeface="微软雅黑" pitchFamily="34" charset="-122"/>
              </a:rPr>
              <a:t>-</a:t>
            </a:r>
            <a:r>
              <a:rPr lang="en-US" altLang="zh-CN" b="1" i="1" dirty="0" err="1" smtClean="0">
                <a:solidFill>
                  <a:schemeClr val="tx1"/>
                </a:solidFill>
                <a:latin typeface="微软雅黑" pitchFamily="34" charset="-122"/>
                <a:ea typeface="微软雅黑" pitchFamily="34" charset="-122"/>
              </a:rPr>
              <a:t>WiredTiger</a:t>
            </a:r>
            <a:r>
              <a:rPr lang="en-US" altLang="zh-CN" b="1" i="1" dirty="0" smtClean="0">
                <a:solidFill>
                  <a:schemeClr val="tx1"/>
                </a:solidFill>
                <a:latin typeface="微软雅黑" pitchFamily="34" charset="-122"/>
                <a:ea typeface="微软雅黑" pitchFamily="34" charset="-122"/>
              </a:rPr>
              <a:t>(4)</a:t>
            </a:r>
            <a:endParaRPr lang="zh-CN" altLang="en-US" dirty="0"/>
          </a:p>
        </p:txBody>
      </p:sp>
      <p:sp>
        <p:nvSpPr>
          <p:cNvPr id="3" name="内容占位符 2"/>
          <p:cNvSpPr>
            <a:spLocks noGrp="1"/>
          </p:cNvSpPr>
          <p:nvPr>
            <p:ph idx="1"/>
          </p:nvPr>
        </p:nvSpPr>
        <p:spPr/>
        <p:txBody>
          <a:bodyPr/>
          <a:lstStyle/>
          <a:p>
            <a:r>
              <a:rPr lang="zh-CN" altLang="en-US" dirty="0" smtClean="0"/>
              <a:t>数据文件</a:t>
            </a:r>
            <a:endParaRPr lang="en-US" altLang="zh-CN" dirty="0" smtClean="0"/>
          </a:p>
          <a:p>
            <a:pPr lvl="1"/>
            <a:r>
              <a:rPr lang="en-US" altLang="zh-CN" dirty="0" err="1" smtClean="0">
                <a:latin typeface="微软雅黑" pitchFamily="34" charset="-122"/>
                <a:ea typeface="微软雅黑" pitchFamily="34" charset="-122"/>
              </a:rPr>
              <a:t>db.collection.stats</a:t>
            </a:r>
            <a:r>
              <a:rPr lang="en-US"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wiredTiger.uri</a:t>
            </a:r>
            <a:endParaRPr lang="en-US" altLang="zh-CN" dirty="0">
              <a:latin typeface="微软雅黑" pitchFamily="34" charset="-122"/>
              <a:ea typeface="微软雅黑" pitchFamily="34" charset="-122"/>
            </a:endParaRPr>
          </a:p>
          <a:p>
            <a:pPr lvl="1"/>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pPr lvl="1"/>
            <a:endParaRPr lang="zh-CN" alt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541" y="2988428"/>
            <a:ext cx="8280919" cy="378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540" y="3636500"/>
            <a:ext cx="8280919" cy="233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3035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schemeClr val="tx1"/>
                </a:solidFill>
                <a:latin typeface="微软雅黑" pitchFamily="34" charset="-122"/>
                <a:ea typeface="微软雅黑" pitchFamily="34" charset="-122"/>
              </a:rPr>
              <a:t>2.2 </a:t>
            </a:r>
            <a:r>
              <a:rPr lang="zh-CN" altLang="en-US" b="1" i="1" dirty="0" smtClean="0">
                <a:solidFill>
                  <a:schemeClr val="tx1"/>
                </a:solidFill>
                <a:latin typeface="微软雅黑" pitchFamily="34" charset="-122"/>
                <a:ea typeface="微软雅黑" pitchFamily="34" charset="-122"/>
              </a:rPr>
              <a:t>版本选择</a:t>
            </a:r>
            <a:endParaRPr lang="zh-CN" altLang="en-US" dirty="0"/>
          </a:p>
        </p:txBody>
      </p:sp>
      <p:sp>
        <p:nvSpPr>
          <p:cNvPr id="3" name="内容占位符 2"/>
          <p:cNvSpPr>
            <a:spLocks noGrp="1"/>
          </p:cNvSpPr>
          <p:nvPr>
            <p:ph idx="1"/>
          </p:nvPr>
        </p:nvSpPr>
        <p:spPr>
          <a:xfrm>
            <a:off x="1043608" y="1600200"/>
            <a:ext cx="6984776" cy="4525963"/>
          </a:xfrm>
        </p:spPr>
        <p:txBody>
          <a:bodyPr>
            <a:normAutofit lnSpcReduction="10000"/>
          </a:bodyPr>
          <a:lstStyle/>
          <a:p>
            <a:r>
              <a:rPr lang="en-US" altLang="zh-CN" dirty="0" err="1">
                <a:latin typeface="微软雅黑" pitchFamily="34" charset="-122"/>
                <a:ea typeface="微软雅黑" pitchFamily="34" charset="-122"/>
              </a:rPr>
              <a:t>Mongodb</a:t>
            </a:r>
            <a:r>
              <a:rPr lang="zh-CN" altLang="en-US" dirty="0">
                <a:latin typeface="微软雅黑" pitchFamily="34" charset="-122"/>
                <a:ea typeface="微软雅黑" pitchFamily="34" charset="-122"/>
              </a:rPr>
              <a:t>版本：</a:t>
            </a:r>
            <a:r>
              <a:rPr lang="en-US" altLang="zh-CN" dirty="0" err="1" smtClean="0">
                <a:latin typeface="微软雅黑" pitchFamily="34" charset="-122"/>
                <a:ea typeface="微软雅黑" pitchFamily="34" charset="-122"/>
              </a:rPr>
              <a:t>x.y.z</a:t>
            </a:r>
            <a:endParaRPr lang="en-US" altLang="zh-CN" dirty="0" smtClean="0">
              <a:latin typeface="微软雅黑" pitchFamily="34" charset="-122"/>
              <a:ea typeface="微软雅黑" pitchFamily="34" charset="-122"/>
            </a:endParaRPr>
          </a:p>
          <a:p>
            <a:pPr lvl="1"/>
            <a:r>
              <a:rPr lang="en-US" altLang="zh-CN" i="1" dirty="0">
                <a:latin typeface="微软雅黑" pitchFamily="34" charset="-122"/>
                <a:ea typeface="微软雅黑" pitchFamily="34" charset="-122"/>
              </a:rPr>
              <a:t>X</a:t>
            </a:r>
            <a:r>
              <a:rPr lang="zh-CN" altLang="en-US" dirty="0">
                <a:latin typeface="微软雅黑" pitchFamily="34" charset="-122"/>
                <a:ea typeface="微软雅黑" pitchFamily="34" charset="-122"/>
              </a:rPr>
              <a:t> 是主要版本</a:t>
            </a:r>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功能上要么不变要么就做很大的改动。</a:t>
            </a:r>
          </a:p>
          <a:p>
            <a:pPr lvl="1"/>
            <a:r>
              <a:rPr lang="en-US" altLang="zh-CN" i="1" dirty="0">
                <a:latin typeface="微软雅黑" pitchFamily="34" charset="-122"/>
                <a:ea typeface="微软雅黑" pitchFamily="34" charset="-122"/>
              </a:rPr>
              <a:t>Y</a:t>
            </a:r>
            <a:r>
              <a:rPr lang="zh-CN" altLang="en-US" dirty="0">
                <a:latin typeface="微软雅黑" pitchFamily="34" charset="-122"/>
                <a:ea typeface="微软雅黑" pitchFamily="34" charset="-122"/>
              </a:rPr>
              <a:t> 是发行版本号</a:t>
            </a:r>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这种版本经常更新功能，包括一些新的特性并且常常不向后兼容。偶数是稳定版本，奇数是开发版本。</a:t>
            </a:r>
          </a:p>
          <a:p>
            <a:pPr lvl="1"/>
            <a:r>
              <a:rPr lang="en-US" altLang="zh-CN" i="1" dirty="0">
                <a:latin typeface="微软雅黑" pitchFamily="34" charset="-122"/>
                <a:ea typeface="微软雅黑" pitchFamily="34" charset="-122"/>
              </a:rPr>
              <a:t>Z</a:t>
            </a:r>
            <a:r>
              <a:rPr lang="zh-CN" altLang="en-US" dirty="0">
                <a:latin typeface="微软雅黑" pitchFamily="34" charset="-122"/>
                <a:ea typeface="微软雅黑" pitchFamily="34" charset="-122"/>
              </a:rPr>
              <a:t> 版本号是用来修改</a:t>
            </a:r>
            <a:r>
              <a:rPr lang="en-US" altLang="zh-CN" dirty="0">
                <a:latin typeface="微软雅黑" pitchFamily="34" charset="-122"/>
                <a:ea typeface="微软雅黑" pitchFamily="34" charset="-122"/>
              </a:rPr>
              <a:t>BUG</a:t>
            </a:r>
            <a:r>
              <a:rPr lang="zh-CN" altLang="en-US" dirty="0">
                <a:latin typeface="微软雅黑" pitchFamily="34" charset="-122"/>
                <a:ea typeface="微软雅黑" pitchFamily="34" charset="-122"/>
              </a:rPr>
              <a:t>和安全性</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marL="342900" lvl="1" indent="-342900">
              <a:buFont typeface="Arial" pitchFamily="34" charset="0"/>
              <a:buChar char="•"/>
            </a:pPr>
            <a:r>
              <a:rPr lang="zh-CN" altLang="en-US" sz="2400" dirty="0" smtClean="0">
                <a:latin typeface="微软雅黑" pitchFamily="34" charset="-122"/>
                <a:ea typeface="微软雅黑" pitchFamily="34" charset="-122"/>
              </a:rPr>
              <a:t>历史版本</a:t>
            </a:r>
            <a:r>
              <a:rPr lang="zh-CN" altLang="en-US" sz="2400" dirty="0">
                <a:latin typeface="微软雅黑" pitchFamily="34" charset="-122"/>
                <a:ea typeface="微软雅黑" pitchFamily="34" charset="-122"/>
              </a:rPr>
              <a:t>：</a:t>
            </a:r>
            <a:r>
              <a:rPr lang="en-US" altLang="zh-CN" sz="2400" dirty="0" smtClean="0">
                <a:latin typeface="微软雅黑" pitchFamily="34" charset="-122"/>
                <a:ea typeface="微软雅黑" pitchFamily="34" charset="-122"/>
              </a:rPr>
              <a:t>2.6.4</a:t>
            </a:r>
            <a:endParaRPr lang="en-US" altLang="zh-CN" dirty="0">
              <a:latin typeface="微软雅黑" pitchFamily="34" charset="-122"/>
              <a:ea typeface="微软雅黑" pitchFamily="34" charset="-122"/>
            </a:endParaRPr>
          </a:p>
          <a:p>
            <a:r>
              <a:rPr lang="zh-CN" altLang="en-US" dirty="0" smtClean="0">
                <a:latin typeface="微软雅黑" pitchFamily="34" charset="-122"/>
                <a:ea typeface="微软雅黑" pitchFamily="34" charset="-122"/>
              </a:rPr>
              <a:t>当前使用版本：</a:t>
            </a:r>
            <a:r>
              <a:rPr lang="en-US" altLang="zh-CN" dirty="0" smtClean="0">
                <a:latin typeface="微软雅黑" pitchFamily="34" charset="-122"/>
                <a:ea typeface="微软雅黑" pitchFamily="34" charset="-122"/>
              </a:rPr>
              <a:t>3.0.1</a:t>
            </a:r>
            <a:r>
              <a:rPr lang="zh-CN" altLang="en-US" dirty="0" smtClean="0">
                <a:latin typeface="微软雅黑" pitchFamily="34" charset="-122"/>
                <a:ea typeface="微软雅黑" pitchFamily="34" charset="-122"/>
              </a:rPr>
              <a:t>和</a:t>
            </a:r>
            <a:r>
              <a:rPr lang="en-US" altLang="zh-CN" dirty="0" smtClean="0">
                <a:latin typeface="微软雅黑" pitchFamily="34" charset="-122"/>
                <a:ea typeface="微软雅黑" pitchFamily="34" charset="-122"/>
              </a:rPr>
              <a:t>3.0.3</a:t>
            </a:r>
            <a:r>
              <a:rPr lang="zh-CN" altLang="en-US" dirty="0" smtClean="0">
                <a:latin typeface="微软雅黑" pitchFamily="34" charset="-122"/>
                <a:ea typeface="微软雅黑" pitchFamily="34" charset="-122"/>
              </a:rPr>
              <a:t>（</a:t>
            </a:r>
            <a:r>
              <a:rPr lang="en-US" altLang="zh-CN" dirty="0" err="1" smtClean="0">
                <a:latin typeface="微软雅黑" pitchFamily="34" charset="-122"/>
                <a:ea typeface="微软雅黑" pitchFamily="34" charset="-122"/>
              </a:rPr>
              <a:t>WiredTiger</a:t>
            </a:r>
            <a:r>
              <a:rPr lang="zh-CN" altLang="en-US" dirty="0" smtClean="0">
                <a:latin typeface="微软雅黑" pitchFamily="34" charset="-122"/>
                <a:ea typeface="微软雅黑" pitchFamily="34" charset="-122"/>
              </a:rPr>
              <a:t>存储引擎）</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建议升级到</a:t>
            </a:r>
            <a:r>
              <a:rPr lang="en-US" altLang="zh-CN" dirty="0" smtClean="0">
                <a:latin typeface="微软雅黑" pitchFamily="34" charset="-122"/>
                <a:ea typeface="微软雅黑" pitchFamily="34" charset="-122"/>
              </a:rPr>
              <a:t>3.0.7</a:t>
            </a:r>
          </a:p>
          <a:p>
            <a:r>
              <a:rPr lang="zh-CN" altLang="en-US" dirty="0" smtClean="0">
                <a:latin typeface="微软雅黑" pitchFamily="34" charset="-122"/>
                <a:ea typeface="微软雅黑" pitchFamily="34" charset="-122"/>
              </a:rPr>
              <a:t>即将发布的新版本：</a:t>
            </a:r>
            <a:r>
              <a:rPr lang="en-US" altLang="zh-CN" dirty="0" smtClean="0">
                <a:latin typeface="微软雅黑" pitchFamily="34" charset="-122"/>
                <a:ea typeface="微软雅黑" pitchFamily="34" charset="-122"/>
              </a:rPr>
              <a:t>3.2.0</a:t>
            </a:r>
          </a:p>
          <a:p>
            <a:pPr lvl="1"/>
            <a:r>
              <a:rPr lang="en-US" altLang="zh-CN" dirty="0">
                <a:latin typeface="微软雅黑" pitchFamily="34" charset="-122"/>
                <a:ea typeface="微软雅黑" pitchFamily="34" charset="-122"/>
              </a:rPr>
              <a:t>Document Validation</a:t>
            </a:r>
          </a:p>
          <a:p>
            <a:pPr lvl="1"/>
            <a:r>
              <a:rPr lang="en-US" altLang="zh-CN" dirty="0">
                <a:latin typeface="微软雅黑" pitchFamily="34" charset="-122"/>
                <a:ea typeface="微软雅黑" pitchFamily="34" charset="-122"/>
              </a:rPr>
              <a:t>partial indexes</a:t>
            </a:r>
          </a:p>
          <a:p>
            <a:pPr lvl="1"/>
            <a:r>
              <a:rPr lang="en-US" altLang="zh-CN" dirty="0" err="1">
                <a:latin typeface="微软雅黑" pitchFamily="34" charset="-122"/>
                <a:ea typeface="微软雅黑" pitchFamily="34" charset="-122"/>
              </a:rPr>
              <a:t>readConcern</a:t>
            </a:r>
            <a:r>
              <a:rPr lang="en-US" altLang="zh-CN" dirty="0">
                <a:latin typeface="微软雅黑" pitchFamily="34" charset="-122"/>
                <a:ea typeface="微软雅黑" pitchFamily="34" charset="-122"/>
              </a:rPr>
              <a:t>: { level: &lt;</a:t>
            </a:r>
            <a:r>
              <a:rPr lang="en-US" altLang="zh-CN" dirty="0" err="1">
                <a:latin typeface="微软雅黑" pitchFamily="34" charset="-122"/>
                <a:ea typeface="微软雅黑" pitchFamily="34" charset="-122"/>
              </a:rPr>
              <a:t>majority|local</a:t>
            </a:r>
            <a:r>
              <a:rPr lang="en-US" altLang="zh-CN" dirty="0">
                <a:latin typeface="微软雅黑" pitchFamily="34" charset="-122"/>
                <a:ea typeface="微软雅黑" pitchFamily="34" charset="-122"/>
              </a:rPr>
              <a:t>&gt; </a:t>
            </a:r>
            <a:r>
              <a:rPr lang="en-US" altLang="zh-CN" dirty="0" smtClean="0">
                <a:latin typeface="微软雅黑" pitchFamily="34" charset="-122"/>
                <a:ea typeface="微软雅黑" pitchFamily="34" charset="-122"/>
              </a:rPr>
              <a:t>}</a:t>
            </a:r>
          </a:p>
          <a:p>
            <a:pPr lvl="1"/>
            <a:r>
              <a:rPr lang="en-US" altLang="zh-CN" dirty="0">
                <a:latin typeface="微软雅黑" pitchFamily="34" charset="-122"/>
                <a:ea typeface="微软雅黑" pitchFamily="34" charset="-122"/>
              </a:rPr>
              <a:t>left outer join </a:t>
            </a:r>
            <a:r>
              <a:rPr lang="zh-CN" altLang="en-US" dirty="0" smtClean="0">
                <a:latin typeface="微软雅黑" pitchFamily="34" charset="-122"/>
                <a:ea typeface="微软雅黑" pitchFamily="34" charset="-122"/>
              </a:rPr>
              <a:t>（企业版）</a:t>
            </a:r>
            <a:endParaRPr lang="en-US" altLang="zh-CN" dirty="0" smtClean="0">
              <a:latin typeface="微软雅黑" pitchFamily="34" charset="-122"/>
              <a:ea typeface="微软雅黑" pitchFamily="34" charset="-122"/>
            </a:endParaRPr>
          </a:p>
          <a:p>
            <a:endParaRPr lang="en-US" altLang="zh-CN" dirty="0">
              <a:latin typeface="微软雅黑" pitchFamily="34" charset="-122"/>
              <a:ea typeface="微软雅黑" pitchFamily="34" charset="-122"/>
            </a:endParaRPr>
          </a:p>
        </p:txBody>
      </p:sp>
    </p:spTree>
    <p:extLst>
      <p:ext uri="{BB962C8B-B14F-4D97-AF65-F5344CB8AC3E}">
        <p14:creationId xmlns:p14="http://schemas.microsoft.com/office/powerpoint/2010/main" val="15582427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schemeClr val="tx1"/>
                </a:solidFill>
                <a:latin typeface="微软雅黑" pitchFamily="34" charset="-122"/>
                <a:ea typeface="微软雅黑" pitchFamily="34" charset="-122"/>
              </a:rPr>
              <a:t>2.3 mongo shell</a:t>
            </a:r>
            <a:endParaRPr lang="zh-CN" altLang="en-US" dirty="0"/>
          </a:p>
        </p:txBody>
      </p:sp>
      <p:sp>
        <p:nvSpPr>
          <p:cNvPr id="3" name="内容占位符 2"/>
          <p:cNvSpPr>
            <a:spLocks noGrp="1"/>
          </p:cNvSpPr>
          <p:nvPr>
            <p:ph idx="1"/>
          </p:nvPr>
        </p:nvSpPr>
        <p:spPr/>
        <p:txBody>
          <a:bodyPr/>
          <a:lstStyle/>
          <a:p>
            <a:r>
              <a:rPr lang="en-US" altLang="zh-CN" dirty="0" err="1">
                <a:latin typeface="微软雅黑" panose="020B0503020204020204" pitchFamily="34" charset="-122"/>
                <a:ea typeface="微软雅黑" panose="020B0503020204020204" pitchFamily="34" charset="-122"/>
              </a:rPr>
              <a:t>DBQuery.shellBatchSize</a:t>
            </a:r>
            <a:r>
              <a:rPr lang="en-US" altLang="zh-CN" dirty="0">
                <a:latin typeface="微软雅黑" panose="020B0503020204020204" pitchFamily="34" charset="-122"/>
                <a:ea typeface="微软雅黑" panose="020B0503020204020204" pitchFamily="34" charset="-122"/>
              </a:rPr>
              <a:t> = </a:t>
            </a:r>
            <a:r>
              <a:rPr lang="en-US" altLang="zh-CN" dirty="0" smtClean="0">
                <a:latin typeface="微软雅黑" panose="020B0503020204020204" pitchFamily="34" charset="-122"/>
                <a:ea typeface="微软雅黑" panose="020B0503020204020204" pitchFamily="34" charset="-122"/>
              </a:rPr>
              <a:t>100</a:t>
            </a:r>
          </a:p>
          <a:p>
            <a:r>
              <a:rPr lang="zh-CN" altLang="en-US" dirty="0" smtClean="0">
                <a:latin typeface="微软雅黑" panose="020B0503020204020204" pitchFamily="34" charset="-122"/>
                <a:ea typeface="微软雅黑" panose="020B0503020204020204" pitchFamily="34" charset="-122"/>
              </a:rPr>
              <a:t>注意数值字面量默认是双精度类型</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help</a:t>
            </a:r>
          </a:p>
          <a:p>
            <a:endParaRPr lang="zh-CN" altLang="en-US" dirty="0">
              <a:latin typeface="微软雅黑" panose="020B0503020204020204" pitchFamily="34" charset="-122"/>
              <a:ea typeface="微软雅黑" panose="020B0503020204020204" pitchFamily="34" charset="-122"/>
            </a:endParaRPr>
          </a:p>
          <a:p>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3" y="2996952"/>
            <a:ext cx="7662659"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1794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schemeClr val="tx1"/>
                </a:solidFill>
                <a:latin typeface="微软雅黑" pitchFamily="34" charset="-122"/>
                <a:ea typeface="微软雅黑" pitchFamily="34" charset="-122"/>
              </a:rPr>
              <a:t>2.4 </a:t>
            </a:r>
            <a:r>
              <a:rPr lang="en-US" altLang="zh-CN" b="1" i="1" dirty="0" err="1" smtClean="0">
                <a:solidFill>
                  <a:schemeClr val="tx1"/>
                </a:solidFill>
                <a:latin typeface="微软雅黑" pitchFamily="34" charset="-122"/>
                <a:ea typeface="微软雅黑" pitchFamily="34" charset="-122"/>
              </a:rPr>
              <a:t>mongodb</a:t>
            </a:r>
            <a:r>
              <a:rPr lang="zh-CN" altLang="en-US" b="1" i="1" dirty="0" smtClean="0">
                <a:solidFill>
                  <a:schemeClr val="tx1"/>
                </a:solidFill>
                <a:latin typeface="微软雅黑" pitchFamily="34" charset="-122"/>
                <a:ea typeface="微软雅黑" pitchFamily="34" charset="-122"/>
              </a:rPr>
              <a:t>数据模型</a:t>
            </a:r>
            <a:endParaRPr lang="zh-CN" altLang="en-US" dirty="0"/>
          </a:p>
        </p:txBody>
      </p:sp>
      <p:sp>
        <p:nvSpPr>
          <p:cNvPr id="5" name="内容占位符 4"/>
          <p:cNvSpPr>
            <a:spLocks noGrp="1"/>
          </p:cNvSpPr>
          <p:nvPr>
            <p:ph idx="1"/>
          </p:nvPr>
        </p:nvSpPr>
        <p:spPr/>
        <p:txBody>
          <a:bodyPr/>
          <a:lstStyle/>
          <a:p>
            <a:r>
              <a:rPr lang="zh-CN" altLang="en-US" dirty="0" smtClean="0"/>
              <a:t>和关系型数据库的一个类比：</a:t>
            </a:r>
            <a:endParaRPr lang="en-US" altLang="zh-CN" dirty="0" smtClean="0"/>
          </a:p>
          <a:p>
            <a:endParaRPr lang="zh-CN" altLang="en-US" dirty="0"/>
          </a:p>
        </p:txBody>
      </p:sp>
      <p:pic>
        <p:nvPicPr>
          <p:cNvPr id="6" name="内容占位符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2132856"/>
            <a:ext cx="5601439" cy="4525963"/>
          </a:xfrm>
          <a:prstGeom prst="rect">
            <a:avLst/>
          </a:prstGeom>
        </p:spPr>
      </p:pic>
    </p:spTree>
    <p:extLst>
      <p:ext uri="{BB962C8B-B14F-4D97-AF65-F5344CB8AC3E}">
        <p14:creationId xmlns:p14="http://schemas.microsoft.com/office/powerpoint/2010/main" val="408689067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schemeClr val="tx1"/>
                </a:solidFill>
                <a:latin typeface="微软雅黑" pitchFamily="34" charset="-122"/>
                <a:ea typeface="微软雅黑" pitchFamily="34" charset="-122"/>
              </a:rPr>
              <a:t>2.4 </a:t>
            </a:r>
            <a:r>
              <a:rPr lang="en-US" altLang="zh-CN" b="1" i="1" dirty="0" err="1">
                <a:solidFill>
                  <a:schemeClr val="tx1"/>
                </a:solidFill>
                <a:latin typeface="微软雅黑" pitchFamily="34" charset="-122"/>
                <a:ea typeface="微软雅黑" pitchFamily="34" charset="-122"/>
              </a:rPr>
              <a:t>mongodb</a:t>
            </a:r>
            <a:r>
              <a:rPr lang="zh-CN" altLang="en-US" b="1" i="1" dirty="0">
                <a:solidFill>
                  <a:schemeClr val="tx1"/>
                </a:solidFill>
                <a:latin typeface="微软雅黑" pitchFamily="34" charset="-122"/>
                <a:ea typeface="微软雅黑" pitchFamily="34" charset="-122"/>
              </a:rPr>
              <a:t>数据模型</a:t>
            </a:r>
            <a:endParaRPr lang="zh-CN" altLang="en-US" dirty="0"/>
          </a:p>
        </p:txBody>
      </p:sp>
      <p:sp>
        <p:nvSpPr>
          <p:cNvPr id="3" name="内容占位符 2"/>
          <p:cNvSpPr>
            <a:spLocks noGrp="1"/>
          </p:cNvSpPr>
          <p:nvPr>
            <p:ph idx="1"/>
          </p:nvPr>
        </p:nvSpPr>
        <p:spPr/>
        <p:txBody>
          <a:bodyPr>
            <a:normAutofit lnSpcReduction="10000"/>
          </a:bodyPr>
          <a:lstStyle/>
          <a:p>
            <a:r>
              <a:rPr lang="en-US" altLang="zh-CN" b="1" dirty="0"/>
              <a:t>·</a:t>
            </a:r>
            <a:r>
              <a:rPr lang="zh-CN" altLang="en-US" dirty="0">
                <a:latin typeface="微软雅黑" panose="020B0503020204020204" pitchFamily="34" charset="-122"/>
                <a:ea typeface="微软雅黑" panose="020B0503020204020204" pitchFamily="34" charset="-122"/>
              </a:rPr>
              <a:t>一个</a:t>
            </a:r>
            <a:r>
              <a:rPr lang="en-US" altLang="zh-CN" dirty="0" err="1">
                <a:latin typeface="微软雅黑" panose="020B0503020204020204" pitchFamily="34" charset="-122"/>
                <a:ea typeface="微软雅黑" panose="020B0503020204020204" pitchFamily="34" charset="-122"/>
              </a:rPr>
              <a:t>MongoDB</a:t>
            </a:r>
            <a:r>
              <a:rPr lang="zh-CN" altLang="en-US" dirty="0">
                <a:latin typeface="微软雅黑" panose="020B0503020204020204" pitchFamily="34" charset="-122"/>
                <a:ea typeface="微软雅黑" panose="020B0503020204020204" pitchFamily="34" charset="-122"/>
              </a:rPr>
              <a:t>实例可以承载多个数据库，它们之间可视为完全独立的，每个数据库都有独立的权限</a:t>
            </a:r>
            <a:r>
              <a:rPr lang="zh-CN" altLang="en-US" dirty="0" smtClean="0">
                <a:latin typeface="微软雅黑" panose="020B0503020204020204" pitchFamily="34" charset="-122"/>
                <a:ea typeface="微软雅黑" panose="020B0503020204020204" pitchFamily="34" charset="-122"/>
              </a:rPr>
              <a:t>控制，各自的数据文件。</a:t>
            </a:r>
            <a:endParaRPr lang="en-US" altLang="zh-CN"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集合就是一组文档，集合可以看作没有</a:t>
            </a:r>
            <a:r>
              <a:rPr lang="zh-CN" altLang="en-US" dirty="0" smtClean="0">
                <a:latin typeface="微软雅黑" panose="020B0503020204020204" pitchFamily="34" charset="-122"/>
                <a:ea typeface="微软雅黑" panose="020B0503020204020204" pitchFamily="34" charset="-122"/>
              </a:rPr>
              <a:t>模式</a:t>
            </a:r>
            <a:r>
              <a:rPr lang="en-US" altLang="zh-CN" dirty="0" smtClean="0">
                <a:latin typeface="微软雅黑" panose="020B0503020204020204" pitchFamily="34" charset="-122"/>
                <a:ea typeface="微软雅黑" panose="020B0503020204020204" pitchFamily="34" charset="-122"/>
              </a:rPr>
              <a:t>(</a:t>
            </a:r>
            <a:r>
              <a:rPr lang="en-US" altLang="zh-CN" dirty="0" err="1" smtClean="0">
                <a:latin typeface="微软雅黑" panose="020B0503020204020204" pitchFamily="34" charset="-122"/>
                <a:ea typeface="微软雅黑" panose="020B0503020204020204" pitchFamily="34" charset="-122"/>
              </a:rPr>
              <a:t>shema</a:t>
            </a:r>
            <a:r>
              <a:rPr lang="en-US" altLang="zh-CN" dirty="0" smtClean="0">
                <a:latin typeface="微软雅黑" panose="020B0503020204020204" pitchFamily="34" charset="-122"/>
                <a:ea typeface="微软雅黑" panose="020B0503020204020204" pitchFamily="34" charset="-122"/>
              </a:rPr>
              <a:t>-less)</a:t>
            </a:r>
            <a:r>
              <a:rPr lang="zh-CN" altLang="en-US" dirty="0" smtClean="0">
                <a:latin typeface="微软雅黑" panose="020B0503020204020204" pitchFamily="34" charset="-122"/>
                <a:ea typeface="微软雅黑" panose="020B0503020204020204" pitchFamily="34" charset="-122"/>
              </a:rPr>
              <a:t>的表。</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特殊集合：</a:t>
            </a:r>
            <a:r>
              <a:rPr lang="en-US" altLang="zh-CN" dirty="0" smtClean="0">
                <a:latin typeface="微软雅黑" panose="020B0503020204020204" pitchFamily="34" charset="-122"/>
                <a:ea typeface="微软雅黑" panose="020B0503020204020204" pitchFamily="34" charset="-122"/>
              </a:rPr>
              <a:t>Capped Collection, TTL Collection</a:t>
            </a:r>
          </a:p>
          <a:p>
            <a:r>
              <a:rPr lang="zh-CN" altLang="en-US" dirty="0">
                <a:latin typeface="微软雅黑" panose="020B0503020204020204" pitchFamily="34" charset="-122"/>
                <a:ea typeface="微软雅黑" panose="020B0503020204020204" pitchFamily="34" charset="-122"/>
              </a:rPr>
              <a:t>文档是</a:t>
            </a:r>
            <a:r>
              <a:rPr lang="en-US" altLang="zh-CN" dirty="0" err="1">
                <a:latin typeface="微软雅黑" panose="020B0503020204020204" pitchFamily="34" charset="-122"/>
                <a:ea typeface="微软雅黑" panose="020B0503020204020204" pitchFamily="34" charset="-122"/>
              </a:rPr>
              <a:t>MongoDB</a:t>
            </a:r>
            <a:r>
              <a:rPr lang="zh-CN" altLang="en-US" dirty="0">
                <a:latin typeface="微软雅黑" panose="020B0503020204020204" pitchFamily="34" charset="-122"/>
                <a:ea typeface="微软雅黑" panose="020B0503020204020204" pitchFamily="34" charset="-122"/>
              </a:rPr>
              <a:t>中数据的基本单元，类似于关系数据库中的</a:t>
            </a:r>
            <a:r>
              <a:rPr lang="zh-CN" altLang="en-US" dirty="0" smtClean="0">
                <a:latin typeface="微软雅黑" panose="020B0503020204020204" pitchFamily="34" charset="-122"/>
                <a:ea typeface="微软雅黑" panose="020B0503020204020204" pitchFamily="34" charset="-122"/>
              </a:rPr>
              <a:t>行。</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多</a:t>
            </a:r>
            <a:r>
              <a:rPr lang="zh-CN" altLang="en-US" dirty="0">
                <a:latin typeface="微软雅黑" panose="020B0503020204020204" pitchFamily="34" charset="-122"/>
                <a:ea typeface="微软雅黑" panose="020B0503020204020204" pitchFamily="34" charset="-122"/>
              </a:rPr>
              <a:t>个键及其关联的值有序地放置在一起便是文档，类似映射，散列或</a:t>
            </a:r>
            <a:r>
              <a:rPr lang="zh-CN" altLang="en-US" dirty="0" smtClean="0">
                <a:latin typeface="微软雅黑" panose="020B0503020204020204" pitchFamily="34" charset="-122"/>
                <a:ea typeface="微软雅黑" panose="020B0503020204020204" pitchFamily="34" charset="-122"/>
              </a:rPr>
              <a:t>字典。</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文档的键是</a:t>
            </a:r>
            <a:r>
              <a:rPr lang="zh-CN" altLang="en-US" dirty="0" smtClean="0">
                <a:latin typeface="微软雅黑" panose="020B0503020204020204" pitchFamily="34" charset="-122"/>
                <a:ea typeface="微软雅黑" panose="020B0503020204020204" pitchFamily="34" charset="-122"/>
              </a:rPr>
              <a:t>字符串（不能含有</a:t>
            </a:r>
            <a:r>
              <a:rPr lang="en-US" altLang="zh-CN" dirty="0" smtClean="0">
                <a:latin typeface="微软雅黑" panose="020B0503020204020204" pitchFamily="34" charset="-122"/>
                <a:ea typeface="微软雅黑" panose="020B0503020204020204" pitchFamily="34" charset="-122"/>
              </a:rPr>
              <a:t>\0, ., $</a:t>
            </a:r>
            <a:r>
              <a:rPr lang="zh-CN" altLang="en-US" dirty="0" smtClean="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文档中的值不仅可以是字符串，也可是其他</a:t>
            </a:r>
            <a:r>
              <a:rPr lang="zh-CN" altLang="en-US" dirty="0" smtClean="0">
                <a:latin typeface="微软雅黑" panose="020B0503020204020204" pitchFamily="34" charset="-122"/>
                <a:ea typeface="微软雅黑" panose="020B0503020204020204" pitchFamily="34" charset="-122"/>
              </a:rPr>
              <a:t>类型。</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文档</a:t>
            </a:r>
            <a:r>
              <a:rPr lang="zh-CN" altLang="en-US" dirty="0">
                <a:latin typeface="微软雅黑" panose="020B0503020204020204" pitchFamily="34" charset="-122"/>
                <a:ea typeface="微软雅黑" panose="020B0503020204020204" pitchFamily="34" charset="-122"/>
              </a:rPr>
              <a:t>中的键</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值对是有序的，不同序则是不同</a:t>
            </a:r>
            <a:r>
              <a:rPr lang="zh-CN" altLang="en-US" dirty="0" smtClean="0">
                <a:latin typeface="微软雅黑" panose="020B0503020204020204" pitchFamily="34" charset="-122"/>
                <a:ea typeface="微软雅黑" panose="020B0503020204020204" pitchFamily="34" charset="-122"/>
              </a:rPr>
              <a:t>文档。</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键是区分大小写的，否则为不同</a:t>
            </a:r>
            <a:r>
              <a:rPr lang="zh-CN" altLang="en-US" dirty="0" smtClean="0">
                <a:latin typeface="微软雅黑" panose="020B0503020204020204" pitchFamily="34" charset="-122"/>
                <a:ea typeface="微软雅黑" panose="020B0503020204020204" pitchFamily="34" charset="-122"/>
              </a:rPr>
              <a:t>文档。</a:t>
            </a:r>
            <a:endParaRPr lang="en-US" altLang="zh-CN" dirty="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文档</a:t>
            </a:r>
            <a:r>
              <a:rPr lang="zh-CN" altLang="en-US" dirty="0">
                <a:latin typeface="微软雅黑" panose="020B0503020204020204" pitchFamily="34" charset="-122"/>
                <a:ea typeface="微软雅黑" panose="020B0503020204020204" pitchFamily="34" charset="-122"/>
              </a:rPr>
              <a:t>不能有重复的键，否则</a:t>
            </a:r>
            <a:r>
              <a:rPr lang="zh-CN" altLang="en-US" dirty="0" smtClean="0">
                <a:latin typeface="微软雅黑" panose="020B0503020204020204" pitchFamily="34" charset="-122"/>
                <a:ea typeface="微软雅黑" panose="020B0503020204020204" pitchFamily="34" charset="-122"/>
              </a:rPr>
              <a:t>非法。</a:t>
            </a:r>
            <a:endParaRPr lang="zh-CN" altLang="en-US" dirty="0">
              <a:latin typeface="微软雅黑" panose="020B0503020204020204" pitchFamily="34" charset="-122"/>
              <a:ea typeface="微软雅黑" panose="020B0503020204020204" pitchFamily="34" charset="-122"/>
            </a:endParaRPr>
          </a:p>
          <a:p>
            <a:pPr lvl="1"/>
            <a:endParaRPr lang="zh-CN" altLang="en-US" dirty="0" smtClean="0"/>
          </a:p>
          <a:p>
            <a:endParaRPr lang="zh-CN" altLang="en-US" dirty="0"/>
          </a:p>
        </p:txBody>
      </p:sp>
    </p:spTree>
    <p:extLst>
      <p:ext uri="{BB962C8B-B14F-4D97-AF65-F5344CB8AC3E}">
        <p14:creationId xmlns:p14="http://schemas.microsoft.com/office/powerpoint/2010/main" val="28695957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600200"/>
          </a:xfrm>
        </p:spPr>
        <p:txBody>
          <a:bodyPr/>
          <a:lstStyle/>
          <a:p>
            <a:r>
              <a:rPr lang="en-US" altLang="zh-CN" b="1" i="1" dirty="0" smtClean="0">
                <a:solidFill>
                  <a:schemeClr val="tx1"/>
                </a:solidFill>
                <a:latin typeface="微软雅黑" pitchFamily="34" charset="-122"/>
                <a:ea typeface="微软雅黑" pitchFamily="34" charset="-122"/>
              </a:rPr>
              <a:t>2.5 </a:t>
            </a:r>
            <a:r>
              <a:rPr lang="zh-CN" altLang="en-US" b="1" i="1" dirty="0" smtClean="0">
                <a:solidFill>
                  <a:schemeClr val="tx1"/>
                </a:solidFill>
                <a:latin typeface="微软雅黑" pitchFamily="34" charset="-122"/>
                <a:ea typeface="微软雅黑" pitchFamily="34" charset="-122"/>
              </a:rPr>
              <a:t>数据类型</a:t>
            </a:r>
            <a:r>
              <a:rPr lang="en-US" altLang="zh-CN" b="1" i="1" dirty="0" smtClean="0">
                <a:solidFill>
                  <a:schemeClr val="tx1"/>
                </a:solidFill>
                <a:latin typeface="微软雅黑" pitchFamily="34" charset="-122"/>
                <a:ea typeface="微软雅黑" pitchFamily="34" charset="-122"/>
              </a:rPr>
              <a:t>–</a:t>
            </a:r>
            <a:r>
              <a:rPr lang="zh-CN" altLang="en-US" b="1" i="1" dirty="0" smtClean="0">
                <a:solidFill>
                  <a:schemeClr val="tx1"/>
                </a:solidFill>
                <a:latin typeface="微软雅黑" pitchFamily="34" charset="-122"/>
                <a:ea typeface="微软雅黑" pitchFamily="34" charset="-122"/>
              </a:rPr>
              <a:t>基本类型和</a:t>
            </a:r>
            <a:r>
              <a:rPr lang="en-US" altLang="zh-CN" b="1" i="1" dirty="0" smtClean="0">
                <a:solidFill>
                  <a:schemeClr val="tx1"/>
                </a:solidFill>
                <a:latin typeface="微软雅黑" pitchFamily="34" charset="-122"/>
                <a:ea typeface="微软雅黑" pitchFamily="34" charset="-122"/>
              </a:rPr>
              <a:t>$type</a:t>
            </a:r>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128" y="1356399"/>
            <a:ext cx="3024336" cy="5301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内容占位符 2"/>
          <p:cNvSpPr>
            <a:spLocks noGrp="1"/>
          </p:cNvSpPr>
          <p:nvPr>
            <p:ph idx="1"/>
          </p:nvPr>
        </p:nvSpPr>
        <p:spPr>
          <a:xfrm>
            <a:off x="323528" y="1600200"/>
            <a:ext cx="8568952" cy="4997152"/>
          </a:xfrm>
        </p:spPr>
        <p:txBody>
          <a:bodyPr>
            <a:normAutofit/>
          </a:bodyPr>
          <a:lstStyle/>
          <a:p>
            <a:r>
              <a:rPr lang="en-US" altLang="zh-CN" sz="1600" dirty="0" err="1"/>
              <a:t>db.collection.find</a:t>
            </a:r>
            <a:r>
              <a:rPr lang="en-US" altLang="zh-CN" sz="1600" dirty="0"/>
              <a:t>( { field: { $type: 8</a:t>
            </a:r>
            <a:r>
              <a:rPr lang="en-US" altLang="zh-CN" sz="1600" dirty="0" smtClean="0"/>
              <a:t> </a:t>
            </a:r>
            <a:r>
              <a:rPr lang="en-US" altLang="zh-CN" sz="1600" dirty="0"/>
              <a:t>} } ); </a:t>
            </a:r>
            <a:endParaRPr lang="en-US" altLang="zh-CN" sz="1600" dirty="0" smtClean="0"/>
          </a:p>
          <a:p>
            <a:r>
              <a:rPr lang="zh-CN" altLang="en-US" sz="1600" dirty="0" smtClean="0"/>
              <a:t>尽量不要在同一字段上混合类型。</a:t>
            </a:r>
            <a:endParaRPr lang="en-US" altLang="zh-CN" sz="1600" dirty="0" smtClean="0"/>
          </a:p>
          <a:p>
            <a:r>
              <a:rPr lang="zh-CN" altLang="en-US" sz="1600" dirty="0" smtClean="0"/>
              <a:t>注意</a:t>
            </a:r>
            <a:r>
              <a:rPr lang="en-US" altLang="zh-CN" sz="1600" dirty="0" err="1" smtClean="0"/>
              <a:t>js</a:t>
            </a:r>
            <a:r>
              <a:rPr lang="en-US" altLang="zh-CN" sz="1600" dirty="0" smtClean="0"/>
              <a:t>(mongo shell)</a:t>
            </a:r>
            <a:r>
              <a:rPr lang="zh-CN" altLang="en-US" sz="1600" dirty="0" smtClean="0"/>
              <a:t> 等一些弱类型语言数值</a:t>
            </a:r>
            <a:endParaRPr lang="en-US" altLang="zh-CN" sz="1600" dirty="0"/>
          </a:p>
          <a:p>
            <a:pPr marL="0" indent="0">
              <a:buNone/>
            </a:pPr>
            <a:r>
              <a:rPr lang="en-US" altLang="zh-CN" sz="1600" dirty="0"/>
              <a:t> </a:t>
            </a:r>
            <a:r>
              <a:rPr lang="en-US" altLang="zh-CN" sz="1600" dirty="0" smtClean="0"/>
              <a:t>      </a:t>
            </a:r>
            <a:r>
              <a:rPr lang="zh-CN" altLang="en-US" sz="1600" dirty="0" smtClean="0"/>
              <a:t>默认都视为浮点数，在使用时记得做类型转换。</a:t>
            </a:r>
            <a:endParaRPr lang="en-US" altLang="zh-CN" sz="1600" dirty="0"/>
          </a:p>
          <a:p>
            <a:pPr marL="0" indent="0">
              <a:buNone/>
            </a:pPr>
            <a:r>
              <a:rPr lang="en-US" altLang="zh-CN" sz="1600" dirty="0" smtClean="0"/>
              <a:t>      </a:t>
            </a:r>
            <a:endParaRPr lang="en-US" altLang="zh-CN" sz="1600" dirty="0"/>
          </a:p>
        </p:txBody>
      </p:sp>
    </p:spTree>
    <p:extLst>
      <p:ext uri="{BB962C8B-B14F-4D97-AF65-F5344CB8AC3E}">
        <p14:creationId xmlns:p14="http://schemas.microsoft.com/office/powerpoint/2010/main" val="32247322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schemeClr val="tx1"/>
                </a:solidFill>
                <a:latin typeface="微软雅黑" pitchFamily="34" charset="-122"/>
                <a:ea typeface="微软雅黑" pitchFamily="34" charset="-122"/>
              </a:rPr>
              <a:t>2.5 </a:t>
            </a:r>
            <a:r>
              <a:rPr lang="zh-CN" altLang="en-US" b="1" i="1" dirty="0" smtClean="0">
                <a:solidFill>
                  <a:schemeClr val="tx1"/>
                </a:solidFill>
                <a:latin typeface="微软雅黑" pitchFamily="34" charset="-122"/>
                <a:ea typeface="微软雅黑" pitchFamily="34" charset="-122"/>
              </a:rPr>
              <a:t>数据类型</a:t>
            </a:r>
            <a:r>
              <a:rPr lang="en-US" altLang="zh-CN" b="1" i="1" dirty="0" smtClean="0">
                <a:solidFill>
                  <a:schemeClr val="tx1"/>
                </a:solidFill>
                <a:latin typeface="微软雅黑" pitchFamily="34" charset="-122"/>
                <a:ea typeface="微软雅黑" pitchFamily="34" charset="-122"/>
              </a:rPr>
              <a:t>–</a:t>
            </a:r>
            <a:r>
              <a:rPr lang="zh-CN" altLang="en-US" b="1" i="1" dirty="0" smtClean="0">
                <a:solidFill>
                  <a:schemeClr val="tx1"/>
                </a:solidFill>
                <a:latin typeface="微软雅黑" pitchFamily="34" charset="-122"/>
                <a:ea typeface="微软雅黑" pitchFamily="34" charset="-122"/>
              </a:rPr>
              <a:t>比较排序</a:t>
            </a:r>
            <a:endParaRPr lang="zh-CN" altLang="en-US" dirty="0"/>
          </a:p>
        </p:txBody>
      </p:sp>
      <p:sp>
        <p:nvSpPr>
          <p:cNvPr id="3" name="内容占位符 2"/>
          <p:cNvSpPr>
            <a:spLocks noGrp="1"/>
          </p:cNvSpPr>
          <p:nvPr>
            <p:ph idx="1"/>
          </p:nvPr>
        </p:nvSpPr>
        <p:spPr>
          <a:xfrm>
            <a:off x="323528" y="1600200"/>
            <a:ext cx="8568952" cy="4997152"/>
          </a:xfrm>
        </p:spPr>
        <p:txBody>
          <a:bodyPr>
            <a:normAutofit/>
          </a:bodyPr>
          <a:lstStyle/>
          <a:p>
            <a:r>
              <a:rPr lang="zh-CN" altLang="en-US" sz="1800" dirty="0">
                <a:latin typeface="微软雅黑" panose="020B0503020204020204" pitchFamily="34" charset="-122"/>
                <a:ea typeface="微软雅黑" panose="020B0503020204020204" pitchFamily="34" charset="-122"/>
              </a:rPr>
              <a:t>当比较不同</a:t>
            </a:r>
            <a:r>
              <a:rPr lang="en-US" altLang="zh-CN" sz="1800" dirty="0">
                <a:latin typeface="微软雅黑" panose="020B0503020204020204" pitchFamily="34" charset="-122"/>
                <a:ea typeface="微软雅黑" panose="020B0503020204020204" pitchFamily="34" charset="-122"/>
              </a:rPr>
              <a:t>BSON</a:t>
            </a:r>
            <a:r>
              <a:rPr lang="zh-CN" altLang="en-US" sz="1800" dirty="0">
                <a:latin typeface="微软雅黑" panose="020B0503020204020204" pitchFamily="34" charset="-122"/>
                <a:ea typeface="微软雅黑" panose="020B0503020204020204" pitchFamily="34" charset="-122"/>
              </a:rPr>
              <a:t>类型</a:t>
            </a:r>
            <a:r>
              <a:rPr lang="zh-CN" altLang="en-US" sz="1800" dirty="0" smtClean="0">
                <a:latin typeface="微软雅黑" panose="020B0503020204020204" pitchFamily="34" charset="-122"/>
                <a:ea typeface="微软雅黑" panose="020B0503020204020204" pitchFamily="34" charset="-122"/>
              </a:rPr>
              <a:t>的值</a:t>
            </a:r>
            <a:r>
              <a:rPr lang="zh-CN" altLang="en-US" sz="1800" dirty="0">
                <a:latin typeface="微软雅黑" panose="020B0503020204020204" pitchFamily="34" charset="-122"/>
                <a:ea typeface="微软雅黑" panose="020B0503020204020204" pitchFamily="34" charset="-122"/>
              </a:rPr>
              <a:t>时，</a:t>
            </a:r>
            <a:r>
              <a:rPr lang="en-US" altLang="zh-CN" sz="1800" dirty="0" err="1">
                <a:latin typeface="微软雅黑" panose="020B0503020204020204" pitchFamily="34" charset="-122"/>
                <a:ea typeface="微软雅黑" panose="020B0503020204020204" pitchFamily="34" charset="-122"/>
              </a:rPr>
              <a:t>MongoDB</a:t>
            </a:r>
            <a:r>
              <a:rPr lang="zh-CN" altLang="en-US" sz="1800" dirty="0">
                <a:latin typeface="微软雅黑" panose="020B0503020204020204" pitchFamily="34" charset="-122"/>
                <a:ea typeface="微软雅黑" panose="020B0503020204020204" pitchFamily="34" charset="-122"/>
              </a:rPr>
              <a:t>使用如下</a:t>
            </a:r>
            <a:r>
              <a:rPr lang="zh-CN" altLang="en-US" sz="1800" dirty="0" smtClean="0">
                <a:latin typeface="微软雅黑" panose="020B0503020204020204" pitchFamily="34" charset="-122"/>
                <a:ea typeface="微软雅黑" panose="020B0503020204020204" pitchFamily="34" charset="-122"/>
              </a:rPr>
              <a:t>的比较</a:t>
            </a:r>
            <a:r>
              <a:rPr lang="zh-CN" altLang="en-US" sz="1800" dirty="0">
                <a:latin typeface="微软雅黑" panose="020B0503020204020204" pitchFamily="34" charset="-122"/>
                <a:ea typeface="微软雅黑" panose="020B0503020204020204" pitchFamily="34" charset="-122"/>
              </a:rPr>
              <a:t>排序，从低到高为</a:t>
            </a:r>
            <a:r>
              <a:rPr lang="zh-CN" altLang="en-US" sz="1800" dirty="0" smtClean="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a:p>
            <a:pPr lvl="1"/>
            <a:r>
              <a:rPr lang="zh-CN" altLang="en-US" sz="1400" dirty="0" smtClean="0">
                <a:latin typeface="微软雅黑" panose="020B0503020204020204" pitchFamily="34" charset="-122"/>
                <a:ea typeface="微软雅黑" panose="020B0503020204020204" pitchFamily="34" charset="-122"/>
              </a:rPr>
              <a:t>注意：</a:t>
            </a:r>
            <a:r>
              <a:rPr lang="zh-CN" altLang="en-US" sz="1400" dirty="0">
                <a:latin typeface="微软雅黑" panose="020B0503020204020204" pitchFamily="34" charset="-122"/>
                <a:ea typeface="微软雅黑" panose="020B0503020204020204" pitchFamily="34" charset="-122"/>
              </a:rPr>
              <a:t>在</a:t>
            </a:r>
            <a:r>
              <a:rPr lang="en-US" altLang="zh-CN" sz="1400" dirty="0">
                <a:latin typeface="微软雅黑" panose="020B0503020204020204" pitchFamily="34" charset="-122"/>
                <a:ea typeface="微软雅黑" panose="020B0503020204020204" pitchFamily="34" charset="-122"/>
              </a:rPr>
              <a:t>3.0.0</a:t>
            </a:r>
            <a:r>
              <a:rPr lang="zh-CN" altLang="en-US" sz="1400" dirty="0" smtClean="0">
                <a:latin typeface="微软雅黑" panose="020B0503020204020204" pitchFamily="34" charset="-122"/>
                <a:ea typeface="微软雅黑" panose="020B0503020204020204" pitchFamily="34" charset="-122"/>
              </a:rPr>
              <a:t>中，</a:t>
            </a:r>
            <a:r>
              <a:rPr lang="en-US" altLang="zh-CN" sz="1400" dirty="0" smtClean="0">
                <a:latin typeface="微软雅黑" panose="020B0503020204020204" pitchFamily="34" charset="-122"/>
                <a:ea typeface="微软雅黑" panose="020B0503020204020204" pitchFamily="34" charset="-122"/>
              </a:rPr>
              <a:t>Date</a:t>
            </a:r>
            <a:r>
              <a:rPr lang="zh-CN" altLang="en-US" sz="1400" dirty="0">
                <a:latin typeface="微软雅黑" panose="020B0503020204020204" pitchFamily="34" charset="-122"/>
                <a:ea typeface="微软雅黑" panose="020B0503020204020204" pitchFamily="34" charset="-122"/>
              </a:rPr>
              <a:t>对象排在</a:t>
            </a:r>
            <a:r>
              <a:rPr lang="en-US" altLang="zh-CN" sz="1400" dirty="0">
                <a:latin typeface="微软雅黑" panose="020B0503020204020204" pitchFamily="34" charset="-122"/>
                <a:ea typeface="微软雅黑" panose="020B0503020204020204" pitchFamily="34" charset="-122"/>
              </a:rPr>
              <a:t>Timestamp</a:t>
            </a:r>
            <a:r>
              <a:rPr lang="zh-CN" altLang="en-US" sz="1400" dirty="0">
                <a:latin typeface="微软雅黑" panose="020B0503020204020204" pitchFamily="34" charset="-122"/>
                <a:ea typeface="微软雅黑" panose="020B0503020204020204" pitchFamily="34" charset="-122"/>
              </a:rPr>
              <a:t>对象之前。先前版本中，</a:t>
            </a:r>
            <a:r>
              <a:rPr lang="en-US" altLang="zh-CN" sz="1400" dirty="0">
                <a:latin typeface="微软雅黑" panose="020B0503020204020204" pitchFamily="34" charset="-122"/>
                <a:ea typeface="微软雅黑" panose="020B0503020204020204" pitchFamily="34" charset="-122"/>
              </a:rPr>
              <a:t>Date</a:t>
            </a:r>
            <a:r>
              <a:rPr lang="zh-CN" altLang="en-US" sz="1400" dirty="0">
                <a:latin typeface="微软雅黑" panose="020B0503020204020204" pitchFamily="34" charset="-122"/>
                <a:ea typeface="微软雅黑" panose="020B0503020204020204" pitchFamily="34" charset="-122"/>
              </a:rPr>
              <a:t>和</a:t>
            </a:r>
            <a:r>
              <a:rPr lang="en-US" altLang="zh-CN" sz="1400" dirty="0">
                <a:latin typeface="微软雅黑" panose="020B0503020204020204" pitchFamily="34" charset="-122"/>
                <a:ea typeface="微软雅黑" panose="020B0503020204020204" pitchFamily="34" charset="-122"/>
              </a:rPr>
              <a:t>Timestamp</a:t>
            </a:r>
            <a:r>
              <a:rPr lang="zh-CN" altLang="en-US" sz="1400" dirty="0">
                <a:latin typeface="微软雅黑" panose="020B0503020204020204" pitchFamily="34" charset="-122"/>
                <a:ea typeface="微软雅黑" panose="020B0503020204020204" pitchFamily="34" charset="-122"/>
              </a:rPr>
              <a:t>对象是同等</a:t>
            </a:r>
            <a:r>
              <a:rPr lang="zh-CN" altLang="en-US" sz="1400" dirty="0" smtClean="0">
                <a:latin typeface="微软雅黑" panose="020B0503020204020204" pitchFamily="34" charset="-122"/>
                <a:ea typeface="微软雅黑" panose="020B0503020204020204" pitchFamily="34" charset="-122"/>
              </a:rPr>
              <a:t>的。</a:t>
            </a:r>
            <a:endParaRPr lang="zh-CN" altLang="en-US" sz="1400" dirty="0">
              <a:latin typeface="微软雅黑" panose="020B0503020204020204" pitchFamily="34" charset="-122"/>
              <a:ea typeface="微软雅黑" panose="020B0503020204020204" pitchFamily="34" charset="-122"/>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1" y="2420888"/>
            <a:ext cx="3819525" cy="3943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054411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2.5 </a:t>
            </a:r>
            <a:r>
              <a:rPr lang="zh-CN" altLang="en-US" b="1" i="1" dirty="0" smtClean="0">
                <a:solidFill>
                  <a:prstClr val="black"/>
                </a:solidFill>
                <a:latin typeface="微软雅黑" pitchFamily="34" charset="-122"/>
                <a:ea typeface="微软雅黑" pitchFamily="34" charset="-122"/>
              </a:rPr>
              <a:t>数据类型</a:t>
            </a:r>
            <a:r>
              <a:rPr lang="en-US" altLang="zh-CN" b="1" i="1" dirty="0" smtClean="0">
                <a:solidFill>
                  <a:prstClr val="black"/>
                </a:solidFill>
                <a:latin typeface="微软雅黑" pitchFamily="34" charset="-122"/>
                <a:ea typeface="微软雅黑" pitchFamily="34" charset="-122"/>
              </a:rPr>
              <a:t>-null</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sz="1800" dirty="0" smtClean="0">
                <a:solidFill>
                  <a:srgbClr val="000000"/>
                </a:solidFill>
                <a:latin typeface="Consolas"/>
              </a:rPr>
              <a:t>{</a:t>
            </a:r>
            <a:r>
              <a:rPr lang="en-US" altLang="zh-CN" sz="1800" dirty="0">
                <a:solidFill>
                  <a:srgbClr val="000000"/>
                </a:solidFill>
                <a:latin typeface="Consolas"/>
              </a:rPr>
              <a:t> _id: </a:t>
            </a:r>
            <a:r>
              <a:rPr lang="en-US" altLang="zh-CN" sz="1800" dirty="0">
                <a:solidFill>
                  <a:srgbClr val="800000"/>
                </a:solidFill>
                <a:latin typeface="Consolas"/>
              </a:rPr>
              <a:t>1</a:t>
            </a:r>
            <a:r>
              <a:rPr lang="en-US" altLang="zh-CN" sz="1800" dirty="0">
                <a:solidFill>
                  <a:srgbClr val="000000"/>
                </a:solidFill>
                <a:latin typeface="Consolas"/>
              </a:rPr>
              <a:t>, </a:t>
            </a:r>
            <a:r>
              <a:rPr lang="en-US" altLang="zh-CN" sz="1800" dirty="0" err="1">
                <a:solidFill>
                  <a:srgbClr val="000000"/>
                </a:solidFill>
                <a:latin typeface="Consolas"/>
              </a:rPr>
              <a:t>cancelDate</a:t>
            </a:r>
            <a:r>
              <a:rPr lang="en-US" altLang="zh-CN" sz="1800" dirty="0">
                <a:solidFill>
                  <a:srgbClr val="000000"/>
                </a:solidFill>
                <a:latin typeface="Consolas"/>
              </a:rPr>
              <a:t>: null }</a:t>
            </a:r>
            <a:endParaRPr lang="en-US" altLang="zh-CN" sz="1800" dirty="0">
              <a:solidFill>
                <a:srgbClr val="000000"/>
              </a:solidFill>
              <a:latin typeface="Verdana"/>
            </a:endParaRPr>
          </a:p>
          <a:p>
            <a:pPr marL="0" indent="0">
              <a:buNone/>
            </a:pPr>
            <a:r>
              <a:rPr lang="en-US" altLang="zh-CN" sz="1800" dirty="0">
                <a:solidFill>
                  <a:srgbClr val="000000"/>
                </a:solidFill>
                <a:latin typeface="Consolas"/>
              </a:rPr>
              <a:t>{ _id: </a:t>
            </a:r>
            <a:r>
              <a:rPr lang="en-US" altLang="zh-CN" sz="1800" dirty="0">
                <a:solidFill>
                  <a:srgbClr val="800000"/>
                </a:solidFill>
                <a:latin typeface="Consolas"/>
              </a:rPr>
              <a:t>2</a:t>
            </a:r>
            <a:r>
              <a:rPr lang="en-US" altLang="zh-CN" sz="1800" dirty="0">
                <a:solidFill>
                  <a:srgbClr val="000000"/>
                </a:solidFill>
                <a:latin typeface="Consolas"/>
              </a:rPr>
              <a:t> </a:t>
            </a:r>
            <a:r>
              <a:rPr lang="en-US" altLang="zh-CN" sz="1800" dirty="0" smtClean="0">
                <a:solidFill>
                  <a:srgbClr val="000000"/>
                </a:solidFill>
                <a:latin typeface="Consolas"/>
              </a:rPr>
              <a:t>}</a:t>
            </a:r>
          </a:p>
          <a:p>
            <a:pPr marL="0" indent="0">
              <a:buNone/>
            </a:pPr>
            <a:r>
              <a:rPr lang="en-US" altLang="zh-CN" sz="1800" dirty="0" smtClean="0">
                <a:solidFill>
                  <a:srgbClr val="000000"/>
                </a:solidFill>
                <a:latin typeface="Consolas"/>
              </a:rPr>
              <a:t>---------------</a:t>
            </a:r>
          </a:p>
          <a:p>
            <a:r>
              <a:rPr lang="en-US" altLang="zh-CN" sz="1800" dirty="0" err="1">
                <a:solidFill>
                  <a:srgbClr val="000000"/>
                </a:solidFill>
                <a:latin typeface="Consolas"/>
              </a:rPr>
              <a:t>db.test.find</a:t>
            </a:r>
            <a:r>
              <a:rPr lang="en-US" altLang="zh-CN" sz="1800" dirty="0">
                <a:solidFill>
                  <a:srgbClr val="000000"/>
                </a:solidFill>
                <a:latin typeface="Consolas"/>
              </a:rPr>
              <a:t>( { </a:t>
            </a:r>
            <a:r>
              <a:rPr lang="en-US" altLang="zh-CN" sz="1800" dirty="0" err="1">
                <a:solidFill>
                  <a:srgbClr val="000000"/>
                </a:solidFill>
                <a:latin typeface="Consolas"/>
              </a:rPr>
              <a:t>cancelDate</a:t>
            </a:r>
            <a:r>
              <a:rPr lang="en-US" altLang="zh-CN" sz="1800" dirty="0">
                <a:solidFill>
                  <a:srgbClr val="000000"/>
                </a:solidFill>
                <a:latin typeface="Consolas"/>
              </a:rPr>
              <a:t>: null } )</a:t>
            </a:r>
            <a:endParaRPr lang="en-US" altLang="zh-CN" sz="1800" dirty="0">
              <a:solidFill>
                <a:srgbClr val="000000"/>
              </a:solidFill>
              <a:latin typeface="Verdana"/>
            </a:endParaRPr>
          </a:p>
          <a:p>
            <a:pPr marL="0" indent="0">
              <a:buNone/>
            </a:pPr>
            <a:r>
              <a:rPr lang="en-US" altLang="zh-CN" sz="1800" dirty="0" smtClean="0">
                <a:solidFill>
                  <a:srgbClr val="000000"/>
                </a:solidFill>
                <a:latin typeface="Consolas"/>
              </a:rPr>
              <a:t>{</a:t>
            </a:r>
            <a:r>
              <a:rPr lang="en-US" altLang="zh-CN" sz="1800" dirty="0">
                <a:solidFill>
                  <a:srgbClr val="000000"/>
                </a:solidFill>
                <a:latin typeface="Consolas"/>
              </a:rPr>
              <a:t> </a:t>
            </a:r>
            <a:r>
              <a:rPr lang="en-US" altLang="zh-CN" sz="1800" i="1" dirty="0">
                <a:solidFill>
                  <a:srgbClr val="00AA00"/>
                </a:solidFill>
                <a:latin typeface="Consolas"/>
              </a:rPr>
              <a:t>"_id"</a:t>
            </a:r>
            <a:r>
              <a:rPr lang="en-US" altLang="zh-CN" sz="1800" dirty="0">
                <a:solidFill>
                  <a:srgbClr val="000000"/>
                </a:solidFill>
                <a:latin typeface="Consolas"/>
              </a:rPr>
              <a:t> : </a:t>
            </a:r>
            <a:r>
              <a:rPr lang="en-US" altLang="zh-CN" sz="1800" dirty="0">
                <a:solidFill>
                  <a:srgbClr val="800000"/>
                </a:solidFill>
                <a:latin typeface="Consolas"/>
              </a:rPr>
              <a:t>1</a:t>
            </a:r>
            <a:r>
              <a:rPr lang="en-US" altLang="zh-CN" sz="1800" dirty="0">
                <a:solidFill>
                  <a:srgbClr val="000000"/>
                </a:solidFill>
                <a:latin typeface="Consolas"/>
              </a:rPr>
              <a:t>, </a:t>
            </a:r>
            <a:r>
              <a:rPr lang="en-US" altLang="zh-CN" sz="1800" i="1" dirty="0">
                <a:solidFill>
                  <a:srgbClr val="00AA00"/>
                </a:solidFill>
                <a:latin typeface="Consolas"/>
              </a:rPr>
              <a:t>"</a:t>
            </a:r>
            <a:r>
              <a:rPr lang="en-US" altLang="zh-CN" sz="1800" i="1" dirty="0" err="1">
                <a:solidFill>
                  <a:srgbClr val="00AA00"/>
                </a:solidFill>
                <a:latin typeface="Consolas"/>
              </a:rPr>
              <a:t>cancelDate</a:t>
            </a:r>
            <a:r>
              <a:rPr lang="en-US" altLang="zh-CN" sz="1800" i="1" dirty="0">
                <a:solidFill>
                  <a:srgbClr val="00AA00"/>
                </a:solidFill>
                <a:latin typeface="Consolas"/>
              </a:rPr>
              <a:t>"</a:t>
            </a:r>
            <a:r>
              <a:rPr lang="en-US" altLang="zh-CN" sz="1800" dirty="0">
                <a:solidFill>
                  <a:srgbClr val="000000"/>
                </a:solidFill>
                <a:latin typeface="Consolas"/>
              </a:rPr>
              <a:t> : null }</a:t>
            </a:r>
            <a:endParaRPr lang="en-US" altLang="zh-CN" sz="1800" dirty="0">
              <a:solidFill>
                <a:srgbClr val="000000"/>
              </a:solidFill>
              <a:latin typeface="Verdana"/>
            </a:endParaRPr>
          </a:p>
          <a:p>
            <a:pPr marL="0" indent="0">
              <a:buNone/>
            </a:pPr>
            <a:r>
              <a:rPr lang="en-US" altLang="zh-CN" sz="1800" dirty="0">
                <a:solidFill>
                  <a:srgbClr val="000000"/>
                </a:solidFill>
                <a:latin typeface="Consolas"/>
              </a:rPr>
              <a:t>{ </a:t>
            </a:r>
            <a:r>
              <a:rPr lang="en-US" altLang="zh-CN" sz="1800" i="1" dirty="0">
                <a:solidFill>
                  <a:srgbClr val="00AA00"/>
                </a:solidFill>
                <a:latin typeface="Consolas"/>
              </a:rPr>
              <a:t>"_id"</a:t>
            </a:r>
            <a:r>
              <a:rPr lang="en-US" altLang="zh-CN" sz="1800" dirty="0">
                <a:solidFill>
                  <a:srgbClr val="000000"/>
                </a:solidFill>
                <a:latin typeface="Consolas"/>
              </a:rPr>
              <a:t> : </a:t>
            </a:r>
            <a:r>
              <a:rPr lang="en-US" altLang="zh-CN" sz="1800" dirty="0">
                <a:solidFill>
                  <a:srgbClr val="800000"/>
                </a:solidFill>
                <a:latin typeface="Consolas"/>
              </a:rPr>
              <a:t>2</a:t>
            </a:r>
            <a:r>
              <a:rPr lang="en-US" altLang="zh-CN" sz="1800" dirty="0">
                <a:solidFill>
                  <a:srgbClr val="000000"/>
                </a:solidFill>
                <a:latin typeface="Consolas"/>
              </a:rPr>
              <a:t> }</a:t>
            </a:r>
            <a:endParaRPr lang="en-US" altLang="zh-CN" sz="1800" dirty="0">
              <a:solidFill>
                <a:srgbClr val="000000"/>
              </a:solidFill>
              <a:latin typeface="Verdana"/>
            </a:endParaRPr>
          </a:p>
          <a:p>
            <a:pPr marL="0" lvl="0" indent="0">
              <a:buNone/>
            </a:pPr>
            <a:r>
              <a:rPr lang="en-US" altLang="zh-CN" sz="1800" dirty="0">
                <a:solidFill>
                  <a:srgbClr val="000000"/>
                </a:solidFill>
                <a:latin typeface="Consolas"/>
              </a:rPr>
              <a:t>---------------</a:t>
            </a:r>
          </a:p>
          <a:p>
            <a:r>
              <a:rPr lang="en-US" altLang="zh-CN" sz="1800" dirty="0" err="1">
                <a:solidFill>
                  <a:srgbClr val="000000"/>
                </a:solidFill>
                <a:latin typeface="Consolas"/>
              </a:rPr>
              <a:t>db.test.find</a:t>
            </a:r>
            <a:r>
              <a:rPr lang="en-US" altLang="zh-CN" sz="1800" dirty="0">
                <a:solidFill>
                  <a:srgbClr val="000000"/>
                </a:solidFill>
                <a:latin typeface="Consolas"/>
              </a:rPr>
              <a:t>( { </a:t>
            </a:r>
            <a:r>
              <a:rPr lang="en-US" altLang="zh-CN" sz="1800" dirty="0" err="1">
                <a:solidFill>
                  <a:srgbClr val="000000"/>
                </a:solidFill>
                <a:latin typeface="Consolas"/>
              </a:rPr>
              <a:t>cancelDate</a:t>
            </a:r>
            <a:r>
              <a:rPr lang="en-US" altLang="zh-CN" sz="1800" dirty="0">
                <a:solidFill>
                  <a:srgbClr val="000000"/>
                </a:solidFill>
                <a:latin typeface="Consolas"/>
              </a:rPr>
              <a:t> : { $type: </a:t>
            </a:r>
            <a:r>
              <a:rPr lang="en-US" altLang="zh-CN" sz="1800" dirty="0">
                <a:solidFill>
                  <a:srgbClr val="800000"/>
                </a:solidFill>
                <a:latin typeface="Consolas"/>
              </a:rPr>
              <a:t>10</a:t>
            </a:r>
            <a:r>
              <a:rPr lang="en-US" altLang="zh-CN" sz="1800" dirty="0">
                <a:solidFill>
                  <a:srgbClr val="000000"/>
                </a:solidFill>
                <a:latin typeface="Consolas"/>
              </a:rPr>
              <a:t> } } )</a:t>
            </a:r>
            <a:endParaRPr lang="en-US" altLang="zh-CN" sz="1800" dirty="0">
              <a:solidFill>
                <a:srgbClr val="000000"/>
              </a:solidFill>
              <a:latin typeface="Verdana"/>
            </a:endParaRPr>
          </a:p>
          <a:p>
            <a:pPr marL="0" indent="0">
              <a:buNone/>
            </a:pPr>
            <a:r>
              <a:rPr lang="en-US" altLang="zh-CN" sz="1800" dirty="0" smtClean="0">
                <a:solidFill>
                  <a:srgbClr val="000000"/>
                </a:solidFill>
                <a:latin typeface="Consolas"/>
              </a:rPr>
              <a:t>{</a:t>
            </a:r>
            <a:r>
              <a:rPr lang="en-US" altLang="zh-CN" sz="1800" dirty="0">
                <a:solidFill>
                  <a:srgbClr val="000000"/>
                </a:solidFill>
                <a:latin typeface="Consolas"/>
              </a:rPr>
              <a:t> </a:t>
            </a:r>
            <a:r>
              <a:rPr lang="en-US" altLang="zh-CN" sz="1800" i="1" dirty="0">
                <a:solidFill>
                  <a:srgbClr val="00AA00"/>
                </a:solidFill>
                <a:latin typeface="Consolas"/>
              </a:rPr>
              <a:t>"_id"</a:t>
            </a:r>
            <a:r>
              <a:rPr lang="en-US" altLang="zh-CN" sz="1800" dirty="0">
                <a:solidFill>
                  <a:srgbClr val="000000"/>
                </a:solidFill>
                <a:latin typeface="Consolas"/>
              </a:rPr>
              <a:t> : </a:t>
            </a:r>
            <a:r>
              <a:rPr lang="en-US" altLang="zh-CN" sz="1800" dirty="0">
                <a:solidFill>
                  <a:srgbClr val="800000"/>
                </a:solidFill>
                <a:latin typeface="Consolas"/>
              </a:rPr>
              <a:t>1</a:t>
            </a:r>
            <a:r>
              <a:rPr lang="en-US" altLang="zh-CN" sz="1800" dirty="0">
                <a:solidFill>
                  <a:srgbClr val="000000"/>
                </a:solidFill>
                <a:latin typeface="Consolas"/>
              </a:rPr>
              <a:t>, </a:t>
            </a:r>
            <a:r>
              <a:rPr lang="en-US" altLang="zh-CN" sz="1800" i="1" dirty="0">
                <a:solidFill>
                  <a:srgbClr val="00AA00"/>
                </a:solidFill>
                <a:latin typeface="Consolas"/>
              </a:rPr>
              <a:t>"</a:t>
            </a:r>
            <a:r>
              <a:rPr lang="en-US" altLang="zh-CN" sz="1800" i="1" dirty="0" err="1">
                <a:solidFill>
                  <a:srgbClr val="00AA00"/>
                </a:solidFill>
                <a:latin typeface="Consolas"/>
              </a:rPr>
              <a:t>cancelDate</a:t>
            </a:r>
            <a:r>
              <a:rPr lang="en-US" altLang="zh-CN" sz="1800" i="1" dirty="0">
                <a:solidFill>
                  <a:srgbClr val="00AA00"/>
                </a:solidFill>
                <a:latin typeface="Consolas"/>
              </a:rPr>
              <a:t>"</a:t>
            </a:r>
            <a:r>
              <a:rPr lang="en-US" altLang="zh-CN" sz="1800" dirty="0">
                <a:solidFill>
                  <a:srgbClr val="000000"/>
                </a:solidFill>
                <a:latin typeface="Consolas"/>
              </a:rPr>
              <a:t> : null </a:t>
            </a:r>
            <a:r>
              <a:rPr lang="en-US" altLang="zh-CN" sz="1800" dirty="0" smtClean="0">
                <a:solidFill>
                  <a:srgbClr val="000000"/>
                </a:solidFill>
                <a:latin typeface="Consolas"/>
              </a:rPr>
              <a:t>}</a:t>
            </a:r>
          </a:p>
          <a:p>
            <a:pPr marL="0" lvl="0" indent="0">
              <a:buNone/>
            </a:pPr>
            <a:r>
              <a:rPr lang="en-US" altLang="zh-CN" sz="1800" dirty="0" smtClean="0">
                <a:solidFill>
                  <a:srgbClr val="000000"/>
                </a:solidFill>
                <a:latin typeface="Consolas"/>
              </a:rPr>
              <a:t>---------------</a:t>
            </a:r>
            <a:endParaRPr lang="en-US" altLang="zh-CN" sz="1800" dirty="0">
              <a:solidFill>
                <a:srgbClr val="000000"/>
              </a:solidFill>
              <a:latin typeface="Verdana"/>
            </a:endParaRPr>
          </a:p>
          <a:p>
            <a:r>
              <a:rPr lang="en-US" altLang="zh-CN" sz="1800" dirty="0" err="1">
                <a:solidFill>
                  <a:srgbClr val="000000"/>
                </a:solidFill>
                <a:latin typeface="Consolas"/>
              </a:rPr>
              <a:t>db.test.find</a:t>
            </a:r>
            <a:r>
              <a:rPr lang="en-US" altLang="zh-CN" sz="1800" dirty="0">
                <a:solidFill>
                  <a:srgbClr val="000000"/>
                </a:solidFill>
                <a:latin typeface="Consolas"/>
              </a:rPr>
              <a:t>( { </a:t>
            </a:r>
            <a:r>
              <a:rPr lang="en-US" altLang="zh-CN" sz="1800" dirty="0" err="1">
                <a:solidFill>
                  <a:srgbClr val="000000"/>
                </a:solidFill>
                <a:latin typeface="Consolas"/>
              </a:rPr>
              <a:t>cancelDate</a:t>
            </a:r>
            <a:r>
              <a:rPr lang="en-US" altLang="zh-CN" sz="1800" dirty="0">
                <a:solidFill>
                  <a:srgbClr val="000000"/>
                </a:solidFill>
                <a:latin typeface="Consolas"/>
              </a:rPr>
              <a:t> : { $exists: false } } )</a:t>
            </a:r>
            <a:endParaRPr lang="en-US" altLang="zh-CN" sz="1800" dirty="0">
              <a:solidFill>
                <a:srgbClr val="000000"/>
              </a:solidFill>
              <a:latin typeface="Verdana"/>
            </a:endParaRPr>
          </a:p>
          <a:p>
            <a:pPr marL="0" indent="0">
              <a:buNone/>
            </a:pPr>
            <a:r>
              <a:rPr lang="en-US" altLang="zh-CN" sz="1800" dirty="0" smtClean="0">
                <a:solidFill>
                  <a:srgbClr val="000000"/>
                </a:solidFill>
                <a:latin typeface="Consolas"/>
              </a:rPr>
              <a:t>{</a:t>
            </a:r>
            <a:r>
              <a:rPr lang="en-US" altLang="zh-CN" sz="1800" dirty="0">
                <a:solidFill>
                  <a:srgbClr val="000000"/>
                </a:solidFill>
                <a:latin typeface="Consolas"/>
              </a:rPr>
              <a:t> </a:t>
            </a:r>
            <a:r>
              <a:rPr lang="en-US" altLang="zh-CN" sz="1800" i="1" dirty="0">
                <a:solidFill>
                  <a:srgbClr val="00AA00"/>
                </a:solidFill>
                <a:latin typeface="Consolas"/>
              </a:rPr>
              <a:t>"_id"</a:t>
            </a:r>
            <a:r>
              <a:rPr lang="en-US" altLang="zh-CN" sz="1800" dirty="0">
                <a:solidFill>
                  <a:srgbClr val="000000"/>
                </a:solidFill>
                <a:latin typeface="Consolas"/>
              </a:rPr>
              <a:t> : </a:t>
            </a:r>
            <a:r>
              <a:rPr lang="en-US" altLang="zh-CN" sz="1800" dirty="0">
                <a:solidFill>
                  <a:srgbClr val="800000"/>
                </a:solidFill>
                <a:latin typeface="Consolas"/>
              </a:rPr>
              <a:t>2</a:t>
            </a:r>
            <a:r>
              <a:rPr lang="en-US" altLang="zh-CN" sz="1800" dirty="0">
                <a:solidFill>
                  <a:srgbClr val="000000"/>
                </a:solidFill>
                <a:latin typeface="Consolas"/>
              </a:rPr>
              <a:t> }</a:t>
            </a:r>
            <a:endParaRPr lang="en-US" altLang="zh-CN" sz="1800" dirty="0">
              <a:solidFill>
                <a:srgbClr val="000000"/>
              </a:solidFill>
              <a:latin typeface="Verdana"/>
            </a:endParaRPr>
          </a:p>
          <a:p>
            <a:pPr marL="0" indent="0">
              <a:buNone/>
            </a:pPr>
            <a:endParaRPr lang="en-US" altLang="zh-CN" dirty="0">
              <a:solidFill>
                <a:srgbClr val="000000"/>
              </a:solidFill>
              <a:latin typeface="Verdana"/>
            </a:endParaRPr>
          </a:p>
          <a:p>
            <a:endParaRPr lang="zh-CN" altLang="en-US" dirty="0"/>
          </a:p>
        </p:txBody>
      </p:sp>
    </p:spTree>
    <p:extLst>
      <p:ext uri="{BB962C8B-B14F-4D97-AF65-F5344CB8AC3E}">
        <p14:creationId xmlns:p14="http://schemas.microsoft.com/office/powerpoint/2010/main" val="28570334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600200"/>
          </a:xfrm>
        </p:spPr>
        <p:txBody>
          <a:bodyPr/>
          <a:lstStyle/>
          <a:p>
            <a:r>
              <a:rPr lang="en-US" altLang="zh-CN" b="1" i="1" dirty="0">
                <a:solidFill>
                  <a:prstClr val="black"/>
                </a:solidFill>
                <a:latin typeface="微软雅黑" pitchFamily="34" charset="-122"/>
                <a:ea typeface="微软雅黑" pitchFamily="34" charset="-122"/>
              </a:rPr>
              <a:t>2.5 </a:t>
            </a:r>
            <a:r>
              <a:rPr lang="zh-CN" altLang="en-US" b="1" i="1" dirty="0">
                <a:solidFill>
                  <a:prstClr val="black"/>
                </a:solidFill>
                <a:latin typeface="微软雅黑" pitchFamily="34" charset="-122"/>
                <a:ea typeface="微软雅黑" pitchFamily="34" charset="-122"/>
              </a:rPr>
              <a:t>数据类型</a:t>
            </a:r>
            <a:r>
              <a:rPr lang="en-US" altLang="zh-CN" b="1" i="1" dirty="0" smtClean="0">
                <a:solidFill>
                  <a:prstClr val="black"/>
                </a:solidFill>
                <a:latin typeface="微软雅黑" pitchFamily="34" charset="-122"/>
                <a:ea typeface="微软雅黑" pitchFamily="34" charset="-122"/>
              </a:rPr>
              <a:t>-</a:t>
            </a:r>
            <a:r>
              <a:rPr lang="zh-CN" altLang="en-US" b="1" i="1" dirty="0">
                <a:solidFill>
                  <a:prstClr val="black"/>
                </a:solidFill>
                <a:latin typeface="微软雅黑" pitchFamily="34" charset="-122"/>
                <a:ea typeface="微软雅黑" pitchFamily="34" charset="-122"/>
              </a:rPr>
              <a:t>内</a:t>
            </a:r>
            <a:r>
              <a:rPr lang="zh-CN" altLang="en-US" b="1" i="1" dirty="0" smtClean="0">
                <a:solidFill>
                  <a:prstClr val="black"/>
                </a:solidFill>
                <a:latin typeface="微软雅黑" pitchFamily="34" charset="-122"/>
                <a:ea typeface="微软雅黑" pitchFamily="34" charset="-122"/>
              </a:rPr>
              <a:t>嵌文档和数组</a:t>
            </a:r>
            <a:endParaRPr lang="zh-CN" altLang="en-US" dirty="0"/>
          </a:p>
        </p:txBody>
      </p:sp>
      <p:sp>
        <p:nvSpPr>
          <p:cNvPr id="3" name="内容占位符 2"/>
          <p:cNvSpPr>
            <a:spLocks noGrp="1"/>
          </p:cNvSpPr>
          <p:nvPr>
            <p:ph idx="1"/>
          </p:nvPr>
        </p:nvSpPr>
        <p:spPr/>
        <p:txBody>
          <a:bodyPr/>
          <a:lstStyle/>
          <a:p>
            <a:r>
              <a:rPr lang="zh-CN" altLang="en-US" dirty="0">
                <a:solidFill>
                  <a:prstClr val="black">
                    <a:lumMod val="50000"/>
                    <a:lumOff val="50000"/>
                  </a:prstClr>
                </a:solidFill>
                <a:latin typeface="微软雅黑" panose="020B0503020204020204" pitchFamily="34" charset="-122"/>
                <a:ea typeface="微软雅黑" panose="020B0503020204020204" pitchFamily="34" charset="-122"/>
              </a:rPr>
              <a:t>通过内嵌冗余文档</a:t>
            </a:r>
            <a:r>
              <a:rPr lang="zh-CN" altLang="en-US" dirty="0" smtClean="0">
                <a:solidFill>
                  <a:prstClr val="black">
                    <a:lumMod val="50000"/>
                    <a:lumOff val="50000"/>
                  </a:prstClr>
                </a:solidFill>
                <a:latin typeface="微软雅黑" panose="020B0503020204020204" pitchFamily="34" charset="-122"/>
                <a:ea typeface="微软雅黑" panose="020B0503020204020204" pitchFamily="34" charset="-122"/>
              </a:rPr>
              <a:t>、数组的方式解决一些事务和</a:t>
            </a:r>
            <a:r>
              <a:rPr lang="en-US" altLang="zh-CN" dirty="0" smtClean="0">
                <a:solidFill>
                  <a:prstClr val="black">
                    <a:lumMod val="50000"/>
                    <a:lumOff val="50000"/>
                  </a:prstClr>
                </a:solidFill>
                <a:latin typeface="微软雅黑" panose="020B0503020204020204" pitchFamily="34" charset="-122"/>
                <a:ea typeface="微软雅黑" panose="020B0503020204020204" pitchFamily="34" charset="-122"/>
              </a:rPr>
              <a:t>join</a:t>
            </a:r>
            <a:r>
              <a:rPr lang="zh-CN" altLang="en-US" dirty="0" smtClean="0">
                <a:solidFill>
                  <a:prstClr val="black">
                    <a:lumMod val="50000"/>
                    <a:lumOff val="50000"/>
                  </a:prstClr>
                </a:solidFill>
                <a:latin typeface="微软雅黑" panose="020B0503020204020204" pitchFamily="34" charset="-122"/>
                <a:ea typeface="微软雅黑" panose="020B0503020204020204" pitchFamily="34" charset="-122"/>
              </a:rPr>
              <a:t>查询的需求。</a:t>
            </a:r>
            <a:endParaRPr lang="en-US" altLang="zh-CN" dirty="0" smtClean="0">
              <a:solidFill>
                <a:prstClr val="black">
                  <a:lumMod val="50000"/>
                  <a:lumOff val="50000"/>
                </a:prstClr>
              </a:solidFill>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数组元素和内嵌文档字段也可以建索引。</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在文档中使用数组的时候，同时在文档中维护数组的长度。</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数组元素经常动态增减且元素过多的，不要使用内嵌数组的方式。</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数组不是</a:t>
            </a:r>
            <a:r>
              <a:rPr lang="en-US" altLang="zh-CN" dirty="0" err="1" smtClean="0">
                <a:latin typeface="微软雅黑" panose="020B0503020204020204" pitchFamily="34" charset="-122"/>
                <a:ea typeface="微软雅黑" panose="020B0503020204020204" pitchFamily="34" charset="-122"/>
              </a:rPr>
              <a:t>HashSet</a:t>
            </a:r>
            <a:r>
              <a:rPr lang="zh-CN" altLang="en-US" dirty="0" smtClean="0">
                <a:latin typeface="微软雅黑" panose="020B0503020204020204" pitchFamily="34" charset="-122"/>
                <a:ea typeface="微软雅黑" panose="020B0503020204020204" pitchFamily="34" charset="-122"/>
              </a:rPr>
              <a:t>，尽量不要使用数组来排重。</a:t>
            </a:r>
            <a:endParaRPr lang="en-US" altLang="zh-CN" dirty="0" smtClean="0">
              <a:latin typeface="微软雅黑" panose="020B0503020204020204" pitchFamily="34" charset="-122"/>
              <a:ea typeface="微软雅黑" panose="020B0503020204020204" pitchFamily="34" charset="-122"/>
            </a:endParaRPr>
          </a:p>
          <a:p>
            <a:endParaRPr lang="en-US" altLang="zh-CN" dirty="0" smtClean="0">
              <a:latin typeface="微软雅黑" panose="020B0503020204020204" pitchFamily="34" charset="-122"/>
              <a:ea typeface="微软雅黑" panose="020B0503020204020204" pitchFamily="34" charset="-122"/>
            </a:endParaRPr>
          </a:p>
          <a:p>
            <a:endParaRPr lang="en-US" altLang="zh-CN" dirty="0" smtClean="0">
              <a:latin typeface="微软雅黑" panose="020B0503020204020204" pitchFamily="34" charset="-122"/>
              <a:ea typeface="微软雅黑" panose="020B0503020204020204" pitchFamily="34" charset="-122"/>
            </a:endParaRPr>
          </a:p>
          <a:p>
            <a:pPr marL="457200" lvl="1" indent="0">
              <a:buNone/>
            </a:pPr>
            <a:endParaRPr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1641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2.5 </a:t>
            </a:r>
            <a:r>
              <a:rPr lang="zh-CN" altLang="en-US" b="1" i="1" dirty="0">
                <a:solidFill>
                  <a:prstClr val="black"/>
                </a:solidFill>
                <a:latin typeface="微软雅黑" pitchFamily="34" charset="-122"/>
                <a:ea typeface="微软雅黑" pitchFamily="34" charset="-122"/>
              </a:rPr>
              <a:t>数据类型</a:t>
            </a:r>
            <a:r>
              <a:rPr lang="en-US" altLang="zh-CN" b="1" i="1" dirty="0" smtClean="0">
                <a:solidFill>
                  <a:prstClr val="black"/>
                </a:solidFill>
                <a:latin typeface="微软雅黑" pitchFamily="34" charset="-122"/>
                <a:ea typeface="微软雅黑" pitchFamily="34" charset="-122"/>
              </a:rPr>
              <a:t>-</a:t>
            </a:r>
            <a:r>
              <a:rPr lang="en-US" altLang="zh-CN" b="1" i="1" dirty="0" err="1" smtClean="0">
                <a:solidFill>
                  <a:prstClr val="black"/>
                </a:solidFill>
                <a:latin typeface="微软雅黑" pitchFamily="34" charset="-122"/>
                <a:ea typeface="微软雅黑" pitchFamily="34" charset="-122"/>
              </a:rPr>
              <a:t>ObjectId</a:t>
            </a:r>
            <a:endParaRPr lang="zh-CN" altLang="en-US" dirty="0"/>
          </a:p>
        </p:txBody>
      </p:sp>
      <p:sp>
        <p:nvSpPr>
          <p:cNvPr id="3" name="内容占位符 2"/>
          <p:cNvSpPr>
            <a:spLocks noGrp="1"/>
          </p:cNvSpPr>
          <p:nvPr>
            <p:ph idx="1"/>
          </p:nvPr>
        </p:nvSpPr>
        <p:spPr/>
        <p:txBody>
          <a:bodyPr/>
          <a:lstStyle/>
          <a:p>
            <a:r>
              <a:rPr lang="en-US" altLang="zh-CN" dirty="0" smtClean="0">
                <a:latin typeface="微软雅黑" panose="020B0503020204020204" pitchFamily="34" charset="-122"/>
                <a:ea typeface="微软雅黑" panose="020B0503020204020204" pitchFamily="34" charset="-122"/>
              </a:rPr>
              <a:t>_id</a:t>
            </a:r>
            <a:r>
              <a:rPr lang="zh-CN" altLang="en-US" dirty="0" smtClean="0">
                <a:latin typeface="微软雅黑" panose="020B0503020204020204" pitchFamily="34" charset="-122"/>
                <a:ea typeface="微软雅黑" panose="020B0503020204020204" pitchFamily="34" charset="-122"/>
              </a:rPr>
              <a:t>的默认类型</a:t>
            </a:r>
            <a:endParaRPr lang="en-US" altLang="zh-CN" dirty="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时间戳</a:t>
            </a:r>
            <a:r>
              <a:rPr lang="en-US" altLang="zh-CN" dirty="0" smtClean="0">
                <a:latin typeface="微软雅黑" panose="020B0503020204020204" pitchFamily="34" charset="-122"/>
                <a:ea typeface="微软雅黑" panose="020B0503020204020204" pitchFamily="34" charset="-122"/>
              </a:rPr>
              <a:t>(4byte,</a:t>
            </a:r>
            <a:r>
              <a:rPr lang="zh-CN" altLang="en-US" dirty="0" smtClean="0">
                <a:latin typeface="微软雅黑" panose="020B0503020204020204" pitchFamily="34" charset="-122"/>
                <a:ea typeface="微软雅黑" panose="020B0503020204020204" pitchFamily="34" charset="-122"/>
              </a:rPr>
              <a:t>秒级</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机器标识</a:t>
            </a:r>
            <a:r>
              <a:rPr lang="en-US" altLang="zh-CN" dirty="0" smtClean="0">
                <a:latin typeface="微软雅黑" panose="020B0503020204020204" pitchFamily="34" charset="-122"/>
                <a:ea typeface="微软雅黑" panose="020B0503020204020204" pitchFamily="34" charset="-122"/>
              </a:rPr>
              <a:t>(3byte)+PID(2byte)+</a:t>
            </a:r>
            <a:r>
              <a:rPr lang="zh-CN" altLang="en-US" dirty="0" smtClean="0">
                <a:latin typeface="微软雅黑" panose="020B0503020204020204" pitchFamily="34" charset="-122"/>
                <a:ea typeface="微软雅黑" panose="020B0503020204020204" pitchFamily="34" charset="-122"/>
              </a:rPr>
              <a:t>计数器</a:t>
            </a:r>
            <a:r>
              <a:rPr lang="en-US" altLang="zh-CN" dirty="0" smtClean="0">
                <a:latin typeface="微软雅黑" panose="020B0503020204020204" pitchFamily="34" charset="-122"/>
                <a:ea typeface="微软雅黑" panose="020B0503020204020204" pitchFamily="34" charset="-122"/>
              </a:rPr>
              <a:t>(3byte)</a:t>
            </a:r>
          </a:p>
          <a:p>
            <a:endParaRPr lang="en-US" altLang="zh-CN" dirty="0" smtClean="0">
              <a:latin typeface="微软雅黑" panose="020B0503020204020204" pitchFamily="34" charset="-122"/>
              <a:ea typeface="微软雅黑" panose="020B0503020204020204" pitchFamily="34" charset="-122"/>
            </a:endParaRPr>
          </a:p>
          <a:p>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尽量客户端生成，减轻服务端压力</a:t>
            </a:r>
            <a:endParaRPr lang="en-US" altLang="zh-CN" dirty="0" smtClean="0">
              <a:latin typeface="微软雅黑" panose="020B0503020204020204" pitchFamily="34" charset="-122"/>
              <a:ea typeface="微软雅黑" panose="020B0503020204020204" pitchFamily="34" charset="-122"/>
            </a:endParaRPr>
          </a:p>
          <a:p>
            <a:endParaRPr lang="en-US" altLang="zh-CN" dirty="0" smtClean="0"/>
          </a:p>
          <a:p>
            <a:endParaRPr lang="zh-CN" altLang="en-US" dirty="0"/>
          </a:p>
        </p:txBody>
      </p:sp>
      <p:pic>
        <p:nvPicPr>
          <p:cNvPr id="51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3350" y="2906118"/>
            <a:ext cx="3240360" cy="51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8859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600200"/>
          </a:xfrm>
        </p:spPr>
        <p:txBody>
          <a:bodyPr/>
          <a:lstStyle/>
          <a:p>
            <a:r>
              <a:rPr lang="en-US" altLang="zh-CN" b="1" i="1" dirty="0">
                <a:solidFill>
                  <a:prstClr val="black"/>
                </a:solidFill>
                <a:latin typeface="微软雅黑" pitchFamily="34" charset="-122"/>
                <a:ea typeface="微软雅黑" pitchFamily="34" charset="-122"/>
              </a:rPr>
              <a:t>2.5 </a:t>
            </a:r>
            <a:r>
              <a:rPr lang="zh-CN" altLang="en-US" b="1" i="1" dirty="0">
                <a:solidFill>
                  <a:prstClr val="black"/>
                </a:solidFill>
                <a:latin typeface="微软雅黑" pitchFamily="34" charset="-122"/>
                <a:ea typeface="微软雅黑" pitchFamily="34" charset="-122"/>
              </a:rPr>
              <a:t>数据类型</a:t>
            </a:r>
            <a:r>
              <a:rPr lang="en-US" altLang="zh-CN" b="1" i="1" dirty="0" smtClean="0">
                <a:solidFill>
                  <a:prstClr val="black"/>
                </a:solidFill>
                <a:latin typeface="微软雅黑" pitchFamily="34" charset="-122"/>
                <a:ea typeface="微软雅黑" pitchFamily="34" charset="-122"/>
              </a:rPr>
              <a:t>-</a:t>
            </a:r>
            <a:r>
              <a:rPr lang="zh-CN" altLang="en-US" b="1" i="1" dirty="0" smtClean="0">
                <a:solidFill>
                  <a:prstClr val="black"/>
                </a:solidFill>
                <a:latin typeface="微软雅黑" pitchFamily="34" charset="-122"/>
                <a:ea typeface="微软雅黑" pitchFamily="34" charset="-122"/>
              </a:rPr>
              <a:t>自定义</a:t>
            </a:r>
            <a:r>
              <a:rPr lang="en-US" altLang="zh-CN" b="1" i="1" dirty="0" smtClean="0">
                <a:solidFill>
                  <a:prstClr val="black"/>
                </a:solidFill>
                <a:latin typeface="微软雅黑" pitchFamily="34" charset="-122"/>
                <a:ea typeface="微软雅黑" pitchFamily="34" charset="-122"/>
              </a:rPr>
              <a:t>_id</a:t>
            </a:r>
            <a:endParaRPr lang="zh-CN" altLang="en-US" dirty="0"/>
          </a:p>
        </p:txBody>
      </p:sp>
      <p:sp>
        <p:nvSpPr>
          <p:cNvPr id="3" name="内容占位符 2"/>
          <p:cNvSpPr>
            <a:spLocks noGrp="1"/>
          </p:cNvSpPr>
          <p:nvPr>
            <p:ph idx="1"/>
          </p:nvPr>
        </p:nvSpPr>
        <p:spPr/>
        <p:txBody>
          <a:bodyPr>
            <a:normAutofit/>
          </a:bodyPr>
          <a:lstStyle/>
          <a:p>
            <a:r>
              <a:rPr lang="en-US" altLang="zh-CN" dirty="0" err="1" smtClean="0"/>
              <a:t>findAndModify</a:t>
            </a:r>
            <a:endParaRPr lang="en-US" altLang="zh-CN" dirty="0" smtClean="0"/>
          </a:p>
          <a:p>
            <a:pPr lvl="1"/>
            <a:r>
              <a:rPr lang="en-US" altLang="zh-CN" dirty="0" smtClean="0">
                <a:latin typeface="微软雅黑" pitchFamily="34" charset="-122"/>
                <a:ea typeface="微软雅黑" pitchFamily="34" charset="-122"/>
              </a:rPr>
              <a:t>CAS</a:t>
            </a:r>
          </a:p>
          <a:p>
            <a:pPr lvl="1"/>
            <a:r>
              <a:rPr lang="en-US" altLang="zh-CN" dirty="0" smtClean="0">
                <a:latin typeface="微软雅黑" pitchFamily="34" charset="-122"/>
                <a:ea typeface="微软雅黑" pitchFamily="34" charset="-122"/>
              </a:rPr>
              <a:t>Return new</a:t>
            </a:r>
          </a:p>
          <a:p>
            <a:pPr lvl="1"/>
            <a:endParaRPr lang="en-US" altLang="zh-CN" dirty="0"/>
          </a:p>
          <a:p>
            <a:endParaRPr lang="zh-CN" alt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852936"/>
            <a:ext cx="4032448" cy="3052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51027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2.5 </a:t>
            </a:r>
            <a:r>
              <a:rPr lang="zh-CN" altLang="en-US" b="1" i="1" dirty="0">
                <a:solidFill>
                  <a:prstClr val="black"/>
                </a:solidFill>
                <a:latin typeface="微软雅黑" pitchFamily="34" charset="-122"/>
                <a:ea typeface="微软雅黑" pitchFamily="34" charset="-122"/>
              </a:rPr>
              <a:t>数据类型</a:t>
            </a:r>
            <a:r>
              <a:rPr lang="en-US" altLang="zh-CN" b="1" i="1" dirty="0">
                <a:solidFill>
                  <a:prstClr val="black"/>
                </a:solidFill>
                <a:latin typeface="微软雅黑" pitchFamily="34" charset="-122"/>
                <a:ea typeface="微软雅黑" pitchFamily="34" charset="-122"/>
              </a:rPr>
              <a:t>-</a:t>
            </a:r>
            <a:r>
              <a:rPr lang="zh-CN" altLang="en-US" b="1" i="1" dirty="0">
                <a:solidFill>
                  <a:prstClr val="black"/>
                </a:solidFill>
                <a:latin typeface="微软雅黑" pitchFamily="34" charset="-122"/>
                <a:ea typeface="微软雅黑" pitchFamily="34" charset="-122"/>
              </a:rPr>
              <a:t>自定义</a:t>
            </a:r>
            <a:r>
              <a:rPr lang="en-US" altLang="zh-CN" b="1" i="1" dirty="0">
                <a:solidFill>
                  <a:prstClr val="black"/>
                </a:solidFill>
                <a:latin typeface="微软雅黑" pitchFamily="34" charset="-122"/>
                <a:ea typeface="微软雅黑" pitchFamily="34" charset="-122"/>
              </a:rPr>
              <a:t>_id</a:t>
            </a:r>
            <a:endParaRPr lang="zh-CN" altLang="en-US" dirty="0"/>
          </a:p>
        </p:txBody>
      </p:sp>
      <p:sp>
        <p:nvSpPr>
          <p:cNvPr id="3" name="内容占位符 2"/>
          <p:cNvSpPr>
            <a:spLocks noGrp="1"/>
          </p:cNvSpPr>
          <p:nvPr>
            <p:ph idx="1"/>
          </p:nvPr>
        </p:nvSpPr>
        <p:spPr>
          <a:xfrm>
            <a:off x="251520" y="1600200"/>
            <a:ext cx="8716568" cy="5069160"/>
          </a:xfrm>
        </p:spPr>
        <p:txBody>
          <a:bodyPr>
            <a:normAutofit/>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sz="2000" dirty="0" smtClean="0">
                <a:latin typeface="微软雅黑" pitchFamily="34" charset="-122"/>
                <a:ea typeface="微软雅黑" pitchFamily="34" charset="-122"/>
              </a:rPr>
              <a:t>1</a:t>
            </a:r>
            <a:r>
              <a:rPr lang="zh-CN" altLang="en-US" sz="2000" dirty="0" smtClean="0">
                <a:latin typeface="微软雅黑" pitchFamily="34" charset="-122"/>
                <a:ea typeface="微软雅黑" pitchFamily="34" charset="-122"/>
              </a:rPr>
              <a:t>）</a:t>
            </a:r>
            <a:r>
              <a:rPr lang="zh-CN" altLang="en-US" sz="1800" dirty="0" smtClean="0">
                <a:latin typeface="微软雅黑" pitchFamily="34" charset="-122"/>
                <a:ea typeface="微软雅黑" pitchFamily="34" charset="-122"/>
              </a:rPr>
              <a:t>简单的方式（</a:t>
            </a:r>
            <a:r>
              <a:rPr lang="en-US" altLang="zh-CN" sz="1800" dirty="0" err="1">
                <a:latin typeface="微软雅黑" pitchFamily="34" charset="-122"/>
                <a:ea typeface="微软雅黑" pitchFamily="34" charset="-122"/>
              </a:rPr>
              <a:t>SimpleMongoIdGenerator</a:t>
            </a:r>
            <a:r>
              <a:rPr lang="zh-CN" altLang="en-US" sz="1800" dirty="0" smtClean="0">
                <a:latin typeface="微软雅黑" pitchFamily="34" charset="-122"/>
                <a:ea typeface="微软雅黑" pitchFamily="34" charset="-122"/>
              </a:rPr>
              <a:t>）</a:t>
            </a:r>
            <a:r>
              <a:rPr lang="en-US" altLang="zh-CN" sz="1800" dirty="0" smtClean="0">
                <a:latin typeface="微软雅黑" pitchFamily="34" charset="-122"/>
                <a:ea typeface="微软雅黑" pitchFamily="34" charset="-122"/>
              </a:rPr>
              <a:t>: </a:t>
            </a:r>
            <a:r>
              <a:rPr lang="zh-CN" altLang="en-US" sz="1800" dirty="0" smtClean="0">
                <a:latin typeface="微软雅黑" pitchFamily="34" charset="-122"/>
                <a:ea typeface="微软雅黑" pitchFamily="34" charset="-122"/>
              </a:rPr>
              <a:t>一次获取一个</a:t>
            </a:r>
            <a:endParaRPr lang="en-US" altLang="zh-CN" sz="1800" dirty="0" smtClean="0">
              <a:latin typeface="微软雅黑" pitchFamily="34" charset="-122"/>
              <a:ea typeface="微软雅黑" pitchFamily="34" charset="-122"/>
            </a:endParaRPr>
          </a:p>
          <a:p>
            <a:endParaRPr lang="en-US" altLang="zh-CN" dirty="0"/>
          </a:p>
          <a:p>
            <a:endParaRPr lang="en-US" altLang="zh-CN" dirty="0" smtClean="0"/>
          </a:p>
          <a:p>
            <a:endParaRPr lang="en-US" altLang="zh-CN" dirty="0"/>
          </a:p>
          <a:p>
            <a:endParaRPr lang="en-US" altLang="zh-CN" dirty="0" smtClean="0"/>
          </a:p>
          <a:p>
            <a:endParaRPr lang="en-US" altLang="zh-CN" dirty="0" smtClean="0"/>
          </a:p>
          <a:p>
            <a:pPr marL="0" indent="0">
              <a:buNone/>
            </a:pPr>
            <a:endParaRPr lang="en-US" altLang="zh-CN" sz="1400" dirty="0">
              <a:solidFill>
                <a:srgbClr val="646464"/>
              </a:solidFill>
              <a:latin typeface="Consolas"/>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221088"/>
            <a:ext cx="8716568"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993" y="1844824"/>
            <a:ext cx="7023622"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1816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2.5 </a:t>
            </a:r>
            <a:r>
              <a:rPr lang="zh-CN" altLang="en-US" b="1" i="1" dirty="0">
                <a:solidFill>
                  <a:prstClr val="black"/>
                </a:solidFill>
                <a:latin typeface="微软雅黑" pitchFamily="34" charset="-122"/>
                <a:ea typeface="微软雅黑" pitchFamily="34" charset="-122"/>
              </a:rPr>
              <a:t>数据类型</a:t>
            </a:r>
            <a:r>
              <a:rPr lang="en-US" altLang="zh-CN" b="1" i="1" dirty="0">
                <a:solidFill>
                  <a:prstClr val="black"/>
                </a:solidFill>
                <a:latin typeface="微软雅黑" pitchFamily="34" charset="-122"/>
                <a:ea typeface="微软雅黑" pitchFamily="34" charset="-122"/>
              </a:rPr>
              <a:t>-</a:t>
            </a:r>
            <a:r>
              <a:rPr lang="zh-CN" altLang="en-US" b="1" i="1" dirty="0">
                <a:solidFill>
                  <a:prstClr val="black"/>
                </a:solidFill>
                <a:latin typeface="微软雅黑" pitchFamily="34" charset="-122"/>
                <a:ea typeface="微软雅黑" pitchFamily="34" charset="-122"/>
              </a:rPr>
              <a:t>自定义</a:t>
            </a:r>
            <a:r>
              <a:rPr lang="en-US" altLang="zh-CN" b="1" i="1" dirty="0">
                <a:solidFill>
                  <a:prstClr val="black"/>
                </a:solidFill>
                <a:latin typeface="微软雅黑" pitchFamily="34" charset="-122"/>
                <a:ea typeface="微软雅黑" pitchFamily="34" charset="-122"/>
              </a:rPr>
              <a:t>_id</a:t>
            </a:r>
            <a:endParaRPr lang="zh-CN" altLang="en-US" dirty="0"/>
          </a:p>
        </p:txBody>
      </p:sp>
      <p:sp>
        <p:nvSpPr>
          <p:cNvPr id="3" name="内容占位符 2"/>
          <p:cNvSpPr>
            <a:spLocks noGrp="1"/>
          </p:cNvSpPr>
          <p:nvPr>
            <p:ph idx="1"/>
          </p:nvPr>
        </p:nvSpPr>
        <p:spPr/>
        <p:txBody>
          <a:bodyPr/>
          <a:lstStyle/>
          <a:p>
            <a:r>
              <a:rPr lang="en-US" altLang="zh-CN" sz="1800" dirty="0">
                <a:latin typeface="微软雅黑" pitchFamily="34" charset="-122"/>
                <a:ea typeface="微软雅黑" pitchFamily="34" charset="-122"/>
              </a:rPr>
              <a:t>2</a:t>
            </a:r>
            <a:r>
              <a:rPr lang="zh-CN" altLang="en-US" sz="1800" dirty="0">
                <a:latin typeface="微软雅黑" pitchFamily="34" charset="-122"/>
                <a:ea typeface="微软雅黑" pitchFamily="34" charset="-122"/>
              </a:rPr>
              <a:t>）池化的</a:t>
            </a:r>
            <a:r>
              <a:rPr lang="zh-CN" altLang="en-US" sz="1800" dirty="0" smtClean="0">
                <a:latin typeface="微软雅黑" pitchFamily="34" charset="-122"/>
                <a:ea typeface="微软雅黑" pitchFamily="34" charset="-122"/>
              </a:rPr>
              <a:t>方式（</a:t>
            </a:r>
            <a:r>
              <a:rPr lang="en-US" altLang="zh-CN" sz="1800" dirty="0" err="1">
                <a:latin typeface="微软雅黑" pitchFamily="34" charset="-122"/>
                <a:ea typeface="微软雅黑" pitchFamily="34" charset="-122"/>
              </a:rPr>
              <a:t>PooledMongoIdGenerator</a:t>
            </a:r>
            <a:r>
              <a:rPr lang="zh-CN" altLang="en-US" sz="1800" dirty="0" smtClean="0">
                <a:latin typeface="微软雅黑" pitchFamily="34" charset="-122"/>
                <a:ea typeface="微软雅黑" pitchFamily="34" charset="-122"/>
              </a:rPr>
              <a:t>）：</a:t>
            </a:r>
            <a:r>
              <a:rPr lang="zh-CN" altLang="en-US" sz="1800" dirty="0">
                <a:latin typeface="微软雅黑" pitchFamily="34" charset="-122"/>
                <a:ea typeface="微软雅黑" pitchFamily="34" charset="-122"/>
              </a:rPr>
              <a:t>一次获取多个</a:t>
            </a:r>
            <a:endParaRPr lang="en-US" altLang="zh-CN" sz="1800" dirty="0">
              <a:latin typeface="微软雅黑" pitchFamily="34" charset="-122"/>
              <a:ea typeface="微软雅黑" pitchFamily="34" charset="-122"/>
            </a:endParaRPr>
          </a:p>
          <a:p>
            <a:endParaRPr lang="zh-CN" alt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59" y="2060848"/>
            <a:ext cx="7534275" cy="2790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4725144"/>
            <a:ext cx="3648075" cy="181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11337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2.6 BSON</a:t>
            </a:r>
            <a:endParaRPr lang="zh-CN" altLang="en-US" dirty="0"/>
          </a:p>
        </p:txBody>
      </p:sp>
      <p:sp>
        <p:nvSpPr>
          <p:cNvPr id="3" name="内容占位符 2"/>
          <p:cNvSpPr>
            <a:spLocks noGrp="1"/>
          </p:cNvSpPr>
          <p:nvPr>
            <p:ph idx="1"/>
          </p:nvPr>
        </p:nvSpPr>
        <p:spPr>
          <a:xfrm>
            <a:off x="457200" y="1600200"/>
            <a:ext cx="8229600" cy="4853136"/>
          </a:xfrm>
        </p:spPr>
        <p:txBody>
          <a:bodyPr>
            <a:normAutofit/>
          </a:bodyPr>
          <a:lstStyle/>
          <a:p>
            <a:endParaRPr lang="en-US" altLang="zh-CN" dirty="0" smtClean="0"/>
          </a:p>
          <a:p>
            <a:endParaRPr lang="en-US" altLang="zh-CN" dirty="0"/>
          </a:p>
          <a:p>
            <a:endParaRPr lang="en-US" altLang="zh-CN" dirty="0" smtClean="0"/>
          </a:p>
          <a:p>
            <a:r>
              <a:rPr lang="en-US" altLang="zh-CN" dirty="0" smtClean="0">
                <a:latin typeface="微软雅黑" pitchFamily="34" charset="-122"/>
                <a:ea typeface="微软雅黑" pitchFamily="34" charset="-122"/>
              </a:rPr>
              <a:t>Binary </a:t>
            </a:r>
            <a:r>
              <a:rPr lang="en-US" altLang="zh-CN" dirty="0" err="1" smtClean="0">
                <a:latin typeface="微软雅黑" pitchFamily="34" charset="-122"/>
                <a:ea typeface="微软雅黑" pitchFamily="34" charset="-122"/>
              </a:rPr>
              <a:t>Json</a:t>
            </a:r>
            <a:r>
              <a:rPr lang="zh-CN" altLang="en-US" dirty="0">
                <a:latin typeface="微软雅黑" pitchFamily="34" charset="-122"/>
                <a:ea typeface="微软雅黑" pitchFamily="34" charset="-122"/>
              </a:rPr>
              <a:t>，</a:t>
            </a:r>
            <a:r>
              <a:rPr lang="zh-CN" altLang="en-US" dirty="0" smtClean="0">
                <a:latin typeface="微软雅黑" pitchFamily="34" charset="-122"/>
                <a:ea typeface="微软雅黑" pitchFamily="34" charset="-122"/>
              </a:rPr>
              <a:t>传输和存储所使用的格式</a:t>
            </a:r>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16MB</a:t>
            </a:r>
          </a:p>
          <a:p>
            <a:r>
              <a:rPr lang="zh-CN" altLang="en-US" dirty="0" smtClean="0">
                <a:latin typeface="微软雅黑" pitchFamily="34" charset="-122"/>
                <a:ea typeface="微软雅黑" pitchFamily="34" charset="-122"/>
              </a:rPr>
              <a:t>更快的遍历速度，操作更简单，扩充的数据类型，无类似</a:t>
            </a:r>
            <a:r>
              <a:rPr lang="en-US" altLang="zh-CN" dirty="0" err="1" smtClean="0">
                <a:latin typeface="微软雅黑" pitchFamily="34" charset="-122"/>
                <a:ea typeface="微软雅黑" pitchFamily="34" charset="-122"/>
              </a:rPr>
              <a:t>sql</a:t>
            </a:r>
            <a:r>
              <a:rPr lang="zh-CN" altLang="en-US" dirty="0">
                <a:latin typeface="微软雅黑" pitchFamily="34" charset="-122"/>
                <a:ea typeface="微软雅黑" pitchFamily="34" charset="-122"/>
              </a:rPr>
              <a:t>注入</a:t>
            </a:r>
            <a:r>
              <a:rPr lang="zh-CN" altLang="en-US" dirty="0" smtClean="0">
                <a:latin typeface="微软雅黑" pitchFamily="34" charset="-122"/>
                <a:ea typeface="微软雅黑" pitchFamily="34" charset="-122"/>
              </a:rPr>
              <a:t>风险</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优化</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无需遍历定位，基于记录的长度进行</a:t>
            </a:r>
            <a:r>
              <a:rPr lang="en-US" altLang="zh-CN" dirty="0" smtClean="0">
                <a:latin typeface="微软雅黑" pitchFamily="34" charset="-122"/>
                <a:ea typeface="微软雅黑" pitchFamily="34" charset="-122"/>
              </a:rPr>
              <a:t>seek</a:t>
            </a:r>
          </a:p>
          <a:p>
            <a:pPr lvl="1"/>
            <a:r>
              <a:rPr lang="zh-CN" altLang="en-US" dirty="0" smtClean="0">
                <a:latin typeface="微软雅黑" pitchFamily="34" charset="-122"/>
                <a:ea typeface="微软雅黑" pitchFamily="34" charset="-122"/>
              </a:rPr>
              <a:t>数据存储有类型</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长度可能变化的字段尽量靠后</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固定不变的数字使用字符串</a:t>
            </a:r>
            <a:endParaRPr lang="zh-CN" altLang="en-US" dirty="0">
              <a:latin typeface="微软雅黑" pitchFamily="34" charset="-122"/>
              <a:ea typeface="微软雅黑" pitchFamily="34" charset="-122"/>
            </a:endParaRPr>
          </a:p>
        </p:txBody>
      </p:sp>
      <p:pic>
        <p:nvPicPr>
          <p:cNvPr id="5121" name="Picture 1" descr="C:\Users\admin\AppData\Roaming\Tencent\Users\84281551\QQ\WinTemp\RichOle\Q_ORUM5[0A4W[P9NM$`WUC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978" y="1628800"/>
            <a:ext cx="8496300" cy="1266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97717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2.7 </a:t>
            </a:r>
            <a:r>
              <a:rPr lang="en-US" altLang="zh-CN" b="1" i="1" dirty="0" err="1" smtClean="0">
                <a:solidFill>
                  <a:prstClr val="black"/>
                </a:solidFill>
                <a:latin typeface="微软雅黑" pitchFamily="34" charset="-122"/>
                <a:ea typeface="微软雅黑" pitchFamily="34" charset="-122"/>
              </a:rPr>
              <a:t>GridFS</a:t>
            </a:r>
            <a:endParaRPr lang="zh-CN" altLang="en-US" dirty="0"/>
          </a:p>
        </p:txBody>
      </p:sp>
      <p:sp>
        <p:nvSpPr>
          <p:cNvPr id="3" name="内容占位符 2"/>
          <p:cNvSpPr>
            <a:spLocks noGrp="1"/>
          </p:cNvSpPr>
          <p:nvPr>
            <p:ph idx="1"/>
          </p:nvPr>
        </p:nvSpPr>
        <p:spPr>
          <a:xfrm>
            <a:off x="899592" y="1600200"/>
            <a:ext cx="7416824" cy="4525963"/>
          </a:xfrm>
        </p:spPr>
        <p:txBody>
          <a:bodyPr/>
          <a:lstStyle/>
          <a:p>
            <a:r>
              <a:rPr lang="zh-CN" altLang="en-US" dirty="0" smtClean="0">
                <a:latin typeface="微软雅黑" pitchFamily="34" charset="-122"/>
                <a:ea typeface="微软雅黑" pitchFamily="34" charset="-122"/>
              </a:rPr>
              <a:t>大于</a:t>
            </a:r>
            <a:r>
              <a:rPr lang="en-US" altLang="zh-CN" dirty="0" smtClean="0">
                <a:latin typeface="微软雅黑" pitchFamily="34" charset="-122"/>
                <a:ea typeface="微软雅黑" pitchFamily="34" charset="-122"/>
              </a:rPr>
              <a:t>16M</a:t>
            </a:r>
          </a:p>
          <a:p>
            <a:r>
              <a:rPr lang="zh-CN" altLang="en-US" dirty="0" smtClean="0">
                <a:latin typeface="微软雅黑" pitchFamily="34" charset="-122"/>
                <a:ea typeface="微软雅黑" pitchFamily="34" charset="-122"/>
              </a:rPr>
              <a:t>小于</a:t>
            </a:r>
            <a:r>
              <a:rPr lang="en-US" altLang="zh-CN" dirty="0" smtClean="0">
                <a:latin typeface="微软雅黑" pitchFamily="34" charset="-122"/>
                <a:ea typeface="微软雅黑" pitchFamily="34" charset="-122"/>
              </a:rPr>
              <a:t>16M</a:t>
            </a:r>
            <a:r>
              <a:rPr lang="zh-CN" altLang="en-US" dirty="0" smtClean="0">
                <a:latin typeface="微软雅黑" pitchFamily="34" charset="-122"/>
                <a:ea typeface="微软雅黑" pitchFamily="34" charset="-122"/>
              </a:rPr>
              <a:t>的二进制数据，使用</a:t>
            </a:r>
            <a:r>
              <a:rPr lang="en-US" altLang="zh-CN" dirty="0" err="1" smtClean="0">
                <a:latin typeface="微软雅黑" pitchFamily="34" charset="-122"/>
                <a:ea typeface="微软雅黑" pitchFamily="34" charset="-122"/>
              </a:rPr>
              <a:t>BinData</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5018480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2.8 </a:t>
            </a:r>
            <a:r>
              <a:rPr lang="zh-CN" altLang="en-US" b="1" i="1" dirty="0" smtClean="0">
                <a:solidFill>
                  <a:prstClr val="black"/>
                </a:solidFill>
                <a:latin typeface="微软雅黑" pitchFamily="34" charset="-122"/>
                <a:ea typeface="微软雅黑" pitchFamily="34" charset="-122"/>
              </a:rPr>
              <a:t>模式设计</a:t>
            </a:r>
            <a:r>
              <a:rPr lang="en-US" altLang="zh-CN" b="1" i="1" dirty="0" smtClean="0">
                <a:solidFill>
                  <a:prstClr val="black"/>
                </a:solidFill>
                <a:latin typeface="微软雅黑" pitchFamily="34" charset="-122"/>
                <a:ea typeface="微软雅黑" pitchFamily="34" charset="-122"/>
              </a:rPr>
              <a:t>-</a:t>
            </a:r>
            <a:r>
              <a:rPr lang="zh-CN" altLang="en-US" b="1" i="1" dirty="0" smtClean="0">
                <a:solidFill>
                  <a:prstClr val="black"/>
                </a:solidFill>
                <a:latin typeface="微软雅黑" pitchFamily="34" charset="-122"/>
                <a:ea typeface="微软雅黑" pitchFamily="34" charset="-122"/>
              </a:rPr>
              <a:t>相关因素</a:t>
            </a:r>
            <a:endParaRPr lang="zh-CN" altLang="en-US" dirty="0"/>
          </a:p>
        </p:txBody>
      </p:sp>
      <p:sp>
        <p:nvSpPr>
          <p:cNvPr id="3" name="内容占位符 2"/>
          <p:cNvSpPr>
            <a:spLocks noGrp="1"/>
          </p:cNvSpPr>
          <p:nvPr>
            <p:ph idx="1"/>
          </p:nvPr>
        </p:nvSpPr>
        <p:spPr/>
        <p:txBody>
          <a:bodyPr/>
          <a:lstStyle/>
          <a:p>
            <a:r>
              <a:rPr lang="zh-CN" altLang="en-US" dirty="0" smtClean="0">
                <a:latin typeface="微软雅黑" pitchFamily="34" charset="-122"/>
                <a:ea typeface="微软雅黑" pitchFamily="34" charset="-122"/>
              </a:rPr>
              <a:t>设计需要思考和平衡的因素：</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程序本身的需求</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查询，更新等维护</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不变数据，易变数据</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数据天然的逻辑层次</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数据规模</a:t>
            </a:r>
            <a:endParaRPr lang="en-US" altLang="zh-CN" dirty="0" smtClean="0">
              <a:latin typeface="微软雅黑" pitchFamily="34" charset="-122"/>
              <a:ea typeface="微软雅黑" pitchFamily="34" charset="-122"/>
            </a:endParaRPr>
          </a:p>
          <a:p>
            <a:pPr lvl="1"/>
            <a:r>
              <a:rPr lang="en-US" altLang="zh-CN" dirty="0" err="1" smtClean="0">
                <a:latin typeface="微软雅黑" pitchFamily="34" charset="-122"/>
                <a:ea typeface="微软雅黑" pitchFamily="34" charset="-122"/>
              </a:rPr>
              <a:t>mongodb</a:t>
            </a:r>
            <a:r>
              <a:rPr lang="zh-CN" altLang="en-US" dirty="0" smtClean="0">
                <a:latin typeface="微软雅黑" pitchFamily="34" charset="-122"/>
                <a:ea typeface="微软雅黑" pitchFamily="34" charset="-122"/>
              </a:rPr>
              <a:t>的性能特点</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单文档原子操作</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文档增长</a:t>
            </a:r>
            <a:endParaRPr lang="en-US" altLang="zh-CN" dirty="0" smtClean="0">
              <a:latin typeface="微软雅黑" pitchFamily="34" charset="-122"/>
              <a:ea typeface="微软雅黑" pitchFamily="34" charset="-122"/>
            </a:endParaRPr>
          </a:p>
          <a:p>
            <a:pPr lvl="2"/>
            <a:r>
              <a:rPr lang="en-US" altLang="zh-CN" dirty="0">
                <a:latin typeface="微软雅黑" pitchFamily="34" charset="-122"/>
                <a:ea typeface="微软雅黑" pitchFamily="34" charset="-122"/>
              </a:rPr>
              <a:t>c</a:t>
            </a:r>
            <a:r>
              <a:rPr lang="en-US" altLang="zh-CN" dirty="0" smtClean="0">
                <a:latin typeface="微软雅黑" pitchFamily="34" charset="-122"/>
                <a:ea typeface="微软雅黑" pitchFamily="34" charset="-122"/>
              </a:rPr>
              <a:t>apped collection</a:t>
            </a:r>
          </a:p>
          <a:p>
            <a:pPr lvl="1"/>
            <a:r>
              <a:rPr lang="zh-CN" altLang="en-US" dirty="0" smtClean="0">
                <a:latin typeface="微软雅黑" pitchFamily="34" charset="-122"/>
                <a:ea typeface="微软雅黑" pitchFamily="34" charset="-122"/>
              </a:rPr>
              <a:t>数据获取模式</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随机访问</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范围查询</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是否排序</a:t>
            </a:r>
            <a:endParaRPr lang="en-US" altLang="zh-CN" dirty="0" smtClean="0">
              <a:latin typeface="微软雅黑" pitchFamily="34" charset="-122"/>
              <a:ea typeface="微软雅黑" pitchFamily="34" charset="-122"/>
            </a:endParaRPr>
          </a:p>
          <a:p>
            <a:pPr marL="914400" lvl="2" indent="0">
              <a:buNone/>
            </a:pPr>
            <a:endParaRPr lang="en-US" altLang="zh-CN" dirty="0" smtClean="0">
              <a:latin typeface="微软雅黑" pitchFamily="34" charset="-122"/>
              <a:ea typeface="微软雅黑" pitchFamily="34" charset="-122"/>
            </a:endParaRPr>
          </a:p>
          <a:p>
            <a:pPr lvl="2"/>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9686577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600200"/>
          </a:xfrm>
        </p:spPr>
        <p:txBody>
          <a:bodyPr/>
          <a:lstStyle/>
          <a:p>
            <a:r>
              <a:rPr lang="en-US" altLang="zh-CN" b="1" i="1" dirty="0" smtClean="0">
                <a:solidFill>
                  <a:prstClr val="black"/>
                </a:solidFill>
                <a:latin typeface="微软雅黑" pitchFamily="34" charset="-122"/>
                <a:ea typeface="微软雅黑" pitchFamily="34" charset="-122"/>
              </a:rPr>
              <a:t>2.8 </a:t>
            </a:r>
            <a:r>
              <a:rPr lang="zh-CN" altLang="en-US" b="1" i="1" dirty="0">
                <a:solidFill>
                  <a:prstClr val="black"/>
                </a:solidFill>
                <a:latin typeface="微软雅黑" pitchFamily="34" charset="-122"/>
                <a:ea typeface="微软雅黑" pitchFamily="34" charset="-122"/>
              </a:rPr>
              <a:t>模式设计</a:t>
            </a:r>
            <a:r>
              <a:rPr lang="en-US" altLang="zh-CN" b="1" i="1" dirty="0" smtClean="0">
                <a:solidFill>
                  <a:prstClr val="black"/>
                </a:solidFill>
                <a:latin typeface="微软雅黑" pitchFamily="34" charset="-122"/>
                <a:ea typeface="微软雅黑" pitchFamily="34" charset="-122"/>
              </a:rPr>
              <a:t>-</a:t>
            </a:r>
            <a:r>
              <a:rPr lang="zh-CN" altLang="en-US" b="1" i="1" dirty="0" smtClean="0">
                <a:solidFill>
                  <a:prstClr val="black"/>
                </a:solidFill>
                <a:latin typeface="微软雅黑" pitchFamily="34" charset="-122"/>
                <a:ea typeface="微软雅黑" pitchFamily="34" charset="-122"/>
              </a:rPr>
              <a:t>范式与反范式</a:t>
            </a:r>
            <a:endParaRPr lang="zh-CN" altLang="en-US" dirty="0"/>
          </a:p>
        </p:txBody>
      </p:sp>
      <p:sp>
        <p:nvSpPr>
          <p:cNvPr id="3" name="内容占位符 2"/>
          <p:cNvSpPr>
            <a:spLocks noGrp="1"/>
          </p:cNvSpPr>
          <p:nvPr>
            <p:ph idx="1"/>
          </p:nvPr>
        </p:nvSpPr>
        <p:spPr>
          <a:xfrm>
            <a:off x="457200" y="1600200"/>
            <a:ext cx="8229600" cy="4853136"/>
          </a:xfrm>
        </p:spPr>
        <p:txBody>
          <a:bodyPr/>
          <a:lstStyle/>
          <a:p>
            <a:r>
              <a:rPr lang="zh-CN" altLang="en-US" sz="1800" dirty="0" smtClean="0">
                <a:latin typeface="微软雅黑" pitchFamily="34" charset="-122"/>
                <a:ea typeface="微软雅黑" pitchFamily="34" charset="-122"/>
              </a:rPr>
              <a:t>范式与反范式</a:t>
            </a:r>
            <a:endParaRPr lang="en-US" altLang="zh-CN" sz="1800"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文档引用</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手动引用</a:t>
            </a:r>
            <a:endParaRPr lang="en-US" altLang="zh-CN" dirty="0">
              <a:latin typeface="微软雅黑" pitchFamily="34" charset="-122"/>
              <a:ea typeface="微软雅黑" pitchFamily="34" charset="-122"/>
            </a:endParaRPr>
          </a:p>
          <a:p>
            <a:pPr lvl="2"/>
            <a:r>
              <a:rPr lang="en-US" altLang="zh-CN" dirty="0" err="1" smtClean="0">
                <a:latin typeface="微软雅黑" pitchFamily="34" charset="-122"/>
                <a:ea typeface="微软雅黑" pitchFamily="34" charset="-122"/>
              </a:rPr>
              <a:t>DBRefs</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内嵌文档，数组</a:t>
            </a:r>
            <a:endParaRPr lang="en-US" altLang="zh-CN" sz="1600" dirty="0">
              <a:latin typeface="微软雅黑" pitchFamily="34" charset="-122"/>
              <a:ea typeface="微软雅黑" pitchFamily="34" charset="-122"/>
            </a:endParaRPr>
          </a:p>
          <a:p>
            <a:r>
              <a:rPr lang="zh-CN" altLang="en-US" sz="1800" dirty="0" smtClean="0">
                <a:latin typeface="微软雅黑" pitchFamily="34" charset="-122"/>
                <a:ea typeface="微软雅黑" pitchFamily="34" charset="-122"/>
              </a:rPr>
              <a:t>优缺点</a:t>
            </a:r>
            <a:endParaRPr lang="en-US" altLang="zh-CN" sz="1800" dirty="0">
              <a:latin typeface="微软雅黑" pitchFamily="34" charset="-122"/>
              <a:ea typeface="微软雅黑" pitchFamily="34" charset="-122"/>
            </a:endParaRPr>
          </a:p>
          <a:p>
            <a:pPr lvl="1"/>
            <a:r>
              <a:rPr lang="zh-CN" altLang="en-US" dirty="0">
                <a:latin typeface="微软雅黑" pitchFamily="34" charset="-122"/>
                <a:ea typeface="微软雅黑" pitchFamily="34" charset="-122"/>
              </a:rPr>
              <a:t>内</a:t>
            </a:r>
            <a:r>
              <a:rPr lang="zh-CN" altLang="en-US" dirty="0" smtClean="0">
                <a:latin typeface="微软雅黑" pitchFamily="34" charset="-122"/>
                <a:ea typeface="微软雅黑" pitchFamily="34" charset="-122"/>
              </a:rPr>
              <a:t>嵌文档</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数据更直观，更接近对象的定义。连续存储，一次获取，读取性能好。一个文档，单文档能保证原子事务。内嵌减少文档数量，减少文档本身的杂项开支。</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数据存在大量冗余，更新维护数据代价大。</a:t>
            </a:r>
            <a:endParaRPr lang="en-US" altLang="zh-CN" dirty="0" smtClean="0">
              <a:latin typeface="微软雅黑" pitchFamily="34" charset="-122"/>
              <a:ea typeface="微软雅黑" pitchFamily="34" charset="-122"/>
            </a:endParaRPr>
          </a:p>
          <a:p>
            <a:pPr lvl="1"/>
            <a:r>
              <a:rPr lang="zh-CN" altLang="en-US" dirty="0">
                <a:latin typeface="微软雅黑" pitchFamily="34" charset="-122"/>
                <a:ea typeface="微软雅黑" pitchFamily="34" charset="-122"/>
              </a:rPr>
              <a:t>文档</a:t>
            </a:r>
            <a:r>
              <a:rPr lang="zh-CN" altLang="en-US" dirty="0" smtClean="0">
                <a:latin typeface="微软雅黑" pitchFamily="34" charset="-122"/>
                <a:ea typeface="微软雅黑" pitchFamily="34" charset="-122"/>
              </a:rPr>
              <a:t>引用</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减少冗余，数据一致性完整性易维护</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不支持</a:t>
            </a:r>
            <a:r>
              <a:rPr lang="en-US" altLang="zh-CN" dirty="0" smtClean="0">
                <a:latin typeface="微软雅黑" pitchFamily="34" charset="-122"/>
                <a:ea typeface="微软雅黑" pitchFamily="34" charset="-122"/>
              </a:rPr>
              <a:t>join</a:t>
            </a:r>
            <a:r>
              <a:rPr lang="zh-CN" altLang="en-US" dirty="0" smtClean="0">
                <a:latin typeface="微软雅黑" pitchFamily="34" charset="-122"/>
                <a:ea typeface="微软雅黑" pitchFamily="34" charset="-122"/>
              </a:rPr>
              <a:t>，需要多次查询获取</a:t>
            </a:r>
            <a:endParaRPr lang="en-US" altLang="zh-CN" dirty="0" smtClean="0">
              <a:latin typeface="微软雅黑" pitchFamily="34" charset="-122"/>
              <a:ea typeface="微软雅黑" pitchFamily="34" charset="-122"/>
            </a:endParaRPr>
          </a:p>
          <a:p>
            <a:pPr marL="342900" lvl="2" indent="-342900"/>
            <a:r>
              <a:rPr lang="zh-CN" altLang="en-US" sz="1800" dirty="0" smtClean="0">
                <a:latin typeface="微软雅黑" pitchFamily="34" charset="-122"/>
                <a:ea typeface="微软雅黑" pitchFamily="34" charset="-122"/>
              </a:rPr>
              <a:t>采用何种设计，综合前面提到的</a:t>
            </a:r>
            <a:r>
              <a:rPr lang="en-US" altLang="zh-CN" sz="1800" dirty="0" smtClean="0">
                <a:latin typeface="微软雅黑" pitchFamily="34" charset="-122"/>
                <a:ea typeface="微软雅黑" pitchFamily="34" charset="-122"/>
              </a:rPr>
              <a:t>3</a:t>
            </a:r>
            <a:r>
              <a:rPr lang="zh-CN" altLang="en-US" sz="1800" dirty="0" smtClean="0">
                <a:latin typeface="微软雅黑" pitchFamily="34" charset="-122"/>
                <a:ea typeface="微软雅黑" pitchFamily="34" charset="-122"/>
              </a:rPr>
              <a:t>个因素做权衡</a:t>
            </a:r>
            <a:endParaRPr lang="en-US" altLang="zh-CN" sz="1800" dirty="0">
              <a:latin typeface="微软雅黑" pitchFamily="34" charset="-122"/>
              <a:ea typeface="微软雅黑" pitchFamily="34" charset="-122"/>
            </a:endParaRPr>
          </a:p>
          <a:p>
            <a:pPr marL="914400" lvl="2" indent="0">
              <a:buNone/>
            </a:pPr>
            <a:endParaRPr lang="en-US" altLang="zh-CN" dirty="0" smtClean="0">
              <a:latin typeface="微软雅黑" pitchFamily="34" charset="-122"/>
              <a:ea typeface="微软雅黑" pitchFamily="34" charset="-122"/>
            </a:endParaRPr>
          </a:p>
          <a:p>
            <a:pPr marL="914400" lvl="2" indent="0">
              <a:buNone/>
            </a:pPr>
            <a:endParaRPr lang="en-US" altLang="zh-CN" dirty="0" smtClean="0">
              <a:latin typeface="微软雅黑" pitchFamily="34" charset="-122"/>
              <a:ea typeface="微软雅黑" pitchFamily="34" charset="-122"/>
            </a:endParaRPr>
          </a:p>
          <a:p>
            <a:pPr lvl="2"/>
            <a:endParaRPr lang="en-US" altLang="zh-CN" dirty="0">
              <a:latin typeface="微软雅黑" pitchFamily="34" charset="-122"/>
              <a:ea typeface="微软雅黑" pitchFamily="34" charset="-122"/>
            </a:endParaRPr>
          </a:p>
          <a:p>
            <a:endParaRPr lang="en-US" altLang="zh-CN" sz="800" dirty="0" smtClean="0">
              <a:latin typeface="微软雅黑" pitchFamily="34" charset="-122"/>
              <a:ea typeface="微软雅黑" pitchFamily="34" charset="-122"/>
            </a:endParaRPr>
          </a:p>
          <a:p>
            <a:endParaRPr lang="zh-CN" altLang="en-US" dirty="0"/>
          </a:p>
        </p:txBody>
      </p:sp>
    </p:spTree>
    <p:extLst>
      <p:ext uri="{BB962C8B-B14F-4D97-AF65-F5344CB8AC3E}">
        <p14:creationId xmlns:p14="http://schemas.microsoft.com/office/powerpoint/2010/main" val="1968131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2.9 CRUD</a:t>
            </a:r>
            <a:endParaRPr lang="zh-CN" altLang="en-US" dirty="0"/>
          </a:p>
        </p:txBody>
      </p:sp>
      <p:sp>
        <p:nvSpPr>
          <p:cNvPr id="3" name="内容占位符 2"/>
          <p:cNvSpPr>
            <a:spLocks noGrp="1"/>
          </p:cNvSpPr>
          <p:nvPr>
            <p:ph idx="1"/>
          </p:nvPr>
        </p:nvSpPr>
        <p:spPr>
          <a:xfrm>
            <a:off x="539552" y="1484784"/>
            <a:ext cx="7848872" cy="5373216"/>
          </a:xfrm>
        </p:spPr>
        <p:txBody>
          <a:bodyPr>
            <a:normAutofit fontScale="77500" lnSpcReduction="20000"/>
          </a:bodyPr>
          <a:lstStyle/>
          <a:p>
            <a:r>
              <a:rPr lang="zh-CN" altLang="en-US" dirty="0" smtClean="0">
                <a:latin typeface="微软雅黑" pitchFamily="34" charset="-122"/>
                <a:ea typeface="微软雅黑" pitchFamily="34" charset="-122"/>
              </a:rPr>
              <a:t>基本操作</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增删改查</a:t>
            </a:r>
            <a:endParaRPr lang="en-US" altLang="zh-CN" dirty="0" smtClean="0">
              <a:latin typeface="微软雅黑" pitchFamily="34" charset="-122"/>
              <a:ea typeface="微软雅黑" pitchFamily="34" charset="-122"/>
            </a:endParaRPr>
          </a:p>
          <a:p>
            <a:pPr lvl="2"/>
            <a:r>
              <a:rPr lang="en-US" altLang="zh-CN" dirty="0" err="1"/>
              <a:t>db.collection.find</a:t>
            </a:r>
            <a:r>
              <a:rPr lang="en-US" altLang="zh-CN" dirty="0"/>
              <a:t>(</a:t>
            </a:r>
            <a:r>
              <a:rPr lang="en-US" altLang="zh-CN" i="1" dirty="0"/>
              <a:t>query</a:t>
            </a:r>
            <a:r>
              <a:rPr lang="en-US" altLang="zh-CN" dirty="0"/>
              <a:t>, </a:t>
            </a:r>
            <a:r>
              <a:rPr lang="en-US" altLang="zh-CN" i="1" dirty="0"/>
              <a:t>projection</a:t>
            </a:r>
            <a:r>
              <a:rPr lang="en-US" altLang="zh-CN" dirty="0" smtClean="0"/>
              <a:t>)</a:t>
            </a:r>
          </a:p>
          <a:p>
            <a:pPr lvl="3"/>
            <a:r>
              <a:rPr lang="en-US" altLang="zh-CN" dirty="0" smtClean="0">
                <a:latin typeface="微软雅黑" pitchFamily="34" charset="-122"/>
                <a:ea typeface="微软雅黑" pitchFamily="34" charset="-122"/>
              </a:rPr>
              <a:t>Return a cursor</a:t>
            </a:r>
          </a:p>
          <a:p>
            <a:pPr lvl="3"/>
            <a:r>
              <a:rPr lang="en-US" altLang="zh-CN" dirty="0" smtClean="0">
                <a:latin typeface="微软雅黑" pitchFamily="34" charset="-122"/>
                <a:ea typeface="微软雅黑" pitchFamily="34" charset="-122"/>
              </a:rPr>
              <a:t>Projection(</a:t>
            </a:r>
            <a:r>
              <a:rPr lang="zh-CN" altLang="en-US" dirty="0" smtClean="0">
                <a:latin typeface="微软雅黑" pitchFamily="34" charset="-122"/>
                <a:ea typeface="微软雅黑" pitchFamily="34" charset="-122"/>
              </a:rPr>
              <a:t>如果可以，索引覆盖查询</a:t>
            </a:r>
            <a:r>
              <a:rPr lang="en-US" altLang="zh-CN" dirty="0" smtClean="0">
                <a:latin typeface="微软雅黑" pitchFamily="34" charset="-122"/>
                <a:ea typeface="微软雅黑" pitchFamily="34" charset="-122"/>
              </a:rPr>
              <a:t>)</a:t>
            </a:r>
          </a:p>
          <a:p>
            <a:pPr lvl="3"/>
            <a:r>
              <a:rPr lang="en-US" altLang="zh-CN" dirty="0" err="1"/>
              <a:t>db.collection.findOne</a:t>
            </a:r>
            <a:r>
              <a:rPr lang="en-US" altLang="zh-CN" dirty="0"/>
              <a:t>(</a:t>
            </a:r>
            <a:r>
              <a:rPr lang="en-US" altLang="zh-CN" i="1" dirty="0"/>
              <a:t>query</a:t>
            </a:r>
            <a:r>
              <a:rPr lang="en-US" altLang="zh-CN" dirty="0"/>
              <a:t>, </a:t>
            </a:r>
            <a:r>
              <a:rPr lang="en-US" altLang="zh-CN" i="1" dirty="0"/>
              <a:t>projection</a:t>
            </a:r>
            <a:r>
              <a:rPr lang="en-US" altLang="zh-CN" dirty="0" smtClean="0"/>
              <a:t>)</a:t>
            </a:r>
            <a:endParaRPr lang="en-US" altLang="zh-CN" dirty="0" smtClean="0">
              <a:latin typeface="微软雅黑" pitchFamily="34" charset="-122"/>
              <a:ea typeface="微软雅黑" pitchFamily="34" charset="-122"/>
            </a:endParaRPr>
          </a:p>
          <a:p>
            <a:pPr lvl="2"/>
            <a:r>
              <a:rPr lang="en-US" altLang="zh-CN" dirty="0" smtClean="0">
                <a:latin typeface="微软雅黑" pitchFamily="34" charset="-122"/>
                <a:ea typeface="微软雅黑" pitchFamily="34" charset="-122"/>
              </a:rPr>
              <a:t>CAS(</a:t>
            </a:r>
            <a:r>
              <a:rPr lang="en-US" altLang="zh-CN" dirty="0" err="1" smtClean="0">
                <a:latin typeface="微软雅黑" pitchFamily="34" charset="-122"/>
                <a:ea typeface="微软雅黑" pitchFamily="34" charset="-122"/>
              </a:rPr>
              <a:t>findAndModify</a:t>
            </a:r>
            <a:r>
              <a:rPr lang="en-US" altLang="zh-CN" dirty="0" smtClean="0">
                <a:latin typeface="微软雅黑" pitchFamily="34" charset="-122"/>
                <a:ea typeface="微软雅黑" pitchFamily="34" charset="-122"/>
              </a:rPr>
              <a:t>)</a:t>
            </a:r>
          </a:p>
          <a:p>
            <a:pPr lvl="2"/>
            <a:r>
              <a:rPr lang="en-US" altLang="zh-CN" dirty="0" err="1"/>
              <a:t>db.collection.insert</a:t>
            </a:r>
            <a:r>
              <a:rPr lang="en-US" altLang="zh-CN" dirty="0"/>
              <a:t>( &lt;document or array of documents&gt;, </a:t>
            </a:r>
            <a:r>
              <a:rPr lang="en-US" altLang="zh-CN" dirty="0" smtClean="0"/>
              <a:t>	{ </a:t>
            </a:r>
            <a:r>
              <a:rPr lang="en-US" altLang="zh-CN" dirty="0" err="1"/>
              <a:t>writeConcern</a:t>
            </a:r>
            <a:r>
              <a:rPr lang="en-US" altLang="zh-CN" dirty="0"/>
              <a:t>: &lt;document&gt;, ordered: &lt;</a:t>
            </a:r>
            <a:r>
              <a:rPr lang="en-US" altLang="zh-CN" dirty="0" err="1"/>
              <a:t>boolean</a:t>
            </a:r>
            <a:r>
              <a:rPr lang="en-US" altLang="zh-CN" dirty="0"/>
              <a:t>&gt; } </a:t>
            </a:r>
            <a:r>
              <a:rPr lang="en-US" altLang="zh-CN" dirty="0" smtClean="0"/>
              <a:t>)</a:t>
            </a:r>
          </a:p>
          <a:p>
            <a:pPr lvl="2"/>
            <a:r>
              <a:rPr lang="zh-CN" altLang="en-US" dirty="0" smtClean="0"/>
              <a:t>批量写入</a:t>
            </a:r>
            <a:endParaRPr lang="en-US" altLang="zh-CN" dirty="0" smtClean="0"/>
          </a:p>
          <a:p>
            <a:pPr lvl="3"/>
            <a:r>
              <a:rPr lang="en-US" altLang="zh-CN" b="1" dirty="0" err="1"/>
              <a:t>var</a:t>
            </a:r>
            <a:r>
              <a:rPr lang="en-US" altLang="zh-CN" dirty="0"/>
              <a:t> bulk = </a:t>
            </a:r>
            <a:r>
              <a:rPr lang="en-US" altLang="zh-CN" dirty="0" err="1"/>
              <a:t>db.inventory.initializeUnorderedBulkOp</a:t>
            </a:r>
            <a:r>
              <a:rPr lang="en-US" altLang="zh-CN" dirty="0" smtClean="0"/>
              <a:t>();</a:t>
            </a:r>
            <a:r>
              <a:rPr lang="en-US" altLang="zh-CN" dirty="0"/>
              <a:t> </a:t>
            </a:r>
            <a:r>
              <a:rPr lang="en-US" altLang="zh-CN" dirty="0" err="1"/>
              <a:t>bulk.insert</a:t>
            </a:r>
            <a:r>
              <a:rPr lang="en-US" altLang="zh-CN" dirty="0" smtClean="0"/>
              <a:t>({…});</a:t>
            </a:r>
            <a:r>
              <a:rPr lang="en-US" altLang="zh-CN" dirty="0"/>
              <a:t> </a:t>
            </a:r>
            <a:r>
              <a:rPr lang="en-US" altLang="zh-CN" dirty="0" err="1"/>
              <a:t>bulk.execute</a:t>
            </a:r>
            <a:r>
              <a:rPr lang="en-US" altLang="zh-CN" dirty="0"/>
              <a:t>();</a:t>
            </a:r>
            <a:endParaRPr lang="en-US" altLang="zh-CN" dirty="0" smtClean="0"/>
          </a:p>
          <a:p>
            <a:pPr lvl="2"/>
            <a:r>
              <a:rPr lang="en-US" altLang="zh-CN" dirty="0" err="1"/>
              <a:t>db.collection.remove</a:t>
            </a:r>
            <a:r>
              <a:rPr lang="en-US" altLang="zh-CN" dirty="0"/>
              <a:t>( &lt;query&gt;, &lt;</a:t>
            </a:r>
            <a:r>
              <a:rPr lang="en-US" altLang="zh-CN" dirty="0" err="1"/>
              <a:t>justOne</a:t>
            </a:r>
            <a:r>
              <a:rPr lang="en-US" altLang="zh-CN" dirty="0"/>
              <a:t>&gt; </a:t>
            </a:r>
            <a:r>
              <a:rPr lang="en-US" altLang="zh-CN" dirty="0" smtClean="0"/>
              <a:t>)</a:t>
            </a:r>
          </a:p>
          <a:p>
            <a:pPr lvl="2"/>
            <a:r>
              <a:rPr lang="en-US" altLang="zh-CN" dirty="0" err="1"/>
              <a:t>db.collection.update</a:t>
            </a:r>
            <a:r>
              <a:rPr lang="en-US" altLang="zh-CN" dirty="0"/>
              <a:t>( &lt;query&gt;, &lt;update&gt;, { </a:t>
            </a:r>
            <a:r>
              <a:rPr lang="en-US" altLang="zh-CN" dirty="0" err="1"/>
              <a:t>upsert</a:t>
            </a:r>
            <a:r>
              <a:rPr lang="en-US" altLang="zh-CN" dirty="0"/>
              <a:t>: &lt;</a:t>
            </a:r>
            <a:r>
              <a:rPr lang="en-US" altLang="zh-CN" dirty="0" err="1"/>
              <a:t>boolean</a:t>
            </a:r>
            <a:r>
              <a:rPr lang="en-US" altLang="zh-CN" dirty="0"/>
              <a:t>&gt;, multi: </a:t>
            </a:r>
            <a:r>
              <a:rPr lang="en-US" altLang="zh-CN" dirty="0" smtClean="0"/>
              <a:t>	&lt;</a:t>
            </a:r>
            <a:r>
              <a:rPr lang="en-US" altLang="zh-CN" dirty="0" err="1"/>
              <a:t>boolean</a:t>
            </a:r>
            <a:r>
              <a:rPr lang="en-US" altLang="zh-CN" dirty="0"/>
              <a:t>&gt;, </a:t>
            </a:r>
            <a:r>
              <a:rPr lang="en-US" altLang="zh-CN" dirty="0" err="1"/>
              <a:t>writeConcern</a:t>
            </a:r>
            <a:r>
              <a:rPr lang="en-US" altLang="zh-CN" dirty="0"/>
              <a:t>: &lt;document&gt; } </a:t>
            </a:r>
            <a:r>
              <a:rPr lang="en-US" altLang="zh-CN" dirty="0" smtClean="0"/>
              <a:t>)</a:t>
            </a:r>
          </a:p>
          <a:p>
            <a:pPr lvl="3"/>
            <a:r>
              <a:rPr lang="zh-CN" altLang="en-US" dirty="0" smtClean="0">
                <a:latin typeface="微软雅黑" pitchFamily="34" charset="-122"/>
                <a:ea typeface="微软雅黑" pitchFamily="34" charset="-122"/>
              </a:rPr>
              <a:t>默认</a:t>
            </a:r>
            <a:r>
              <a:rPr lang="en-US" altLang="zh-CN" dirty="0" err="1" smtClean="0">
                <a:latin typeface="微软雅黑" pitchFamily="34" charset="-122"/>
                <a:ea typeface="微软雅黑" pitchFamily="34" charset="-122"/>
              </a:rPr>
              <a:t>multi:false</a:t>
            </a:r>
            <a:endParaRPr lang="en-US" altLang="zh-CN" dirty="0">
              <a:latin typeface="微软雅黑" pitchFamily="34" charset="-122"/>
              <a:ea typeface="微软雅黑" pitchFamily="34" charset="-122"/>
            </a:endParaRPr>
          </a:p>
          <a:p>
            <a:pPr lvl="3"/>
            <a:r>
              <a:rPr lang="en-US" altLang="zh-CN" dirty="0" smtClean="0">
                <a:latin typeface="微软雅黑" pitchFamily="34" charset="-122"/>
                <a:ea typeface="微软雅黑" pitchFamily="34" charset="-122"/>
              </a:rPr>
              <a:t>update</a:t>
            </a:r>
            <a:r>
              <a:rPr lang="zh-CN" altLang="en-US" dirty="0" smtClean="0">
                <a:latin typeface="微软雅黑" pitchFamily="34" charset="-122"/>
                <a:ea typeface="微软雅黑" pitchFamily="34" charset="-122"/>
              </a:rPr>
              <a:t>未使用操作符针对特定字段修改的话，默认行为是覆盖整个文档</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聚合：</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基本的聚合函数，</a:t>
            </a:r>
            <a:r>
              <a:rPr lang="en-US" altLang="zh-CN" dirty="0" smtClean="0">
                <a:latin typeface="微软雅黑" pitchFamily="34" charset="-122"/>
                <a:ea typeface="微软雅黑" pitchFamily="34" charset="-122"/>
              </a:rPr>
              <a:t>pipeline, map-reduce</a:t>
            </a:r>
          </a:p>
          <a:p>
            <a:pPr lvl="2"/>
            <a:r>
              <a:rPr lang="zh-CN" altLang="en-US" dirty="0" smtClean="0">
                <a:latin typeface="微软雅黑" pitchFamily="34" charset="-122"/>
                <a:ea typeface="微软雅黑" pitchFamily="34" charset="-122"/>
              </a:rPr>
              <a:t>结果超过</a:t>
            </a:r>
            <a:r>
              <a:rPr lang="en-US" altLang="zh-CN" dirty="0" err="1" smtClean="0">
                <a:latin typeface="微软雅黑" pitchFamily="34" charset="-122"/>
                <a:ea typeface="微软雅黑" pitchFamily="34" charset="-122"/>
              </a:rPr>
              <a:t>bson</a:t>
            </a:r>
            <a:r>
              <a:rPr lang="zh-CN" altLang="en-US" dirty="0" smtClean="0">
                <a:latin typeface="微软雅黑" pitchFamily="34" charset="-122"/>
                <a:ea typeface="微软雅黑" pitchFamily="34" charset="-122"/>
              </a:rPr>
              <a:t>大小限制（</a:t>
            </a:r>
            <a:r>
              <a:rPr lang="en-US" altLang="zh-CN" dirty="0" smtClean="0">
                <a:latin typeface="微软雅黑" pitchFamily="34" charset="-122"/>
                <a:ea typeface="微软雅黑" pitchFamily="34" charset="-122"/>
              </a:rPr>
              <a:t>16MB)</a:t>
            </a:r>
            <a:r>
              <a:rPr lang="zh-CN" altLang="en-US" dirty="0" smtClean="0">
                <a:latin typeface="微软雅黑" pitchFamily="34" charset="-122"/>
                <a:ea typeface="微软雅黑" pitchFamily="34" charset="-122"/>
              </a:rPr>
              <a:t>或过程中使用内存超过限制（</a:t>
            </a:r>
            <a:r>
              <a:rPr lang="en-US" altLang="zh-CN" dirty="0" smtClean="0">
                <a:latin typeface="微软雅黑" pitchFamily="34" charset="-122"/>
                <a:ea typeface="微软雅黑" pitchFamily="34" charset="-122"/>
              </a:rPr>
              <a:t>100MB)</a:t>
            </a:r>
            <a:r>
              <a:rPr lang="zh-CN" altLang="en-US" dirty="0" smtClean="0">
                <a:latin typeface="微软雅黑" pitchFamily="34" charset="-122"/>
                <a:ea typeface="微软雅黑" pitchFamily="34" charset="-122"/>
              </a:rPr>
              <a:t>，使用</a:t>
            </a:r>
            <a:r>
              <a:rPr lang="en-US" altLang="zh-CN" dirty="0" smtClean="0">
                <a:latin typeface="微软雅黑" pitchFamily="34" charset="-122"/>
                <a:ea typeface="微软雅黑" pitchFamily="34" charset="-122"/>
              </a:rPr>
              <a:t>map-reduce</a:t>
            </a:r>
            <a:r>
              <a:rPr lang="zh-CN" altLang="en-US" dirty="0" smtClean="0">
                <a:latin typeface="微软雅黑" pitchFamily="34" charset="-122"/>
                <a:ea typeface="微软雅黑" pitchFamily="34" charset="-122"/>
              </a:rPr>
              <a:t>，并且结果输出到临时表。</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执行计划</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之前：</a:t>
            </a:r>
            <a:r>
              <a:rPr lang="en-US" altLang="zh-CN" dirty="0" err="1" smtClean="0">
                <a:latin typeface="微软雅黑" pitchFamily="34" charset="-122"/>
                <a:ea typeface="微软雅黑" pitchFamily="34" charset="-122"/>
              </a:rPr>
              <a:t>db.coll.find</a:t>
            </a:r>
            <a:r>
              <a:rPr lang="en-US" altLang="zh-CN" dirty="0" smtClean="0">
                <a:latin typeface="微软雅黑" pitchFamily="34" charset="-122"/>
                <a:ea typeface="微软雅黑" pitchFamily="34" charset="-122"/>
              </a:rPr>
              <a:t>().explain()</a:t>
            </a:r>
          </a:p>
          <a:p>
            <a:pPr lvl="1"/>
            <a:r>
              <a:rPr lang="zh-CN" altLang="en-US" dirty="0" smtClean="0">
                <a:latin typeface="微软雅黑" pitchFamily="34" charset="-122"/>
                <a:ea typeface="微软雅黑" pitchFamily="34" charset="-122"/>
              </a:rPr>
              <a:t>现在：</a:t>
            </a:r>
            <a:r>
              <a:rPr lang="en-US" altLang="zh-CN" dirty="0" err="1" smtClean="0">
                <a:latin typeface="微软雅黑" pitchFamily="34" charset="-122"/>
                <a:ea typeface="微软雅黑" pitchFamily="34" charset="-122"/>
              </a:rPr>
              <a:t>db.coll.explain</a:t>
            </a:r>
            <a:r>
              <a:rPr lang="en-US" altLang="zh-CN" dirty="0" smtClean="0">
                <a:latin typeface="微软雅黑" pitchFamily="34" charset="-122"/>
                <a:ea typeface="微软雅黑" pitchFamily="34" charset="-122"/>
              </a:rPr>
              <a:t>(verbose).update({query},{update})</a:t>
            </a:r>
          </a:p>
          <a:p>
            <a:pPr lvl="2"/>
            <a:r>
              <a:rPr lang="en-US" altLang="zh-CN" dirty="0" err="1" smtClean="0"/>
              <a:t>queryPlanner</a:t>
            </a:r>
            <a:r>
              <a:rPr lang="en-US" altLang="zh-CN" dirty="0" smtClean="0"/>
              <a:t>(default</a:t>
            </a:r>
            <a:r>
              <a:rPr lang="zh-CN" altLang="en-US" dirty="0" smtClean="0"/>
              <a:t>，预估</a:t>
            </a:r>
            <a:r>
              <a:rPr lang="en-US" altLang="zh-CN" dirty="0" smtClean="0"/>
              <a:t>)</a:t>
            </a:r>
            <a:endParaRPr lang="en-US" altLang="zh-CN" dirty="0"/>
          </a:p>
          <a:p>
            <a:pPr lvl="2"/>
            <a:r>
              <a:rPr lang="en-US" altLang="zh-CN" dirty="0" err="1" smtClean="0"/>
              <a:t>executionStats</a:t>
            </a:r>
            <a:r>
              <a:rPr lang="zh-CN" altLang="en-US" dirty="0" smtClean="0"/>
              <a:t>（执行不应用，</a:t>
            </a:r>
            <a:r>
              <a:rPr lang="en-US" altLang="zh-CN" dirty="0" smtClean="0"/>
              <a:t>winning plan</a:t>
            </a:r>
            <a:r>
              <a:rPr lang="zh-CN" altLang="en-US" dirty="0" smtClean="0"/>
              <a:t>）</a:t>
            </a:r>
            <a:endParaRPr lang="en-US" altLang="zh-CN" dirty="0"/>
          </a:p>
          <a:p>
            <a:pPr lvl="2"/>
            <a:r>
              <a:rPr lang="en-US" altLang="zh-CN" dirty="0" err="1" smtClean="0"/>
              <a:t>allPlansExecution</a:t>
            </a:r>
            <a:r>
              <a:rPr lang="zh-CN" altLang="en-US" dirty="0"/>
              <a:t>（执行不</a:t>
            </a:r>
            <a:r>
              <a:rPr lang="zh-CN" altLang="en-US" dirty="0" smtClean="0"/>
              <a:t>应用，</a:t>
            </a:r>
            <a:r>
              <a:rPr lang="en-US" altLang="zh-CN" dirty="0" smtClean="0"/>
              <a:t>all plan</a:t>
            </a:r>
            <a:r>
              <a:rPr lang="zh-CN" altLang="en-US" dirty="0" smtClean="0"/>
              <a:t>）</a:t>
            </a:r>
            <a:endParaRPr lang="en-US" altLang="zh-CN" dirty="0" smtClean="0">
              <a:latin typeface="微软雅黑" pitchFamily="34" charset="-122"/>
              <a:ea typeface="微软雅黑" pitchFamily="34" charset="-122"/>
            </a:endParaRPr>
          </a:p>
          <a:p>
            <a:r>
              <a:rPr lang="zh-CN" altLang="en-US" dirty="0">
                <a:latin typeface="微软雅黑" pitchFamily="34" charset="-122"/>
                <a:ea typeface="微软雅黑" pitchFamily="34" charset="-122"/>
              </a:rPr>
              <a:t>操作符</a:t>
            </a:r>
            <a:r>
              <a:rPr lang="en-US" altLang="zh-CN" dirty="0">
                <a:latin typeface="微软雅黑" pitchFamily="34" charset="-122"/>
                <a:ea typeface="微软雅黑" pitchFamily="34" charset="-122"/>
              </a:rPr>
              <a:t>(Operators</a:t>
            </a:r>
            <a:r>
              <a:rPr lang="en-US" altLang="zh-CN" dirty="0" smtClean="0">
                <a:latin typeface="微软雅黑" pitchFamily="34" charset="-122"/>
                <a:ea typeface="微软雅黑" pitchFamily="34" charset="-122"/>
              </a:rPr>
              <a:t>)</a:t>
            </a:r>
          </a:p>
          <a:p>
            <a:pPr lvl="1"/>
            <a:r>
              <a:rPr lang="zh-CN" altLang="en-US" dirty="0" smtClean="0">
                <a:latin typeface="微软雅黑" pitchFamily="34" charset="-122"/>
                <a:ea typeface="微软雅黑" pitchFamily="34" charset="-122"/>
              </a:rPr>
              <a:t>尽量不要用</a:t>
            </a:r>
            <a:r>
              <a:rPr lang="en-US" altLang="zh-CN" dirty="0" smtClean="0">
                <a:latin typeface="微软雅黑" pitchFamily="34" charset="-122"/>
                <a:ea typeface="微软雅黑" pitchFamily="34" charset="-122"/>
              </a:rPr>
              <a:t>$where(</a:t>
            </a:r>
            <a:r>
              <a:rPr lang="en-US" altLang="zh-CN" dirty="0" err="1" smtClean="0">
                <a:latin typeface="微软雅黑" pitchFamily="34" charset="-122"/>
                <a:ea typeface="微软雅黑" pitchFamily="34" charset="-122"/>
              </a:rPr>
              <a:t>javascript</a:t>
            </a:r>
            <a:r>
              <a:rPr lang="zh-CN" altLang="en-US" dirty="0">
                <a:latin typeface="微软雅黑" pitchFamily="34" charset="-122"/>
                <a:ea typeface="微软雅黑" pitchFamily="34" charset="-122"/>
              </a:rPr>
              <a:t>，</a:t>
            </a:r>
            <a:r>
              <a:rPr lang="zh-CN" altLang="en-US" dirty="0" smtClean="0">
                <a:latin typeface="微软雅黑" pitchFamily="34" charset="-122"/>
                <a:ea typeface="微软雅黑" pitchFamily="34" charset="-122"/>
              </a:rPr>
              <a:t>不能使用索引</a:t>
            </a:r>
            <a:r>
              <a:rPr lang="en-US" altLang="zh-CN" dirty="0" smtClean="0">
                <a:latin typeface="微软雅黑" pitchFamily="34" charset="-122"/>
                <a:ea typeface="微软雅黑" pitchFamily="34" charset="-122"/>
              </a:rPr>
              <a:t>)</a:t>
            </a:r>
          </a:p>
          <a:p>
            <a:pPr lvl="1"/>
            <a:endParaRPr lang="en-US" altLang="zh-CN" dirty="0" smtClean="0">
              <a:latin typeface="微软雅黑" pitchFamily="34" charset="-122"/>
              <a:ea typeface="微软雅黑" pitchFamily="34" charset="-122"/>
            </a:endParaRPr>
          </a:p>
          <a:p>
            <a:pPr lvl="2"/>
            <a:endParaRPr lang="en-US" altLang="zh-CN" dirty="0" smtClean="0">
              <a:latin typeface="微软雅黑" pitchFamily="34" charset="-122"/>
              <a:ea typeface="微软雅黑" pitchFamily="34" charset="-122"/>
            </a:endParaRPr>
          </a:p>
          <a:p>
            <a:pPr lvl="2"/>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5248441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2.9 CRUD</a:t>
            </a:r>
            <a:endParaRPr lang="zh-CN" altLang="en-US" dirty="0"/>
          </a:p>
        </p:txBody>
      </p:sp>
      <p:sp>
        <p:nvSpPr>
          <p:cNvPr id="3" name="内容占位符 2"/>
          <p:cNvSpPr>
            <a:spLocks noGrp="1"/>
          </p:cNvSpPr>
          <p:nvPr>
            <p:ph idx="1"/>
          </p:nvPr>
        </p:nvSpPr>
        <p:spPr>
          <a:xfrm>
            <a:off x="457200" y="1600200"/>
            <a:ext cx="8229600" cy="4781128"/>
          </a:xfrm>
        </p:spPr>
        <p:txBody>
          <a:bodyPr>
            <a:normAutofit fontScale="77500" lnSpcReduction="20000"/>
          </a:bodyPr>
          <a:lstStyle/>
          <a:p>
            <a:r>
              <a:rPr lang="zh-CN" altLang="en-US" dirty="0">
                <a:latin typeface="微软雅黑" pitchFamily="34" charset="-122"/>
                <a:ea typeface="微软雅黑" pitchFamily="34" charset="-122"/>
              </a:rPr>
              <a:t>游标</a:t>
            </a:r>
            <a:r>
              <a:rPr lang="en-US" altLang="zh-CN" dirty="0">
                <a:latin typeface="微软雅黑" pitchFamily="34" charset="-122"/>
                <a:ea typeface="微软雅黑" pitchFamily="34" charset="-122"/>
              </a:rPr>
              <a:t>(cursor)</a:t>
            </a:r>
          </a:p>
          <a:p>
            <a:pPr lvl="1"/>
            <a:r>
              <a:rPr lang="en-US" altLang="zh-CN" dirty="0">
                <a:latin typeface="微软雅黑" pitchFamily="34" charset="-122"/>
                <a:ea typeface="微软雅黑" pitchFamily="34" charset="-122"/>
              </a:rPr>
              <a:t>Batch </a:t>
            </a:r>
          </a:p>
          <a:p>
            <a:pPr lvl="2"/>
            <a:r>
              <a:rPr lang="zh-CN" altLang="en-US" dirty="0" smtClean="0">
                <a:latin typeface="微软雅黑" pitchFamily="34" charset="-122"/>
                <a:ea typeface="微软雅黑" pitchFamily="34" charset="-122"/>
              </a:rPr>
              <a:t>第一批</a:t>
            </a:r>
            <a:r>
              <a:rPr lang="en-US" altLang="zh-CN" dirty="0" smtClean="0">
                <a:latin typeface="微软雅黑" pitchFamily="34" charset="-122"/>
                <a:ea typeface="微软雅黑" pitchFamily="34" charset="-122"/>
              </a:rPr>
              <a:t> </a:t>
            </a:r>
            <a:r>
              <a:rPr lang="en-US" altLang="zh-CN" dirty="0">
                <a:latin typeface="微软雅黑" pitchFamily="34" charset="-122"/>
                <a:ea typeface="微软雅黑" pitchFamily="34" charset="-122"/>
              </a:rPr>
              <a:t>: 101documents or 1MB, </a:t>
            </a:r>
            <a:r>
              <a:rPr lang="zh-CN" altLang="en-US" dirty="0" smtClean="0">
                <a:latin typeface="微软雅黑" pitchFamily="34" charset="-122"/>
                <a:ea typeface="微软雅黑" pitchFamily="34" charset="-122"/>
              </a:rPr>
              <a:t>之后</a:t>
            </a:r>
            <a:r>
              <a:rPr lang="en-US" altLang="zh-CN" dirty="0" smtClean="0">
                <a:latin typeface="微软雅黑" pitchFamily="34" charset="-122"/>
                <a:ea typeface="微软雅黑" pitchFamily="34" charset="-122"/>
              </a:rPr>
              <a:t>: </a:t>
            </a:r>
            <a:r>
              <a:rPr lang="en-US" altLang="zh-CN" dirty="0">
                <a:latin typeface="微软雅黑" pitchFamily="34" charset="-122"/>
                <a:ea typeface="微软雅黑" pitchFamily="34" charset="-122"/>
              </a:rPr>
              <a:t>4M</a:t>
            </a:r>
          </a:p>
          <a:p>
            <a:pPr lvl="2"/>
            <a:r>
              <a:rPr lang="en-US" altLang="zh-CN" dirty="0" err="1">
                <a:latin typeface="微软雅黑" pitchFamily="34" charset="-122"/>
                <a:ea typeface="微软雅黑" pitchFamily="34" charset="-122"/>
              </a:rPr>
              <a:t>batchSize</a:t>
            </a:r>
            <a:r>
              <a:rPr lang="en-US" altLang="zh-CN" dirty="0">
                <a:latin typeface="微软雅黑" pitchFamily="34" charset="-122"/>
                <a:ea typeface="微软雅黑" pitchFamily="34" charset="-122"/>
              </a:rPr>
              <a:t>(), limit</a:t>
            </a:r>
          </a:p>
          <a:p>
            <a:pPr lvl="1"/>
            <a:r>
              <a:rPr lang="en-US" altLang="zh-CN" dirty="0" err="1">
                <a:latin typeface="微软雅黑" pitchFamily="34" charset="-122"/>
                <a:ea typeface="微软雅黑" pitchFamily="34" charset="-122"/>
              </a:rPr>
              <a:t>DBQuery.Option.noTimeout</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默认 </a:t>
            </a:r>
            <a:r>
              <a:rPr lang="en-US" altLang="zh-CN" dirty="0">
                <a:latin typeface="微软雅黑" pitchFamily="34" charset="-122"/>
                <a:ea typeface="微软雅黑" pitchFamily="34" charset="-122"/>
              </a:rPr>
              <a:t>10min or exhaust)</a:t>
            </a:r>
          </a:p>
          <a:p>
            <a:pPr lvl="1"/>
            <a:r>
              <a:rPr lang="en-US" altLang="zh-CN" dirty="0" err="1">
                <a:latin typeface="微软雅黑" pitchFamily="34" charset="-122"/>
                <a:ea typeface="微软雅黑" pitchFamily="34" charset="-122"/>
              </a:rPr>
              <a:t>tailable</a:t>
            </a:r>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cursor</a:t>
            </a:r>
          </a:p>
          <a:p>
            <a:pPr lvl="2"/>
            <a:r>
              <a:rPr lang="en-US" altLang="zh-CN" dirty="0" smtClean="0">
                <a:latin typeface="微软雅黑" pitchFamily="34" charset="-122"/>
                <a:ea typeface="微软雅黑" pitchFamily="34" charset="-122"/>
              </a:rPr>
              <a:t>capped collection</a:t>
            </a:r>
            <a:endParaRPr lang="en-US" altLang="zh-CN" dirty="0">
              <a:latin typeface="微软雅黑" pitchFamily="34" charset="-122"/>
              <a:ea typeface="微软雅黑" pitchFamily="34" charset="-122"/>
            </a:endParaRPr>
          </a:p>
          <a:p>
            <a:pPr lvl="2"/>
            <a:r>
              <a:rPr lang="en-US" altLang="zh-CN" dirty="0" err="1">
                <a:latin typeface="微软雅黑" pitchFamily="34" charset="-122"/>
                <a:ea typeface="微软雅黑" pitchFamily="34" charset="-122"/>
              </a:rPr>
              <a:t>DBQuery.Option.tailable</a:t>
            </a:r>
            <a:endParaRPr lang="en-US" altLang="zh-CN" dirty="0">
              <a:latin typeface="微软雅黑" pitchFamily="34" charset="-122"/>
              <a:ea typeface="微软雅黑" pitchFamily="34" charset="-122"/>
            </a:endParaRPr>
          </a:p>
          <a:p>
            <a:pPr lvl="2"/>
            <a:r>
              <a:rPr lang="en-US" altLang="zh-CN" dirty="0" err="1">
                <a:latin typeface="微软雅黑" pitchFamily="34" charset="-122"/>
                <a:ea typeface="微软雅黑" pitchFamily="34" charset="-122"/>
              </a:rPr>
              <a:t>DBQuery.Option.awaitData</a:t>
            </a:r>
            <a:endParaRPr lang="en-US" altLang="zh-CN" dirty="0">
              <a:latin typeface="微软雅黑" pitchFamily="34" charset="-122"/>
              <a:ea typeface="微软雅黑" pitchFamily="34" charset="-122"/>
            </a:endParaRPr>
          </a:p>
          <a:p>
            <a:r>
              <a:rPr lang="zh-CN" altLang="en-US" dirty="0">
                <a:latin typeface="微软雅黑" pitchFamily="34" charset="-122"/>
                <a:ea typeface="微软雅黑" pitchFamily="34" charset="-122"/>
              </a:rPr>
              <a:t>写关注</a:t>
            </a:r>
            <a:r>
              <a:rPr lang="en-US"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WriteConcern</a:t>
            </a:r>
            <a:r>
              <a:rPr lang="en-US" altLang="zh-CN" dirty="0">
                <a:latin typeface="微软雅黑" pitchFamily="34" charset="-122"/>
                <a:ea typeface="微软雅黑" pitchFamily="34" charset="-122"/>
              </a:rPr>
              <a:t>)</a:t>
            </a:r>
          </a:p>
          <a:p>
            <a:pPr lvl="1"/>
            <a:r>
              <a:rPr lang="en-US" altLang="zh-CN" dirty="0">
                <a:latin typeface="微软雅黑" pitchFamily="34" charset="-122"/>
                <a:ea typeface="微软雅黑" pitchFamily="34" charset="-122"/>
              </a:rPr>
              <a:t>w</a:t>
            </a:r>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j</a:t>
            </a:r>
          </a:p>
          <a:p>
            <a:pPr lvl="2"/>
            <a:r>
              <a:rPr lang="en-US" altLang="zh-CN" dirty="0" smtClean="0">
                <a:latin typeface="微软雅黑" pitchFamily="34" charset="-122"/>
                <a:ea typeface="微软雅黑" pitchFamily="34" charset="-122"/>
              </a:rPr>
              <a:t>Unacknowledged</a:t>
            </a:r>
          </a:p>
          <a:p>
            <a:pPr lvl="3"/>
            <a:r>
              <a:rPr lang="en-US" altLang="zh-CN" dirty="0" smtClean="0">
                <a:latin typeface="微软雅黑" pitchFamily="34" charset="-122"/>
                <a:ea typeface="微软雅黑" pitchFamily="34" charset="-122"/>
              </a:rPr>
              <a:t>w=0</a:t>
            </a:r>
          </a:p>
          <a:p>
            <a:pPr lvl="3"/>
            <a:r>
              <a:rPr lang="en-US" altLang="zh-CN" dirty="0">
                <a:latin typeface="微软雅黑" pitchFamily="34" charset="-122"/>
                <a:ea typeface="微软雅黑" pitchFamily="34" charset="-122"/>
              </a:rPr>
              <a:t>read </a:t>
            </a:r>
            <a:r>
              <a:rPr lang="en-US" altLang="zh-CN" dirty="0" err="1">
                <a:latin typeface="微软雅黑" pitchFamily="34" charset="-122"/>
                <a:ea typeface="微软雅黑" pitchFamily="34" charset="-122"/>
              </a:rPr>
              <a:t>uncommited</a:t>
            </a:r>
            <a:endParaRPr lang="en-US" altLang="zh-CN" dirty="0">
              <a:latin typeface="微软雅黑" pitchFamily="34" charset="-122"/>
              <a:ea typeface="微软雅黑" pitchFamily="34" charset="-122"/>
            </a:endParaRPr>
          </a:p>
          <a:p>
            <a:pPr lvl="2"/>
            <a:r>
              <a:rPr lang="en-US" altLang="zh-CN" dirty="0" smtClean="0">
                <a:latin typeface="微软雅黑" pitchFamily="34" charset="-122"/>
                <a:ea typeface="微软雅黑" pitchFamily="34" charset="-122"/>
              </a:rPr>
              <a:t>Acknowledged</a:t>
            </a:r>
          </a:p>
          <a:p>
            <a:pPr lvl="3"/>
            <a:r>
              <a:rPr lang="en-US" altLang="zh-CN" dirty="0" smtClean="0">
                <a:latin typeface="微软雅黑" pitchFamily="34" charset="-122"/>
                <a:ea typeface="微软雅黑" pitchFamily="34" charset="-122"/>
              </a:rPr>
              <a:t>w=1</a:t>
            </a:r>
          </a:p>
          <a:p>
            <a:pPr lvl="3"/>
            <a:r>
              <a:rPr lang="zh-CN" altLang="en-US" dirty="0" smtClean="0">
                <a:latin typeface="微软雅黑" pitchFamily="34" charset="-122"/>
                <a:ea typeface="微软雅黑" pitchFamily="34" charset="-122"/>
              </a:rPr>
              <a:t>默认，</a:t>
            </a:r>
            <a:r>
              <a:rPr lang="en-US" altLang="zh-CN" dirty="0">
                <a:latin typeface="微软雅黑" pitchFamily="34" charset="-122"/>
                <a:ea typeface="微软雅黑" pitchFamily="34" charset="-122"/>
              </a:rPr>
              <a:t>read </a:t>
            </a:r>
            <a:r>
              <a:rPr lang="en-US" altLang="zh-CN" dirty="0" err="1">
                <a:latin typeface="微软雅黑" pitchFamily="34" charset="-122"/>
                <a:ea typeface="微软雅黑" pitchFamily="34" charset="-122"/>
              </a:rPr>
              <a:t>uncommited</a:t>
            </a:r>
            <a:endParaRPr lang="en-US" altLang="zh-CN" dirty="0">
              <a:latin typeface="微软雅黑" pitchFamily="34" charset="-122"/>
              <a:ea typeface="微软雅黑" pitchFamily="34" charset="-122"/>
            </a:endParaRPr>
          </a:p>
          <a:p>
            <a:pPr lvl="2"/>
            <a:r>
              <a:rPr lang="en-US" altLang="zh-CN" dirty="0" err="1" smtClean="0">
                <a:latin typeface="微软雅黑" pitchFamily="34" charset="-122"/>
                <a:ea typeface="微软雅黑" pitchFamily="34" charset="-122"/>
              </a:rPr>
              <a:t>Journaled</a:t>
            </a:r>
            <a:endParaRPr lang="en-US" altLang="zh-CN" dirty="0" smtClean="0">
              <a:latin typeface="微软雅黑" pitchFamily="34" charset="-122"/>
              <a:ea typeface="微软雅黑" pitchFamily="34" charset="-122"/>
            </a:endParaRPr>
          </a:p>
          <a:p>
            <a:pPr lvl="3"/>
            <a:r>
              <a:rPr lang="en-US" altLang="zh-CN" dirty="0">
                <a:latin typeface="微软雅黑" pitchFamily="34" charset="-122"/>
                <a:ea typeface="微软雅黑" pitchFamily="34" charset="-122"/>
              </a:rPr>
              <a:t>w</a:t>
            </a:r>
            <a:r>
              <a:rPr lang="en-US" altLang="zh-CN" dirty="0" smtClean="0">
                <a:latin typeface="微软雅黑" pitchFamily="34" charset="-122"/>
                <a:ea typeface="微软雅黑" pitchFamily="34" charset="-122"/>
              </a:rPr>
              <a:t>=1, j=true</a:t>
            </a:r>
          </a:p>
          <a:p>
            <a:pPr lvl="3"/>
            <a:r>
              <a:rPr lang="en-US" altLang="zh-CN" dirty="0" smtClean="0">
                <a:latin typeface="微软雅黑" pitchFamily="34" charset="-122"/>
                <a:ea typeface="微软雅黑" pitchFamily="34" charset="-122"/>
              </a:rPr>
              <a:t>rollback</a:t>
            </a:r>
            <a:r>
              <a:rPr lang="zh-CN" altLang="en-US" dirty="0" smtClean="0">
                <a:latin typeface="微软雅黑" pitchFamily="34" charset="-122"/>
                <a:ea typeface="微软雅黑" pitchFamily="34" charset="-122"/>
              </a:rPr>
              <a:t>，</a:t>
            </a:r>
            <a:r>
              <a:rPr lang="en-US" altLang="zh-CN" dirty="0">
                <a:latin typeface="微软雅黑" pitchFamily="34" charset="-122"/>
                <a:ea typeface="微软雅黑" pitchFamily="34" charset="-122"/>
              </a:rPr>
              <a:t>read </a:t>
            </a:r>
            <a:r>
              <a:rPr lang="en-US" altLang="zh-CN" dirty="0" err="1">
                <a:latin typeface="微软雅黑" pitchFamily="34" charset="-122"/>
                <a:ea typeface="微软雅黑" pitchFamily="34" charset="-122"/>
              </a:rPr>
              <a:t>uncommited</a:t>
            </a:r>
            <a:endParaRPr lang="en-US" altLang="zh-CN" dirty="0">
              <a:latin typeface="微软雅黑" pitchFamily="34" charset="-122"/>
              <a:ea typeface="微软雅黑" pitchFamily="34" charset="-122"/>
            </a:endParaRPr>
          </a:p>
          <a:p>
            <a:pPr lvl="2"/>
            <a:r>
              <a:rPr lang="en-US" altLang="zh-CN" dirty="0">
                <a:latin typeface="微软雅黑" pitchFamily="34" charset="-122"/>
                <a:ea typeface="微软雅黑" pitchFamily="34" charset="-122"/>
              </a:rPr>
              <a:t>Replica </a:t>
            </a:r>
            <a:r>
              <a:rPr lang="en-US" altLang="zh-CN" dirty="0" smtClean="0">
                <a:latin typeface="微软雅黑" pitchFamily="34" charset="-122"/>
                <a:ea typeface="微软雅黑" pitchFamily="34" charset="-122"/>
              </a:rPr>
              <a:t>Acknowledged</a:t>
            </a:r>
          </a:p>
          <a:p>
            <a:pPr lvl="3"/>
            <a:r>
              <a:rPr lang="en-US" altLang="zh-CN" dirty="0" smtClean="0">
                <a:latin typeface="微软雅黑" pitchFamily="34" charset="-122"/>
                <a:ea typeface="微软雅黑" pitchFamily="34" charset="-122"/>
              </a:rPr>
              <a:t>w=2</a:t>
            </a:r>
          </a:p>
          <a:p>
            <a:pPr lvl="3"/>
            <a:r>
              <a:rPr lang="en-US" altLang="zh-CN" dirty="0" smtClean="0">
                <a:latin typeface="微软雅黑" pitchFamily="34" charset="-122"/>
                <a:ea typeface="微软雅黑" pitchFamily="34" charset="-122"/>
              </a:rPr>
              <a:t>w=majority</a:t>
            </a:r>
            <a:r>
              <a:rPr lang="zh-CN" altLang="en-US" dirty="0">
                <a:latin typeface="微软雅黑" pitchFamily="34" charset="-122"/>
                <a:ea typeface="微软雅黑" pitchFamily="34" charset="-122"/>
              </a:rPr>
              <a:t> </a:t>
            </a:r>
            <a:r>
              <a:rPr lang="zh-CN" altLang="en-US" dirty="0" smtClean="0">
                <a:latin typeface="微软雅黑" pitchFamily="34" charset="-122"/>
                <a:ea typeface="微软雅黑" pitchFamily="34" charset="-122"/>
              </a:rPr>
              <a:t>（推荐）</a:t>
            </a:r>
            <a:endParaRPr lang="en-US" altLang="zh-CN" dirty="0">
              <a:latin typeface="微软雅黑" pitchFamily="34" charset="-122"/>
              <a:ea typeface="微软雅黑" pitchFamily="34" charset="-122"/>
            </a:endParaRPr>
          </a:p>
          <a:p>
            <a:pPr lvl="1"/>
            <a:r>
              <a:rPr lang="en-US" altLang="zh-CN" dirty="0" err="1"/>
              <a:t>wtimeout</a:t>
            </a:r>
            <a:endParaRPr lang="en-US" altLang="zh-CN" dirty="0"/>
          </a:p>
          <a:p>
            <a:endParaRPr lang="zh-CN" altLang="en-US" dirty="0"/>
          </a:p>
        </p:txBody>
      </p:sp>
    </p:spTree>
    <p:extLst>
      <p:ext uri="{BB962C8B-B14F-4D97-AF65-F5344CB8AC3E}">
        <p14:creationId xmlns:p14="http://schemas.microsoft.com/office/powerpoint/2010/main" val="3996996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3. </a:t>
            </a:r>
            <a:r>
              <a:rPr lang="zh-CN" altLang="en-US" b="1" i="1" dirty="0" smtClean="0">
                <a:solidFill>
                  <a:prstClr val="black"/>
                </a:solidFill>
                <a:latin typeface="微软雅黑" pitchFamily="34" charset="-122"/>
                <a:ea typeface="微软雅黑" pitchFamily="34" charset="-122"/>
              </a:rPr>
              <a:t>索引</a:t>
            </a:r>
            <a:endParaRPr lang="zh-CN" altLang="en-US" dirty="0"/>
          </a:p>
        </p:txBody>
      </p:sp>
      <p:sp>
        <p:nvSpPr>
          <p:cNvPr id="3" name="内容占位符 2"/>
          <p:cNvSpPr>
            <a:spLocks noGrp="1"/>
          </p:cNvSpPr>
          <p:nvPr>
            <p:ph idx="1"/>
          </p:nvPr>
        </p:nvSpPr>
        <p:spPr>
          <a:xfrm>
            <a:off x="1619672" y="1600200"/>
            <a:ext cx="5760640" cy="4525963"/>
          </a:xfrm>
        </p:spPr>
        <p:txBody>
          <a:bodyPr/>
          <a:lstStyle/>
          <a:p>
            <a:r>
              <a:rPr lang="en-US" altLang="zh-CN" dirty="0" smtClean="0">
                <a:latin typeface="微软雅黑" panose="020B0503020204020204" pitchFamily="34" charset="-122"/>
                <a:ea typeface="微软雅黑" panose="020B0503020204020204" pitchFamily="34" charset="-122"/>
              </a:rPr>
              <a:t>3.1 </a:t>
            </a:r>
            <a:r>
              <a:rPr lang="zh-CN" altLang="en-US" dirty="0" smtClean="0">
                <a:latin typeface="微软雅黑" panose="020B0503020204020204" pitchFamily="34" charset="-122"/>
                <a:ea typeface="微软雅黑" panose="020B0503020204020204" pitchFamily="34" charset="-122"/>
              </a:rPr>
              <a:t>索引</a:t>
            </a:r>
            <a:r>
              <a:rPr lang="zh-CN" altLang="en-US" dirty="0">
                <a:latin typeface="微软雅黑" panose="020B0503020204020204" pitchFamily="34" charset="-122"/>
                <a:ea typeface="微软雅黑" panose="020B0503020204020204" pitchFamily="34" charset="-122"/>
              </a:rPr>
              <a:t>概述</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3.2 </a:t>
            </a:r>
            <a:r>
              <a:rPr lang="zh-CN" altLang="en-US" dirty="0" smtClean="0">
                <a:latin typeface="微软雅黑" panose="020B0503020204020204" pitchFamily="34" charset="-122"/>
                <a:ea typeface="微软雅黑" panose="020B0503020204020204" pitchFamily="34" charset="-122"/>
              </a:rPr>
              <a:t>索引的类型</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3.3 </a:t>
            </a:r>
            <a:r>
              <a:rPr lang="zh-CN" altLang="en-US" dirty="0" smtClean="0">
                <a:latin typeface="微软雅黑" panose="020B0503020204020204" pitchFamily="34" charset="-122"/>
                <a:ea typeface="微软雅黑" panose="020B0503020204020204" pitchFamily="34" charset="-122"/>
              </a:rPr>
              <a:t>索引的属性</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3.3 </a:t>
            </a:r>
            <a:r>
              <a:rPr lang="zh-CN" altLang="en-US" dirty="0" smtClean="0">
                <a:latin typeface="微软雅黑" panose="020B0503020204020204" pitchFamily="34" charset="-122"/>
                <a:ea typeface="微软雅黑" panose="020B0503020204020204" pitchFamily="34" charset="-122"/>
              </a:rPr>
              <a:t>索引的创建、管理</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3.4 </a:t>
            </a:r>
            <a:r>
              <a:rPr lang="zh-CN" altLang="en-US" dirty="0" smtClean="0">
                <a:latin typeface="微软雅黑" panose="020B0503020204020204" pitchFamily="34" charset="-122"/>
                <a:ea typeface="微软雅黑" panose="020B0503020204020204" pitchFamily="34" charset="-122"/>
              </a:rPr>
              <a:t>索引交集</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3.5 </a:t>
            </a:r>
            <a:r>
              <a:rPr lang="zh-CN" altLang="en-US" dirty="0" smtClean="0">
                <a:latin typeface="微软雅黑" panose="020B0503020204020204" pitchFamily="34" charset="-122"/>
                <a:ea typeface="微软雅黑" panose="020B0503020204020204" pitchFamily="34" charset="-122"/>
              </a:rPr>
              <a:t>覆盖</a:t>
            </a:r>
            <a:r>
              <a:rPr lang="zh-CN" altLang="en-US" dirty="0">
                <a:latin typeface="微软雅黑" panose="020B0503020204020204" pitchFamily="34" charset="-122"/>
                <a:ea typeface="微软雅黑" panose="020B0503020204020204" pitchFamily="34" charset="-122"/>
              </a:rPr>
              <a:t>查询</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3.6 </a:t>
            </a:r>
            <a:r>
              <a:rPr lang="zh-CN" altLang="en-US" dirty="0" smtClean="0">
                <a:latin typeface="微软雅黑" panose="020B0503020204020204" pitchFamily="34" charset="-122"/>
                <a:ea typeface="微软雅黑" panose="020B0503020204020204" pitchFamily="34" charset="-122"/>
              </a:rPr>
              <a:t>如何发现问题</a:t>
            </a:r>
            <a:r>
              <a:rPr lang="en-US" altLang="zh-CN" dirty="0" smtClean="0">
                <a:latin typeface="微软雅黑" panose="020B0503020204020204" pitchFamily="34" charset="-122"/>
                <a:ea typeface="微软雅黑" panose="020B0503020204020204" pitchFamily="34" charset="-122"/>
              </a:rPr>
              <a:t> </a:t>
            </a:r>
          </a:p>
          <a:p>
            <a:endParaRPr lang="en-US" altLang="zh-CN" dirty="0" smtClean="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8959567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3.1 </a:t>
            </a:r>
            <a:r>
              <a:rPr lang="zh-CN" altLang="en-US" b="1" i="1" dirty="0" smtClean="0">
                <a:solidFill>
                  <a:prstClr val="black"/>
                </a:solidFill>
                <a:latin typeface="微软雅黑" pitchFamily="34" charset="-122"/>
                <a:ea typeface="微软雅黑" pitchFamily="34" charset="-122"/>
              </a:rPr>
              <a:t>索引</a:t>
            </a:r>
            <a:r>
              <a:rPr lang="zh-CN" altLang="en-US" b="1" i="1" dirty="0">
                <a:solidFill>
                  <a:prstClr val="black"/>
                </a:solidFill>
                <a:latin typeface="微软雅黑" pitchFamily="34" charset="-122"/>
                <a:ea typeface="微软雅黑" pitchFamily="34" charset="-122"/>
              </a:rPr>
              <a:t>概述</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latin typeface="微软雅黑" pitchFamily="34" charset="-122"/>
                <a:ea typeface="微软雅黑" pitchFamily="34" charset="-122"/>
              </a:rPr>
              <a:t>查询</a:t>
            </a:r>
            <a:r>
              <a:rPr lang="zh-CN" altLang="en-US" dirty="0">
                <a:latin typeface="微软雅黑" pitchFamily="34" charset="-122"/>
                <a:ea typeface="微软雅黑" pitchFamily="34" charset="-122"/>
              </a:rPr>
              <a:t>、</a:t>
            </a:r>
            <a:r>
              <a:rPr lang="zh-CN" altLang="en-US" dirty="0" smtClean="0">
                <a:latin typeface="微软雅黑" pitchFamily="34" charset="-122"/>
                <a:ea typeface="微软雅黑" pitchFamily="34" charset="-122"/>
              </a:rPr>
              <a:t>排序都需要</a:t>
            </a:r>
            <a:endParaRPr lang="en-US" altLang="zh-CN" dirty="0" smtClean="0">
              <a:latin typeface="微软雅黑" pitchFamily="34" charset="-122"/>
              <a:ea typeface="微软雅黑" pitchFamily="34" charset="-122"/>
            </a:endParaRPr>
          </a:p>
          <a:p>
            <a:pPr lvl="1"/>
            <a:r>
              <a:rPr lang="en-US" altLang="zh-CN" dirty="0" smtClean="0">
                <a:latin typeface="微软雅黑" pitchFamily="34" charset="-122"/>
                <a:ea typeface="微软雅黑" pitchFamily="34" charset="-122"/>
              </a:rPr>
              <a:t>Sort: &lt;32M</a:t>
            </a:r>
          </a:p>
          <a:p>
            <a:r>
              <a:rPr lang="zh-CN" altLang="en-US" dirty="0" smtClean="0">
                <a:latin typeface="微软雅黑" pitchFamily="34" charset="-122"/>
                <a:ea typeface="微软雅黑" pitchFamily="34" charset="-122"/>
              </a:rPr>
              <a:t>程序中大部分的读取超时可能都和缺乏</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不当索引有关</a:t>
            </a:r>
            <a:r>
              <a:rPr lang="zh-CN" altLang="en-US" dirty="0">
                <a:latin typeface="微软雅黑" pitchFamily="34" charset="-122"/>
                <a:ea typeface="微软雅黑" pitchFamily="34" charset="-122"/>
              </a:rPr>
              <a:t>。</a:t>
            </a:r>
            <a:r>
              <a:rPr lang="zh-CN" altLang="en-US" dirty="0" smtClean="0">
                <a:latin typeface="微软雅黑" pitchFamily="34" charset="-122"/>
                <a:ea typeface="微软雅黑" pitchFamily="34" charset="-122"/>
              </a:rPr>
              <a:t>服务器端</a:t>
            </a:r>
            <a:r>
              <a:rPr lang="en-US" altLang="zh-CN" dirty="0" smtClean="0">
                <a:latin typeface="微软雅黑" pitchFamily="34" charset="-122"/>
                <a:ea typeface="微软雅黑" pitchFamily="34" charset="-122"/>
              </a:rPr>
              <a:t>CPU</a:t>
            </a:r>
            <a:r>
              <a:rPr lang="zh-CN" altLang="en-US" dirty="0" smtClean="0">
                <a:latin typeface="微软雅黑" pitchFamily="34" charset="-122"/>
                <a:ea typeface="微软雅黑" pitchFamily="34" charset="-122"/>
              </a:rPr>
              <a:t>，内存，磁盘</a:t>
            </a:r>
            <a:r>
              <a:rPr lang="en-US" altLang="zh-CN" dirty="0" smtClean="0">
                <a:latin typeface="微软雅黑" pitchFamily="34" charset="-122"/>
                <a:ea typeface="微软雅黑" pitchFamily="34" charset="-122"/>
              </a:rPr>
              <a:t>IO</a:t>
            </a:r>
            <a:r>
              <a:rPr lang="zh-CN" altLang="en-US" dirty="0" smtClean="0">
                <a:latin typeface="微软雅黑" pitchFamily="34" charset="-122"/>
                <a:ea typeface="微软雅黑" pitchFamily="34" charset="-122"/>
              </a:rPr>
              <a:t>使用率暴增也可能和没有索引相关。</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避免在业务高峰创建索引，在线创建使用</a:t>
            </a:r>
            <a:r>
              <a:rPr lang="en-US" altLang="zh-CN" dirty="0" smtClean="0">
                <a:latin typeface="微软雅黑" pitchFamily="34" charset="-122"/>
                <a:ea typeface="微软雅黑" pitchFamily="34" charset="-122"/>
              </a:rPr>
              <a:t>background</a:t>
            </a:r>
            <a:r>
              <a:rPr lang="zh-CN" altLang="en-US" dirty="0" smtClean="0">
                <a:latin typeface="微软雅黑" pitchFamily="34" charset="-122"/>
                <a:ea typeface="微软雅黑" pitchFamily="34" charset="-122"/>
              </a:rPr>
              <a:t>参数避免阻塞其他操作。</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注意版本</a:t>
            </a:r>
            <a:r>
              <a:rPr lang="en-US" altLang="zh-CN" dirty="0" smtClean="0">
                <a:latin typeface="微软雅黑" pitchFamily="34" charset="-122"/>
                <a:ea typeface="微软雅黑" pitchFamily="34" charset="-122"/>
              </a:rPr>
              <a:t>&lt;2.6</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secondary</a:t>
            </a:r>
            <a:r>
              <a:rPr lang="zh-CN" altLang="en-US" dirty="0" smtClean="0">
                <a:latin typeface="微软雅黑" pitchFamily="34" charset="-122"/>
                <a:ea typeface="微软雅黑" pitchFamily="34" charset="-122"/>
              </a:rPr>
              <a:t>是在前台创建索引。</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不要在选择性低的字段创建索引，不要创建无意义或重复的索引。</a:t>
            </a:r>
            <a:endParaRPr lang="en-US" altLang="zh-CN" dirty="0" smtClean="0">
              <a:latin typeface="微软雅黑" pitchFamily="34" charset="-122"/>
              <a:ea typeface="微软雅黑" pitchFamily="34" charset="-122"/>
            </a:endParaRPr>
          </a:p>
          <a:p>
            <a:r>
              <a:rPr lang="zh-CN" altLang="en-US" dirty="0">
                <a:latin typeface="微软雅黑" pitchFamily="34" charset="-122"/>
                <a:ea typeface="微软雅黑" pitchFamily="34" charset="-122"/>
              </a:rPr>
              <a:t>不</a:t>
            </a:r>
            <a:r>
              <a:rPr lang="zh-CN" altLang="en-US" dirty="0" smtClean="0">
                <a:latin typeface="微软雅黑" pitchFamily="34" charset="-122"/>
                <a:ea typeface="微软雅黑" pitchFamily="34" charset="-122"/>
              </a:rPr>
              <a:t>走索引的情况</a:t>
            </a:r>
            <a:endParaRPr lang="en-US" altLang="zh-CN" dirty="0" smtClean="0">
              <a:latin typeface="微软雅黑" panose="020B0503020204020204" pitchFamily="34" charset="-122"/>
              <a:ea typeface="微软雅黑" panose="020B0503020204020204" pitchFamily="34" charset="-122"/>
            </a:endParaRPr>
          </a:p>
          <a:p>
            <a:pPr lvl="1"/>
            <a:r>
              <a:rPr lang="en-US"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nin</a:t>
            </a:r>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ne</a:t>
            </a:r>
            <a:endParaRPr lang="en-US" altLang="zh-CN" dirty="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前导正则匹配形式</a:t>
            </a:r>
            <a:r>
              <a:rPr lang="zh-CN" altLang="en-US" dirty="0">
                <a:latin typeface="微软雅黑" pitchFamily="34" charset="-122"/>
                <a:ea typeface="微软雅黑" pitchFamily="34" charset="-122"/>
              </a:rPr>
              <a:t>的正则表达式</a:t>
            </a:r>
            <a:endParaRPr lang="en-US" altLang="zh-CN" dirty="0">
              <a:latin typeface="微软雅黑" pitchFamily="34" charset="-122"/>
              <a:ea typeface="微软雅黑" pitchFamily="34" charset="-122"/>
            </a:endParaRPr>
          </a:p>
          <a:p>
            <a:pPr lvl="1"/>
            <a:r>
              <a:rPr lang="en-US" altLang="zh-CN" dirty="0" err="1">
                <a:latin typeface="微软雅黑" pitchFamily="34" charset="-122"/>
                <a:ea typeface="微软雅黑" pitchFamily="34" charset="-122"/>
              </a:rPr>
              <a:t>Javascript</a:t>
            </a:r>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$where</a:t>
            </a:r>
            <a:r>
              <a:rPr lang="zh-CN" altLang="en-US" dirty="0" smtClean="0">
                <a:latin typeface="微软雅黑" pitchFamily="34" charset="-122"/>
                <a:ea typeface="微软雅黑" pitchFamily="34" charset="-122"/>
              </a:rPr>
              <a:t>）</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hint</a:t>
            </a:r>
            <a:r>
              <a:rPr lang="en-US" altLang="zh-CN" dirty="0">
                <a:latin typeface="微软雅黑" panose="020B0503020204020204" pitchFamily="34" charset="-122"/>
                <a:ea typeface="微软雅黑" panose="020B0503020204020204" pitchFamily="34" charset="-122"/>
              </a:rPr>
              <a:t>()</a:t>
            </a:r>
          </a:p>
          <a:p>
            <a:pPr marL="457200" lvl="1" indent="0">
              <a:buNone/>
            </a:pPr>
            <a:endParaRPr lang="en-US" altLang="zh-CN" b="1" dirty="0" smtClean="0">
              <a:latin typeface="微软雅黑" pitchFamily="34" charset="-122"/>
              <a:ea typeface="微软雅黑" pitchFamily="34" charset="-122"/>
            </a:endParaRPr>
          </a:p>
          <a:p>
            <a:pPr lvl="1"/>
            <a:endParaRPr lang="en-US" altLang="zh-CN" b="1" dirty="0" smtClean="0">
              <a:latin typeface="微软雅黑" pitchFamily="34" charset="-122"/>
              <a:ea typeface="微软雅黑" pitchFamily="34" charset="-122"/>
            </a:endParaRPr>
          </a:p>
          <a:p>
            <a:pPr lvl="1"/>
            <a:endParaRPr lang="en-US" altLang="zh-CN" dirty="0" smtClean="0">
              <a:latin typeface="微软雅黑" pitchFamily="34" charset="-122"/>
              <a:ea typeface="微软雅黑" pitchFamily="34" charset="-122"/>
            </a:endParaRPr>
          </a:p>
          <a:p>
            <a:endParaRPr lang="zh-CN" altLang="en-US" dirty="0"/>
          </a:p>
        </p:txBody>
      </p:sp>
    </p:spTree>
    <p:extLst>
      <p:ext uri="{BB962C8B-B14F-4D97-AF65-F5344CB8AC3E}">
        <p14:creationId xmlns:p14="http://schemas.microsoft.com/office/powerpoint/2010/main" val="68068348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3.2 </a:t>
            </a:r>
            <a:r>
              <a:rPr lang="zh-CN" altLang="en-US" b="1" i="1" dirty="0">
                <a:solidFill>
                  <a:prstClr val="black"/>
                </a:solidFill>
                <a:latin typeface="微软雅黑" pitchFamily="34" charset="-122"/>
                <a:ea typeface="微软雅黑" pitchFamily="34" charset="-122"/>
              </a:rPr>
              <a:t>索引</a:t>
            </a:r>
            <a:r>
              <a:rPr lang="zh-CN" altLang="en-US" b="1" i="1" dirty="0" smtClean="0">
                <a:solidFill>
                  <a:prstClr val="black"/>
                </a:solidFill>
                <a:latin typeface="微软雅黑" pitchFamily="34" charset="-122"/>
                <a:ea typeface="微软雅黑" pitchFamily="34" charset="-122"/>
              </a:rPr>
              <a:t>的类型</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dirty="0" smtClean="0">
                <a:latin typeface="微软雅黑" pitchFamily="34" charset="-122"/>
                <a:ea typeface="微软雅黑" pitchFamily="34" charset="-122"/>
              </a:rPr>
              <a:t>单键索引</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复合索引</a:t>
            </a:r>
            <a:endParaRPr lang="en-US" altLang="zh-CN" dirty="0" smtClean="0">
              <a:latin typeface="微软雅黑" pitchFamily="34" charset="-122"/>
              <a:ea typeface="微软雅黑" pitchFamily="34" charset="-122"/>
            </a:endParaRPr>
          </a:p>
          <a:p>
            <a:pPr lvl="1"/>
            <a:r>
              <a:rPr lang="zh-CN" altLang="en-US" dirty="0">
                <a:latin typeface="微软雅黑" pitchFamily="34" charset="-122"/>
                <a:ea typeface="微软雅黑" pitchFamily="34" charset="-122"/>
              </a:rPr>
              <a:t>复合索引</a:t>
            </a:r>
            <a:r>
              <a:rPr lang="zh-CN" altLang="en-US" dirty="0" smtClean="0">
                <a:latin typeface="微软雅黑" pitchFamily="34" charset="-122"/>
                <a:ea typeface="微软雅黑" pitchFamily="34" charset="-122"/>
              </a:rPr>
              <a:t>注意创建顺序</a:t>
            </a:r>
            <a:r>
              <a:rPr lang="zh-CN" altLang="en-US" dirty="0">
                <a:latin typeface="微软雅黑" pitchFamily="34" charset="-122"/>
                <a:ea typeface="微软雅黑" pitchFamily="34" charset="-122"/>
              </a:rPr>
              <a:t>：选择性，范围查询，</a:t>
            </a:r>
            <a:r>
              <a:rPr lang="zh-CN" altLang="en-US" dirty="0" smtClean="0">
                <a:latin typeface="微软雅黑" pitchFamily="34" charset="-122"/>
                <a:ea typeface="微软雅黑" pitchFamily="34" charset="-122"/>
              </a:rPr>
              <a:t>排序</a:t>
            </a:r>
            <a:endParaRPr lang="en-US" altLang="zh-CN" dirty="0" smtClean="0">
              <a:latin typeface="微软雅黑" pitchFamily="34" charset="-122"/>
              <a:ea typeface="微软雅黑" pitchFamily="34" charset="-122"/>
            </a:endParaRPr>
          </a:p>
          <a:p>
            <a:pPr lvl="1"/>
            <a:r>
              <a:rPr lang="zh-CN" altLang="en-US" dirty="0">
                <a:latin typeface="微软雅黑" panose="020B0503020204020204" pitchFamily="34" charset="-122"/>
                <a:ea typeface="微软雅黑" panose="020B0503020204020204" pitchFamily="34" charset="-122"/>
              </a:rPr>
              <a:t>前缀的</a:t>
            </a:r>
            <a:r>
              <a:rPr lang="zh-CN" altLang="en-US" dirty="0" smtClean="0">
                <a:latin typeface="微软雅黑" panose="020B0503020204020204" pitchFamily="34" charset="-122"/>
                <a:ea typeface="微软雅黑" panose="020B0503020204020204" pitchFamily="34" charset="-122"/>
              </a:rPr>
              <a:t>查询</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itchFamily="34" charset="-122"/>
                <a:ea typeface="微软雅黑" pitchFamily="34" charset="-122"/>
              </a:rPr>
              <a:t>索引顺序</a:t>
            </a:r>
            <a:endParaRPr lang="en-US" altLang="zh-CN" dirty="0" smtClean="0">
              <a:latin typeface="微软雅黑" pitchFamily="34" charset="-122"/>
              <a:ea typeface="微软雅黑" pitchFamily="34" charset="-122"/>
            </a:endParaRPr>
          </a:p>
          <a:p>
            <a:pPr lvl="2"/>
            <a:r>
              <a:rPr lang="zh-CN" altLang="en-US" dirty="0">
                <a:latin typeface="微软雅黑" panose="020B0503020204020204" pitchFamily="34" charset="-122"/>
                <a:ea typeface="微软雅黑" panose="020B0503020204020204" pitchFamily="34" charset="-122"/>
              </a:rPr>
              <a:t>决定索引是否支持直接排序操作</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而不</a:t>
            </a:r>
            <a:r>
              <a:rPr lang="zh-CN" altLang="en-US" dirty="0" smtClean="0">
                <a:latin typeface="微软雅黑" panose="020B0503020204020204" pitchFamily="34" charset="-122"/>
                <a:ea typeface="微软雅黑" panose="020B0503020204020204" pitchFamily="34" charset="-122"/>
              </a:rPr>
              <a:t>需要额外附加</a:t>
            </a:r>
            <a:r>
              <a:rPr lang="zh-CN" altLang="en-US" dirty="0">
                <a:latin typeface="微软雅黑" panose="020B0503020204020204" pitchFamily="34" charset="-122"/>
                <a:ea typeface="微软雅黑" panose="020B0503020204020204" pitchFamily="34" charset="-122"/>
              </a:rPr>
              <a:t>一个排序阶段</a:t>
            </a:r>
            <a:r>
              <a:rPr lang="en-US" altLang="zh-CN" dirty="0">
                <a:latin typeface="微软雅黑" pitchFamily="34" charset="-122"/>
                <a:ea typeface="微软雅黑" pitchFamily="34" charset="-122"/>
              </a:rPr>
              <a:t>)</a:t>
            </a:r>
          </a:p>
          <a:p>
            <a:r>
              <a:rPr lang="zh-CN" altLang="en-US" dirty="0" smtClean="0">
                <a:latin typeface="微软雅黑" pitchFamily="34" charset="-122"/>
                <a:ea typeface="微软雅黑" pitchFamily="34" charset="-122"/>
              </a:rPr>
              <a:t>多键索引</a:t>
            </a:r>
            <a:endParaRPr lang="en-US" altLang="zh-CN" dirty="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数组</a:t>
            </a:r>
            <a:r>
              <a:rPr lang="zh-CN" altLang="en-US" dirty="0">
                <a:latin typeface="微软雅黑" pitchFamily="34" charset="-122"/>
                <a:ea typeface="微软雅黑" pitchFamily="34" charset="-122"/>
              </a:rPr>
              <a:t>上的</a:t>
            </a:r>
            <a:r>
              <a:rPr lang="zh-CN" altLang="en-US" dirty="0" smtClean="0">
                <a:latin typeface="微软雅黑" pitchFamily="34" charset="-122"/>
                <a:ea typeface="微软雅黑" pitchFamily="34" charset="-122"/>
              </a:rPr>
              <a:t>索引，</a:t>
            </a:r>
            <a:r>
              <a:rPr lang="zh-CN" altLang="en-US" dirty="0">
                <a:latin typeface="微软雅黑" panose="020B0503020204020204" pitchFamily="34" charset="-122"/>
                <a:ea typeface="微软雅黑" panose="020B0503020204020204" pitchFamily="34" charset="-122"/>
              </a:rPr>
              <a:t>当查询中的值和该数组中的任一值相匹配时，索引匹配成功</a:t>
            </a:r>
            <a:endParaRPr lang="en-US" altLang="zh-CN" dirty="0">
              <a:latin typeface="微软雅黑" pitchFamily="34" charset="-122"/>
              <a:ea typeface="微软雅黑" pitchFamily="34" charset="-122"/>
            </a:endParaRPr>
          </a:p>
          <a:p>
            <a:r>
              <a:rPr lang="zh-CN" altLang="en-US" dirty="0" smtClean="0">
                <a:latin typeface="微软雅黑" pitchFamily="34" charset="-122"/>
                <a:ea typeface="微软雅黑" pitchFamily="34" charset="-122"/>
              </a:rPr>
              <a:t>文本索引</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全文检索</a:t>
            </a:r>
            <a:endParaRPr lang="en-US" altLang="zh-CN" dirty="0" smtClean="0">
              <a:latin typeface="微软雅黑" pitchFamily="34" charset="-122"/>
              <a:ea typeface="微软雅黑" pitchFamily="34" charset="-122"/>
            </a:endParaRPr>
          </a:p>
          <a:p>
            <a:pPr lvl="1"/>
            <a:r>
              <a:rPr lang="en-US" altLang="zh-CN" dirty="0" err="1">
                <a:latin typeface="微软雅黑" panose="020B0503020204020204" pitchFamily="34" charset="-122"/>
                <a:ea typeface="微软雅黑" panose="020B0503020204020204" pitchFamily="34" charset="-122"/>
              </a:rPr>
              <a:t>db.reviews.ensureIndex</a:t>
            </a:r>
            <a:r>
              <a:rPr lang="en-US" altLang="zh-CN" dirty="0">
                <a:latin typeface="微软雅黑" panose="020B0503020204020204" pitchFamily="34" charset="-122"/>
                <a:ea typeface="微软雅黑" panose="020B0503020204020204" pitchFamily="34" charset="-122"/>
              </a:rPr>
              <a:t>( { comments: "text" } )</a:t>
            </a:r>
            <a:endParaRPr lang="en-US" altLang="zh-CN" dirty="0" smtClean="0">
              <a:latin typeface="微软雅黑" pitchFamily="34" charset="-122"/>
              <a:ea typeface="微软雅黑" pitchFamily="34" charset="-122"/>
            </a:endParaRPr>
          </a:p>
          <a:p>
            <a:pPr lvl="1"/>
            <a:r>
              <a:rPr lang="en-US" altLang="zh-CN" dirty="0">
                <a:latin typeface="微软雅黑" panose="020B0503020204020204" pitchFamily="34" charset="-122"/>
                <a:ea typeface="微软雅黑" panose="020B0503020204020204" pitchFamily="34" charset="-122"/>
              </a:rPr>
              <a:t>$text </a:t>
            </a:r>
            <a:endParaRPr lang="en-US" altLang="zh-CN" dirty="0" smtClean="0">
              <a:latin typeface="微软雅黑" pitchFamily="34" charset="-122"/>
              <a:ea typeface="微软雅黑" pitchFamily="34" charset="-122"/>
            </a:endParaRPr>
          </a:p>
          <a:p>
            <a:r>
              <a:rPr lang="zh-CN" altLang="en-US" dirty="0">
                <a:latin typeface="微软雅黑" pitchFamily="34" charset="-122"/>
                <a:ea typeface="微软雅黑" pitchFamily="34" charset="-122"/>
              </a:rPr>
              <a:t>哈</a:t>
            </a:r>
            <a:r>
              <a:rPr lang="zh-CN" altLang="en-US" dirty="0" smtClean="0">
                <a:latin typeface="微软雅黑" pitchFamily="34" charset="-122"/>
                <a:ea typeface="微软雅黑" pitchFamily="34" charset="-122"/>
              </a:rPr>
              <a:t>希索引</a:t>
            </a:r>
            <a:endParaRPr lang="en-US" altLang="zh-CN" dirty="0" smtClean="0">
              <a:latin typeface="微软雅黑" pitchFamily="34" charset="-122"/>
              <a:ea typeface="微软雅黑" pitchFamily="34" charset="-122"/>
            </a:endParaRPr>
          </a:p>
          <a:p>
            <a:pPr lvl="1"/>
            <a:r>
              <a:rPr lang="zh-CN" altLang="en-US" dirty="0">
                <a:latin typeface="微软雅黑" panose="020B0503020204020204" pitchFamily="34" charset="-122"/>
                <a:ea typeface="微软雅黑" panose="020B0503020204020204" pitchFamily="34" charset="-122"/>
              </a:rPr>
              <a:t>使用被索引键的值的哈希值来维护</a:t>
            </a:r>
            <a:r>
              <a:rPr lang="zh-CN" altLang="en-US" dirty="0" smtClean="0">
                <a:latin typeface="微软雅黑" panose="020B0503020204020204" pitchFamily="34" charset="-122"/>
                <a:ea typeface="微软雅黑" panose="020B0503020204020204" pitchFamily="34" charset="-122"/>
              </a:rPr>
              <a:t>索引</a:t>
            </a:r>
            <a:endParaRPr lang="en-US" altLang="zh-CN" dirty="0" smtClean="0">
              <a:latin typeface="微软雅黑" panose="020B0503020204020204" pitchFamily="34" charset="-122"/>
              <a:ea typeface="微软雅黑" panose="020B0503020204020204" pitchFamily="34" charset="-122"/>
            </a:endParaRPr>
          </a:p>
          <a:p>
            <a:pPr lvl="1"/>
            <a:r>
              <a:rPr lang="en-US" altLang="zh-CN" dirty="0" err="1">
                <a:latin typeface="微软雅黑" panose="020B0503020204020204" pitchFamily="34" charset="-122"/>
                <a:ea typeface="微软雅黑" panose="020B0503020204020204" pitchFamily="34" charset="-122"/>
              </a:rPr>
              <a:t>db.active.ensureIndex</a:t>
            </a:r>
            <a:r>
              <a:rPr lang="en-US" altLang="zh-CN" dirty="0">
                <a:latin typeface="微软雅黑" panose="020B0503020204020204" pitchFamily="34" charset="-122"/>
                <a:ea typeface="微软雅黑" panose="020B0503020204020204" pitchFamily="34" charset="-122"/>
              </a:rPr>
              <a:t>( { a: "hashed" } </a:t>
            </a:r>
            <a:r>
              <a:rPr lang="en-US" altLang="zh-CN" dirty="0" smtClean="0">
                <a:latin typeface="微软雅黑" panose="020B0503020204020204" pitchFamily="34" charset="-122"/>
                <a:ea typeface="微软雅黑" panose="020B0503020204020204" pitchFamily="34" charset="-122"/>
              </a:rPr>
              <a:t>)</a:t>
            </a:r>
          </a:p>
          <a:p>
            <a:pPr lvl="1"/>
            <a:r>
              <a:rPr lang="zh-CN" altLang="en-US" dirty="0" smtClean="0">
                <a:latin typeface="微软雅黑" pitchFamily="34" charset="-122"/>
                <a:ea typeface="微软雅黑" pitchFamily="34" charset="-122"/>
              </a:rPr>
              <a:t>支持相等查询，不支持范围查询</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地理空间索引</a:t>
            </a:r>
            <a:endParaRPr lang="en-US" altLang="zh-CN" dirty="0" smtClean="0">
              <a:latin typeface="微软雅黑" pitchFamily="34" charset="-122"/>
              <a:ea typeface="微软雅黑" pitchFamily="34" charset="-122"/>
            </a:endParaRPr>
          </a:p>
          <a:p>
            <a:pPr lvl="1"/>
            <a:endParaRPr lang="en-US" altLang="zh-CN" dirty="0" smtClean="0">
              <a:latin typeface="微软雅黑" pitchFamily="34" charset="-122"/>
              <a:ea typeface="微软雅黑" pitchFamily="34" charset="-122"/>
            </a:endParaRPr>
          </a:p>
          <a:p>
            <a:endParaRPr lang="en-US" altLang="zh-CN" dirty="0" smtClean="0"/>
          </a:p>
          <a:p>
            <a:pPr lvl="1"/>
            <a:endParaRPr lang="zh-CN" altLang="en-US" dirty="0"/>
          </a:p>
        </p:txBody>
      </p:sp>
    </p:spTree>
    <p:extLst>
      <p:ext uri="{BB962C8B-B14F-4D97-AF65-F5344CB8AC3E}">
        <p14:creationId xmlns:p14="http://schemas.microsoft.com/office/powerpoint/2010/main" val="793893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3.3 </a:t>
            </a:r>
            <a:r>
              <a:rPr lang="zh-CN" altLang="en-US" b="1" i="1" dirty="0">
                <a:solidFill>
                  <a:prstClr val="black"/>
                </a:solidFill>
                <a:latin typeface="微软雅黑" pitchFamily="34" charset="-122"/>
                <a:ea typeface="微软雅黑" pitchFamily="34" charset="-122"/>
              </a:rPr>
              <a:t>索引</a:t>
            </a:r>
            <a:r>
              <a:rPr lang="zh-CN" altLang="en-US" b="1" i="1" dirty="0" smtClean="0">
                <a:solidFill>
                  <a:prstClr val="black"/>
                </a:solidFill>
                <a:latin typeface="微软雅黑" pitchFamily="34" charset="-122"/>
                <a:ea typeface="微软雅黑" pitchFamily="34" charset="-122"/>
              </a:rPr>
              <a:t>的</a:t>
            </a:r>
            <a:r>
              <a:rPr lang="zh-CN" altLang="en-US" b="1" i="1" dirty="0">
                <a:solidFill>
                  <a:prstClr val="black"/>
                </a:solidFill>
                <a:latin typeface="微软雅黑" pitchFamily="34" charset="-122"/>
                <a:ea typeface="微软雅黑" pitchFamily="34" charset="-122"/>
              </a:rPr>
              <a:t>属性</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latin typeface="微软雅黑" pitchFamily="34" charset="-122"/>
                <a:ea typeface="微软雅黑" pitchFamily="34" charset="-122"/>
              </a:rPr>
              <a:t>TTL</a:t>
            </a:r>
            <a:r>
              <a:rPr lang="zh-CN" altLang="en-US" dirty="0" smtClean="0">
                <a:latin typeface="微软雅黑" pitchFamily="34" charset="-122"/>
                <a:ea typeface="微软雅黑" pitchFamily="34" charset="-122"/>
              </a:rPr>
              <a:t>索引</a:t>
            </a:r>
            <a:endParaRPr lang="en-US" altLang="zh-CN" dirty="0" smtClean="0">
              <a:latin typeface="微软雅黑" pitchFamily="34" charset="-122"/>
              <a:ea typeface="微软雅黑" pitchFamily="34" charset="-122"/>
            </a:endParaRPr>
          </a:p>
          <a:p>
            <a:pPr lvl="1"/>
            <a:r>
              <a:rPr lang="en-US" altLang="zh-CN" dirty="0" err="1">
                <a:latin typeface="微软雅黑" panose="020B0503020204020204" pitchFamily="34" charset="-122"/>
                <a:ea typeface="微软雅黑" panose="020B0503020204020204" pitchFamily="34" charset="-122"/>
              </a:rPr>
              <a:t>db.collection.ensureIndex</a:t>
            </a:r>
            <a:r>
              <a:rPr lang="en-US" altLang="zh-CN" dirty="0">
                <a:latin typeface="微软雅黑" panose="020B0503020204020204" pitchFamily="34" charset="-122"/>
                <a:ea typeface="微软雅黑" panose="020B0503020204020204" pitchFamily="34" charset="-122"/>
              </a:rPr>
              <a:t>( { "</a:t>
            </a:r>
            <a:r>
              <a:rPr lang="en-US" altLang="zh-CN" dirty="0" err="1">
                <a:latin typeface="微软雅黑" panose="020B0503020204020204" pitchFamily="34" charset="-122"/>
                <a:ea typeface="微软雅黑" panose="020B0503020204020204" pitchFamily="34" charset="-122"/>
              </a:rPr>
              <a:t>date_field</a:t>
            </a:r>
            <a:r>
              <a:rPr lang="en-US" altLang="zh-CN" dirty="0">
                <a:latin typeface="微软雅黑" panose="020B0503020204020204" pitchFamily="34" charset="-122"/>
                <a:ea typeface="微软雅黑" panose="020B0503020204020204" pitchFamily="34" charset="-122"/>
              </a:rPr>
              <a:t>": 1 }, { </a:t>
            </a:r>
            <a:r>
              <a:rPr lang="en-US" altLang="zh-CN" dirty="0" err="1">
                <a:latin typeface="微软雅黑" panose="020B0503020204020204" pitchFamily="34" charset="-122"/>
                <a:ea typeface="微软雅黑" panose="020B0503020204020204" pitchFamily="34" charset="-122"/>
              </a:rPr>
              <a:t>expireAfterSeconds</a:t>
            </a:r>
            <a:r>
              <a:rPr lang="en-US" altLang="zh-CN" dirty="0">
                <a:latin typeface="微软雅黑" pitchFamily="34" charset="-122"/>
                <a:ea typeface="微软雅黑" pitchFamily="34" charset="-122"/>
              </a:rPr>
              <a:t>: 3600 } )</a:t>
            </a:r>
          </a:p>
          <a:p>
            <a:pPr lvl="1"/>
            <a:r>
              <a:rPr lang="en-US" altLang="zh-CN" dirty="0">
                <a:latin typeface="微软雅黑" pitchFamily="34" charset="-122"/>
                <a:ea typeface="微软雅黑" pitchFamily="34" charset="-122"/>
              </a:rPr>
              <a:t>Since 2.2</a:t>
            </a:r>
          </a:p>
          <a:p>
            <a:pPr lvl="1"/>
            <a:r>
              <a:rPr lang="en-US" altLang="zh-CN" dirty="0">
                <a:latin typeface="微软雅黑" pitchFamily="34" charset="-122"/>
                <a:ea typeface="微软雅黑" pitchFamily="34" charset="-122"/>
              </a:rPr>
              <a:t>Background check interval: </a:t>
            </a:r>
            <a:r>
              <a:rPr lang="en-US" altLang="zh-CN" dirty="0" smtClean="0">
                <a:latin typeface="微软雅黑" pitchFamily="34" charset="-122"/>
                <a:ea typeface="微软雅黑" pitchFamily="34" charset="-122"/>
              </a:rPr>
              <a:t>1min</a:t>
            </a:r>
            <a:endParaRPr lang="en-US" altLang="zh-CN" dirty="0">
              <a:latin typeface="微软雅黑" pitchFamily="34" charset="-122"/>
              <a:ea typeface="微软雅黑" pitchFamily="34" charset="-122"/>
            </a:endParaRPr>
          </a:p>
          <a:p>
            <a:r>
              <a:rPr lang="zh-CN" altLang="en-US" dirty="0" smtClean="0">
                <a:latin typeface="微软雅黑" pitchFamily="34" charset="-122"/>
                <a:ea typeface="微软雅黑" pitchFamily="34" charset="-122"/>
              </a:rPr>
              <a:t>唯一索引</a:t>
            </a:r>
            <a:endParaRPr lang="en-US" altLang="zh-CN" dirty="0" smtClean="0">
              <a:latin typeface="微软雅黑" pitchFamily="34" charset="-122"/>
              <a:ea typeface="微软雅黑" pitchFamily="34" charset="-122"/>
            </a:endParaRPr>
          </a:p>
          <a:p>
            <a:pPr lvl="1"/>
            <a:r>
              <a:rPr lang="en-US" altLang="zh-CN" dirty="0" err="1">
                <a:latin typeface="微软雅黑" panose="020B0503020204020204" pitchFamily="34" charset="-122"/>
                <a:ea typeface="微软雅黑" panose="020B0503020204020204" pitchFamily="34" charset="-122"/>
              </a:rPr>
              <a:t>db.members.ensureIndex</a:t>
            </a:r>
            <a:r>
              <a:rPr lang="en-US" altLang="zh-CN" dirty="0">
                <a:latin typeface="微软雅黑" panose="020B0503020204020204" pitchFamily="34" charset="-122"/>
                <a:ea typeface="微软雅黑" panose="020B0503020204020204" pitchFamily="34" charset="-122"/>
              </a:rPr>
              <a:t>( { "</a:t>
            </a:r>
            <a:r>
              <a:rPr lang="en-US" altLang="zh-CN" dirty="0" err="1">
                <a:latin typeface="微软雅黑" panose="020B0503020204020204" pitchFamily="34" charset="-122"/>
                <a:ea typeface="微软雅黑" panose="020B0503020204020204" pitchFamily="34" charset="-122"/>
              </a:rPr>
              <a:t>user_id</a:t>
            </a:r>
            <a:r>
              <a:rPr lang="en-US" altLang="zh-CN" dirty="0">
                <a:latin typeface="微软雅黑" panose="020B0503020204020204" pitchFamily="34" charset="-122"/>
                <a:ea typeface="微软雅黑" panose="020B0503020204020204" pitchFamily="34" charset="-122"/>
              </a:rPr>
              <a:t>": 1 }, { unique: true } </a:t>
            </a:r>
            <a:r>
              <a:rPr lang="en-US" altLang="zh-CN" dirty="0" smtClean="0">
                <a:latin typeface="微软雅黑" panose="020B0503020204020204" pitchFamily="34" charset="-122"/>
                <a:ea typeface="微软雅黑" panose="020B0503020204020204" pitchFamily="34" charset="-122"/>
              </a:rPr>
              <a:t>)</a:t>
            </a:r>
          </a:p>
          <a:p>
            <a:pPr lvl="1"/>
            <a:r>
              <a:rPr lang="en-US" altLang="zh-CN" dirty="0">
                <a:latin typeface="微软雅黑" panose="020B0503020204020204" pitchFamily="34" charset="-122"/>
                <a:ea typeface="微软雅黑" panose="020B0503020204020204" pitchFamily="34" charset="-122"/>
              </a:rPr>
              <a:t>duplicate </a:t>
            </a:r>
            <a:r>
              <a:rPr lang="en-US" altLang="zh-CN" dirty="0" smtClean="0">
                <a:latin typeface="微软雅黑" panose="020B0503020204020204" pitchFamily="34" charset="-122"/>
                <a:ea typeface="微软雅黑" panose="020B0503020204020204" pitchFamily="34" charset="-122"/>
              </a:rPr>
              <a:t>key exception</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itchFamily="34" charset="-122"/>
                <a:ea typeface="微软雅黑" pitchFamily="34" charset="-122"/>
              </a:rPr>
              <a:t>w=1</a:t>
            </a:r>
          </a:p>
          <a:p>
            <a:r>
              <a:rPr lang="zh-CN" altLang="en-US" dirty="0" smtClean="0">
                <a:latin typeface="微软雅黑" pitchFamily="34" charset="-122"/>
                <a:ea typeface="微软雅黑" pitchFamily="34" charset="-122"/>
              </a:rPr>
              <a:t>稀疏索引</a:t>
            </a:r>
            <a:endParaRPr lang="en-US" altLang="zh-CN" dirty="0" smtClean="0">
              <a:latin typeface="微软雅黑" pitchFamily="34" charset="-122"/>
              <a:ea typeface="微软雅黑" pitchFamily="34" charset="-122"/>
            </a:endParaRPr>
          </a:p>
          <a:p>
            <a:pPr lvl="1"/>
            <a:r>
              <a:rPr lang="zh-CN" altLang="en-US" dirty="0">
                <a:latin typeface="微软雅黑" panose="020B0503020204020204" pitchFamily="34" charset="-122"/>
                <a:ea typeface="微软雅黑" panose="020B0503020204020204" pitchFamily="34" charset="-122"/>
              </a:rPr>
              <a:t>不会索引那些不包含被索引键的</a:t>
            </a:r>
            <a:r>
              <a:rPr lang="zh-CN" altLang="en-US" dirty="0" smtClean="0">
                <a:latin typeface="微软雅黑" panose="020B0503020204020204" pitchFamily="34" charset="-122"/>
                <a:ea typeface="微软雅黑" panose="020B0503020204020204" pitchFamily="34" charset="-122"/>
              </a:rPr>
              <a:t>文档</a:t>
            </a:r>
            <a:endParaRPr lang="en-US" altLang="zh-CN" dirty="0" smtClean="0">
              <a:latin typeface="微软雅黑" panose="020B0503020204020204" pitchFamily="34" charset="-122"/>
              <a:ea typeface="微软雅黑" panose="020B0503020204020204" pitchFamily="34" charset="-122"/>
            </a:endParaRPr>
          </a:p>
          <a:p>
            <a:pPr lvl="1"/>
            <a:r>
              <a:rPr lang="en-US" altLang="zh-CN" dirty="0" err="1">
                <a:latin typeface="微软雅黑" panose="020B0503020204020204" pitchFamily="34" charset="-122"/>
                <a:ea typeface="微软雅黑" panose="020B0503020204020204" pitchFamily="34" charset="-122"/>
              </a:rPr>
              <a:t>db.collection.ensureIndex</a:t>
            </a:r>
            <a:r>
              <a:rPr lang="en-US" altLang="zh-CN" dirty="0">
                <a:latin typeface="微软雅黑" panose="020B0503020204020204" pitchFamily="34" charset="-122"/>
                <a:ea typeface="微软雅黑" panose="020B0503020204020204" pitchFamily="34" charset="-122"/>
              </a:rPr>
              <a:t>( { a: 1 }, { sparse: true } )</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部分索引</a:t>
            </a:r>
            <a:endParaRPr lang="en-US" altLang="zh-CN" dirty="0">
              <a:latin typeface="微软雅黑" pitchFamily="34" charset="-122"/>
              <a:ea typeface="微软雅黑" pitchFamily="34" charset="-122"/>
            </a:endParaRPr>
          </a:p>
          <a:p>
            <a:pPr lvl="1"/>
            <a:r>
              <a:rPr lang="en-US" altLang="zh-CN" dirty="0" smtClean="0">
                <a:latin typeface="微软雅黑" pitchFamily="34" charset="-122"/>
                <a:ea typeface="微软雅黑" pitchFamily="34" charset="-122"/>
              </a:rPr>
              <a:t>3.2</a:t>
            </a:r>
            <a:endParaRPr lang="en-US" altLang="zh-CN" dirty="0">
              <a:latin typeface="微软雅黑" pitchFamily="34" charset="-122"/>
              <a:ea typeface="微软雅黑" pitchFamily="34" charset="-122"/>
            </a:endParaRPr>
          </a:p>
          <a:p>
            <a:pPr lvl="1"/>
            <a:r>
              <a:rPr lang="en-US" altLang="zh-CN" dirty="0" err="1">
                <a:latin typeface="微软雅黑" panose="020B0503020204020204" pitchFamily="34" charset="-122"/>
                <a:ea typeface="微软雅黑" panose="020B0503020204020204" pitchFamily="34" charset="-122"/>
              </a:rPr>
              <a:t>db.restaurants.createIndex</a:t>
            </a:r>
            <a:r>
              <a:rPr lang="en-US" altLang="zh-CN" dirty="0">
                <a:latin typeface="微软雅黑" panose="020B0503020204020204" pitchFamily="34" charset="-122"/>
                <a:ea typeface="微软雅黑" panose="020B0503020204020204" pitchFamily="34" charset="-122"/>
              </a:rPr>
              <a:t>( { cuisine: 1, name: 1 }, { </a:t>
            </a:r>
            <a:r>
              <a:rPr lang="en-US" altLang="zh-CN" dirty="0" err="1">
                <a:latin typeface="微软雅黑" panose="020B0503020204020204" pitchFamily="34" charset="-122"/>
                <a:ea typeface="微软雅黑" panose="020B0503020204020204" pitchFamily="34" charset="-122"/>
              </a:rPr>
              <a:t>partialFilterExpression</a:t>
            </a:r>
            <a:r>
              <a:rPr lang="en-US" altLang="zh-CN" dirty="0">
                <a:latin typeface="微软雅黑" panose="020B0503020204020204" pitchFamily="34" charset="-122"/>
                <a:ea typeface="微软雅黑" panose="020B0503020204020204" pitchFamily="34" charset="-122"/>
              </a:rPr>
              <a:t>: { rating: { $</a:t>
            </a:r>
            <a:r>
              <a:rPr lang="en-US" altLang="zh-CN" dirty="0" err="1">
                <a:latin typeface="微软雅黑" panose="020B0503020204020204" pitchFamily="34" charset="-122"/>
                <a:ea typeface="微软雅黑" panose="020B0503020204020204" pitchFamily="34" charset="-122"/>
              </a:rPr>
              <a:t>gt</a:t>
            </a:r>
            <a:r>
              <a:rPr lang="en-US" altLang="zh-CN" dirty="0">
                <a:latin typeface="微软雅黑" panose="020B0503020204020204" pitchFamily="34" charset="-122"/>
                <a:ea typeface="微软雅黑" panose="020B0503020204020204" pitchFamily="34" charset="-122"/>
              </a:rPr>
              <a:t>: 5 } } } )</a:t>
            </a:r>
          </a:p>
          <a:p>
            <a:endParaRPr lang="zh-CN" altLang="en-US" dirty="0"/>
          </a:p>
        </p:txBody>
      </p:sp>
    </p:spTree>
    <p:extLst>
      <p:ext uri="{BB962C8B-B14F-4D97-AF65-F5344CB8AC3E}">
        <p14:creationId xmlns:p14="http://schemas.microsoft.com/office/powerpoint/2010/main" val="32114562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3.4 </a:t>
            </a:r>
            <a:r>
              <a:rPr lang="zh-CN" altLang="en-US" b="1" i="1" dirty="0" smtClean="0">
                <a:solidFill>
                  <a:prstClr val="black"/>
                </a:solidFill>
                <a:latin typeface="微软雅黑" pitchFamily="34" charset="-122"/>
                <a:ea typeface="微软雅黑" pitchFamily="34" charset="-122"/>
              </a:rPr>
              <a:t>索引的创建、管理</a:t>
            </a:r>
            <a:endParaRPr lang="zh-CN" altLang="en-US" dirty="0"/>
          </a:p>
        </p:txBody>
      </p:sp>
      <p:sp>
        <p:nvSpPr>
          <p:cNvPr id="3" name="内容占位符 2"/>
          <p:cNvSpPr>
            <a:spLocks noGrp="1"/>
          </p:cNvSpPr>
          <p:nvPr>
            <p:ph idx="1"/>
          </p:nvPr>
        </p:nvSpPr>
        <p:spPr>
          <a:xfrm>
            <a:off x="457200" y="1600200"/>
            <a:ext cx="8229600" cy="5257800"/>
          </a:xfrm>
        </p:spPr>
        <p:txBody>
          <a:bodyPr>
            <a:normAutofit lnSpcReduction="10000"/>
          </a:bodyPr>
          <a:lstStyle/>
          <a:p>
            <a:r>
              <a:rPr lang="zh-CN" altLang="en-US" dirty="0" smtClean="0">
                <a:latin typeface="微软雅黑" pitchFamily="34" charset="-122"/>
                <a:ea typeface="微软雅黑" pitchFamily="34" charset="-122"/>
              </a:rPr>
              <a:t>创建</a:t>
            </a:r>
            <a:endParaRPr lang="en-US" altLang="zh-CN" dirty="0" smtClean="0">
              <a:latin typeface="微软雅黑" pitchFamily="34" charset="-122"/>
              <a:ea typeface="微软雅黑" pitchFamily="34" charset="-122"/>
            </a:endParaRPr>
          </a:p>
          <a:p>
            <a:pPr lvl="1"/>
            <a:r>
              <a:rPr lang="en-US" altLang="zh-CN" dirty="0" err="1">
                <a:latin typeface="微软雅黑" pitchFamily="34" charset="-122"/>
                <a:ea typeface="微软雅黑" pitchFamily="34" charset="-122"/>
              </a:rPr>
              <a:t>db.collection.createIndex</a:t>
            </a:r>
            <a:r>
              <a:rPr lang="en-US" altLang="zh-CN" dirty="0">
                <a:latin typeface="微软雅黑" pitchFamily="34" charset="-122"/>
                <a:ea typeface="微软雅黑" pitchFamily="34" charset="-122"/>
              </a:rPr>
              <a:t>({ </a:t>
            </a:r>
            <a:r>
              <a:rPr lang="en-US" altLang="zh-CN" dirty="0" err="1">
                <a:latin typeface="微软雅黑" pitchFamily="34" charset="-122"/>
                <a:ea typeface="微软雅黑" pitchFamily="34" charset="-122"/>
              </a:rPr>
              <a:t>orderDate</a:t>
            </a:r>
            <a:r>
              <a:rPr lang="en-US" altLang="zh-CN" dirty="0">
                <a:latin typeface="微软雅黑" pitchFamily="34" charset="-122"/>
                <a:ea typeface="微软雅黑" pitchFamily="34" charset="-122"/>
              </a:rPr>
              <a:t>: 1, </a:t>
            </a:r>
            <a:r>
              <a:rPr lang="en-US" altLang="zh-CN" dirty="0" err="1">
                <a:latin typeface="微软雅黑" pitchFamily="34" charset="-122"/>
                <a:ea typeface="微软雅黑" pitchFamily="34" charset="-122"/>
              </a:rPr>
              <a:t>zipcode</a:t>
            </a:r>
            <a:r>
              <a:rPr lang="en-US" altLang="zh-CN" dirty="0">
                <a:latin typeface="微软雅黑" pitchFamily="34" charset="-122"/>
                <a:ea typeface="微软雅黑" pitchFamily="34" charset="-122"/>
              </a:rPr>
              <a:t>: -1 }, { background: true</a:t>
            </a:r>
            <a:r>
              <a:rPr lang="en-US" altLang="zh-CN" dirty="0" smtClean="0">
                <a:latin typeface="微软雅黑" pitchFamily="34" charset="-122"/>
                <a:ea typeface="微软雅黑" pitchFamily="34" charset="-122"/>
              </a:rPr>
              <a:t>})</a:t>
            </a:r>
          </a:p>
          <a:p>
            <a:r>
              <a:rPr lang="zh-CN" altLang="en-US" dirty="0" smtClean="0">
                <a:latin typeface="微软雅黑" pitchFamily="34" charset="-122"/>
                <a:ea typeface="微软雅黑" pitchFamily="34" charset="-122"/>
              </a:rPr>
              <a:t>查询</a:t>
            </a:r>
            <a:endParaRPr lang="en-US" altLang="zh-CN" dirty="0" smtClean="0">
              <a:latin typeface="微软雅黑" pitchFamily="34" charset="-122"/>
              <a:ea typeface="微软雅黑" pitchFamily="34" charset="-122"/>
            </a:endParaRPr>
          </a:p>
          <a:p>
            <a:pPr lvl="1"/>
            <a:r>
              <a:rPr lang="en-US" altLang="zh-CN" dirty="0" err="1">
                <a:latin typeface="微软雅黑" pitchFamily="34" charset="-122"/>
                <a:ea typeface="微软雅黑" pitchFamily="34" charset="-122"/>
              </a:rPr>
              <a:t>db.collection.getIndexes</a:t>
            </a:r>
            <a:r>
              <a:rPr lang="en-US" altLang="zh-CN" dirty="0">
                <a:latin typeface="微软雅黑" pitchFamily="34" charset="-122"/>
                <a:ea typeface="微软雅黑" pitchFamily="34" charset="-122"/>
              </a:rPr>
              <a:t>()</a:t>
            </a:r>
          </a:p>
          <a:p>
            <a:r>
              <a:rPr lang="zh-CN" altLang="en-US" dirty="0" smtClean="0">
                <a:latin typeface="微软雅黑" pitchFamily="34" charset="-122"/>
                <a:ea typeface="微软雅黑" pitchFamily="34" charset="-122"/>
              </a:rPr>
              <a:t>删除</a:t>
            </a:r>
            <a:endParaRPr lang="en-US" altLang="zh-CN" dirty="0" smtClean="0">
              <a:latin typeface="微软雅黑" pitchFamily="34" charset="-122"/>
              <a:ea typeface="微软雅黑" pitchFamily="34" charset="-122"/>
            </a:endParaRPr>
          </a:p>
          <a:p>
            <a:pPr lvl="1"/>
            <a:r>
              <a:rPr lang="en-US" altLang="zh-CN" dirty="0" err="1">
                <a:latin typeface="微软雅黑" pitchFamily="34" charset="-122"/>
                <a:ea typeface="微软雅黑" pitchFamily="34" charset="-122"/>
              </a:rPr>
              <a:t>db.pets.dropIndex</a:t>
            </a:r>
            <a:r>
              <a:rPr lang="en-US" altLang="zh-CN" dirty="0">
                <a:latin typeface="微软雅黑" pitchFamily="34" charset="-122"/>
                <a:ea typeface="微软雅黑" pitchFamily="34" charset="-122"/>
              </a:rPr>
              <a:t>( { "cat" : -1 } </a:t>
            </a:r>
            <a:r>
              <a:rPr lang="en-US" altLang="zh-CN" dirty="0" smtClean="0">
                <a:latin typeface="微软雅黑" pitchFamily="34" charset="-122"/>
                <a:ea typeface="微软雅黑" pitchFamily="34" charset="-122"/>
              </a:rPr>
              <a:t>)</a:t>
            </a:r>
          </a:p>
          <a:p>
            <a:pPr lvl="1"/>
            <a:r>
              <a:rPr lang="en-US" altLang="zh-CN" dirty="0" err="1">
                <a:latin typeface="微软雅黑" pitchFamily="34" charset="-122"/>
                <a:ea typeface="微软雅黑" pitchFamily="34" charset="-122"/>
              </a:rPr>
              <a:t>db.collection.dropIndexes</a:t>
            </a:r>
            <a:r>
              <a:rPr lang="en-US" altLang="zh-CN" dirty="0" smtClean="0">
                <a:latin typeface="微软雅黑" pitchFamily="34" charset="-122"/>
                <a:ea typeface="微软雅黑" pitchFamily="34" charset="-122"/>
              </a:rPr>
              <a:t>()</a:t>
            </a:r>
          </a:p>
          <a:p>
            <a:pPr lvl="2"/>
            <a:r>
              <a:rPr lang="zh-CN" altLang="en-US" dirty="0" smtClean="0">
                <a:latin typeface="微软雅黑" pitchFamily="34" charset="-122"/>
                <a:ea typeface="微软雅黑" pitchFamily="34" charset="-122"/>
              </a:rPr>
              <a:t>将删除</a:t>
            </a:r>
            <a:r>
              <a:rPr lang="en-US" altLang="zh-CN" dirty="0" smtClean="0">
                <a:latin typeface="微软雅黑" pitchFamily="34" charset="-122"/>
                <a:ea typeface="微软雅黑" pitchFamily="34" charset="-122"/>
              </a:rPr>
              <a:t>_id</a:t>
            </a:r>
            <a:r>
              <a:rPr lang="zh-CN" altLang="en-US" dirty="0" smtClean="0">
                <a:latin typeface="微软雅黑" pitchFamily="34" charset="-122"/>
                <a:ea typeface="微软雅黑" pitchFamily="34" charset="-122"/>
              </a:rPr>
              <a:t>以外的所有索引</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修改</a:t>
            </a:r>
            <a:endParaRPr lang="en-US" altLang="zh-CN" dirty="0" smtClean="0">
              <a:latin typeface="微软雅黑" pitchFamily="34" charset="-122"/>
              <a:ea typeface="微软雅黑" pitchFamily="34" charset="-122"/>
            </a:endParaRPr>
          </a:p>
          <a:p>
            <a:pPr lvl="1"/>
            <a:r>
              <a:rPr lang="zh-CN" altLang="en-US" dirty="0">
                <a:latin typeface="微软雅黑" pitchFamily="34" charset="-122"/>
                <a:ea typeface="微软雅黑" pitchFamily="34" charset="-122"/>
              </a:rPr>
              <a:t>删除后</a:t>
            </a:r>
            <a:r>
              <a:rPr lang="zh-CN" altLang="en-US" dirty="0" smtClean="0">
                <a:latin typeface="微软雅黑" pitchFamily="34" charset="-122"/>
                <a:ea typeface="微软雅黑" pitchFamily="34" charset="-122"/>
              </a:rPr>
              <a:t>重建</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重建所有索引</a:t>
            </a:r>
            <a:endParaRPr lang="en-US" altLang="zh-CN" dirty="0" smtClean="0">
              <a:latin typeface="微软雅黑" pitchFamily="34" charset="-122"/>
              <a:ea typeface="微软雅黑" pitchFamily="34" charset="-122"/>
            </a:endParaRPr>
          </a:p>
          <a:p>
            <a:pPr lvl="1"/>
            <a:r>
              <a:rPr lang="en-US" altLang="zh-CN" dirty="0" err="1">
                <a:latin typeface="微软雅黑" pitchFamily="34" charset="-122"/>
                <a:ea typeface="微软雅黑" pitchFamily="34" charset="-122"/>
              </a:rPr>
              <a:t>db.collection.reIndex</a:t>
            </a:r>
            <a:r>
              <a:rPr lang="en-US" altLang="zh-CN" dirty="0">
                <a:latin typeface="微软雅黑" pitchFamily="34" charset="-122"/>
                <a:ea typeface="微软雅黑" pitchFamily="34" charset="-122"/>
              </a:rPr>
              <a:t>() </a:t>
            </a:r>
          </a:p>
          <a:p>
            <a:pPr lvl="1"/>
            <a:r>
              <a:rPr lang="zh-CN" altLang="en-US" dirty="0">
                <a:latin typeface="微软雅黑" pitchFamily="34" charset="-122"/>
                <a:ea typeface="微软雅黑" pitchFamily="34" charset="-122"/>
              </a:rPr>
              <a:t>不要在线上</a:t>
            </a:r>
            <a:r>
              <a:rPr lang="zh-CN" altLang="en-US" dirty="0" smtClean="0">
                <a:latin typeface="微软雅黑" pitchFamily="34" charset="-122"/>
                <a:ea typeface="微软雅黑" pitchFamily="34" charset="-122"/>
              </a:rPr>
              <a:t>使用</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结束索引创建过程</a:t>
            </a:r>
            <a:endParaRPr lang="en-US" altLang="zh-CN" dirty="0" smtClean="0">
              <a:latin typeface="微软雅黑" pitchFamily="34" charset="-122"/>
              <a:ea typeface="微软雅黑" pitchFamily="34" charset="-122"/>
            </a:endParaRPr>
          </a:p>
          <a:p>
            <a:pPr lvl="1"/>
            <a:r>
              <a:rPr lang="en-US" altLang="zh-CN" dirty="0" err="1" smtClean="0"/>
              <a:t>db.currentOp</a:t>
            </a:r>
            <a:r>
              <a:rPr lang="en-US" altLang="zh-CN" dirty="0" smtClean="0"/>
              <a:t>()</a:t>
            </a:r>
            <a:r>
              <a:rPr lang="zh-CN" altLang="en-US" dirty="0" smtClean="0"/>
              <a:t>，</a:t>
            </a:r>
            <a:r>
              <a:rPr lang="en-US" altLang="zh-CN" dirty="0" err="1"/>
              <a:t>db.killOp</a:t>
            </a:r>
            <a:r>
              <a:rPr lang="en-US" altLang="zh-CN" dirty="0" smtClean="0"/>
              <a:t>()</a:t>
            </a:r>
          </a:p>
          <a:p>
            <a:pPr lvl="1"/>
            <a:r>
              <a:rPr lang="en-US" altLang="zh-CN" dirty="0" smtClean="0">
                <a:latin typeface="微软雅黑" pitchFamily="34" charset="-122"/>
                <a:ea typeface="微软雅黑" pitchFamily="34" charset="-122"/>
              </a:rPr>
              <a:t>&lt;2.4</a:t>
            </a:r>
            <a:r>
              <a:rPr lang="zh-CN" altLang="en-US" dirty="0" smtClean="0">
                <a:latin typeface="微软雅黑" pitchFamily="34" charset="-122"/>
                <a:ea typeface="微软雅黑" pitchFamily="34" charset="-122"/>
              </a:rPr>
              <a:t>只能</a:t>
            </a:r>
            <a:r>
              <a:rPr lang="en-US" altLang="zh-CN" dirty="0" smtClean="0">
                <a:latin typeface="微软雅黑" pitchFamily="34" charset="-122"/>
                <a:ea typeface="微软雅黑" pitchFamily="34" charset="-122"/>
              </a:rPr>
              <a:t>kill background</a:t>
            </a:r>
            <a:r>
              <a:rPr lang="zh-CN" altLang="en-US" dirty="0" smtClean="0">
                <a:latin typeface="微软雅黑" pitchFamily="34" charset="-122"/>
                <a:ea typeface="微软雅黑" pitchFamily="34" charset="-122"/>
              </a:rPr>
              <a:t>的索引</a:t>
            </a:r>
            <a:endParaRPr lang="en-US" altLang="zh-CN" dirty="0" smtClean="0">
              <a:latin typeface="微软雅黑" pitchFamily="34" charset="-122"/>
              <a:ea typeface="微软雅黑" pitchFamily="34" charset="-122"/>
            </a:endParaRPr>
          </a:p>
          <a:p>
            <a:pPr lvl="1"/>
            <a:endParaRPr lang="en-US" altLang="zh-CN" dirty="0">
              <a:latin typeface="微软雅黑" pitchFamily="34" charset="-122"/>
              <a:ea typeface="微软雅黑" pitchFamily="34" charset="-122"/>
            </a:endParaRPr>
          </a:p>
          <a:p>
            <a:pPr marL="457200" lvl="1" indent="0">
              <a:buNone/>
            </a:pPr>
            <a:endParaRPr lang="en-US" altLang="zh-CN" dirty="0" smtClean="0">
              <a:latin typeface="微软雅黑" pitchFamily="34" charset="-122"/>
              <a:ea typeface="微软雅黑" pitchFamily="34" charset="-122"/>
            </a:endParaRPr>
          </a:p>
          <a:p>
            <a:pPr lvl="1"/>
            <a:endParaRPr lang="en-US" altLang="zh-CN" dirty="0" smtClean="0">
              <a:latin typeface="微软雅黑" pitchFamily="34" charset="-122"/>
              <a:ea typeface="微软雅黑" pitchFamily="34" charset="-122"/>
            </a:endParaRPr>
          </a:p>
          <a:p>
            <a:endParaRPr lang="en-US" altLang="zh-CN" dirty="0" smtClean="0">
              <a:latin typeface="微软雅黑" pitchFamily="34" charset="-122"/>
              <a:ea typeface="微软雅黑" pitchFamily="34" charset="-122"/>
            </a:endParaRPr>
          </a:p>
          <a:p>
            <a:pPr lvl="1"/>
            <a:endParaRPr lang="zh-CN" altLang="en-US" dirty="0"/>
          </a:p>
        </p:txBody>
      </p:sp>
    </p:spTree>
    <p:extLst>
      <p:ext uri="{BB962C8B-B14F-4D97-AF65-F5344CB8AC3E}">
        <p14:creationId xmlns:p14="http://schemas.microsoft.com/office/powerpoint/2010/main" val="15985385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3.5 </a:t>
            </a:r>
            <a:r>
              <a:rPr lang="zh-CN" altLang="en-US" b="1" i="1" dirty="0" smtClean="0">
                <a:solidFill>
                  <a:prstClr val="black"/>
                </a:solidFill>
                <a:latin typeface="微软雅黑" pitchFamily="34" charset="-122"/>
                <a:ea typeface="微软雅黑" pitchFamily="34" charset="-122"/>
              </a:rPr>
              <a:t>索引交集</a:t>
            </a:r>
            <a:endParaRPr lang="zh-CN" altLang="en-US" dirty="0"/>
          </a:p>
        </p:txBody>
      </p:sp>
      <p:sp>
        <p:nvSpPr>
          <p:cNvPr id="3" name="内容占位符 2"/>
          <p:cNvSpPr>
            <a:spLocks noGrp="1"/>
          </p:cNvSpPr>
          <p:nvPr>
            <p:ph idx="1"/>
          </p:nvPr>
        </p:nvSpPr>
        <p:spPr/>
        <p:txBody>
          <a:bodyPr/>
          <a:lstStyle/>
          <a:p>
            <a:r>
              <a:rPr lang="en-US" altLang="zh-CN" dirty="0" smtClean="0">
                <a:latin typeface="微软雅黑" pitchFamily="34" charset="-122"/>
                <a:ea typeface="微软雅黑" pitchFamily="34" charset="-122"/>
              </a:rPr>
              <a:t>Since 2.6</a:t>
            </a:r>
          </a:p>
          <a:p>
            <a:r>
              <a:rPr lang="zh-CN" altLang="en-US" dirty="0">
                <a:latin typeface="微软雅黑" pitchFamily="34" charset="-122"/>
                <a:ea typeface="微软雅黑" pitchFamily="34" charset="-122"/>
              </a:rPr>
              <a:t>使用多个索引的交集来匹配</a:t>
            </a:r>
            <a:r>
              <a:rPr lang="zh-CN" altLang="en-US" dirty="0" smtClean="0">
                <a:latin typeface="微软雅黑" pitchFamily="34" charset="-122"/>
                <a:ea typeface="微软雅黑" pitchFamily="34" charset="-122"/>
              </a:rPr>
              <a:t>查询，在</a:t>
            </a:r>
            <a:r>
              <a:rPr lang="en-US" altLang="zh-CN" dirty="0" smtClean="0">
                <a:latin typeface="微软雅黑" pitchFamily="34" charset="-122"/>
                <a:ea typeface="微软雅黑" pitchFamily="34" charset="-122"/>
              </a:rPr>
              <a:t>2.6</a:t>
            </a:r>
            <a:r>
              <a:rPr lang="zh-CN" altLang="en-US" dirty="0" smtClean="0">
                <a:latin typeface="微软雅黑" pitchFamily="34" charset="-122"/>
                <a:ea typeface="微软雅黑" pitchFamily="34" charset="-122"/>
              </a:rPr>
              <a:t>之前只能使用一个索引</a:t>
            </a:r>
            <a:endParaRPr lang="en-US" altLang="zh-CN" dirty="0" smtClean="0">
              <a:latin typeface="微软雅黑" pitchFamily="34" charset="-122"/>
              <a:ea typeface="微软雅黑" pitchFamily="34" charset="-122"/>
            </a:endParaRPr>
          </a:p>
          <a:p>
            <a:r>
              <a:rPr lang="zh-CN" altLang="en-US" b="1" dirty="0" smtClean="0"/>
              <a:t>执行计划</a:t>
            </a:r>
            <a:r>
              <a:rPr lang="zh-CN" altLang="en-US" dirty="0" smtClean="0"/>
              <a:t>：</a:t>
            </a:r>
            <a:r>
              <a:rPr lang="en-US" altLang="zh-CN" dirty="0" smtClean="0"/>
              <a:t>Complex</a:t>
            </a:r>
            <a:r>
              <a:rPr lang="en-US" altLang="zh-CN" dirty="0"/>
              <a:t> Plan </a:t>
            </a:r>
            <a:endParaRPr lang="en-US" altLang="zh-CN" dirty="0" smtClean="0"/>
          </a:p>
          <a:p>
            <a:r>
              <a:rPr lang="zh-CN" altLang="en-US" dirty="0" smtClean="0">
                <a:latin typeface="微软雅黑" pitchFamily="34" charset="-122"/>
                <a:ea typeface="微软雅黑" pitchFamily="34" charset="-122"/>
              </a:rPr>
              <a:t>注意查询和排序不能分别使用不同的索引</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5235963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3.5 </a:t>
            </a:r>
            <a:r>
              <a:rPr lang="zh-CN" altLang="en-US" b="1" i="1" dirty="0" smtClean="0">
                <a:solidFill>
                  <a:prstClr val="black"/>
                </a:solidFill>
                <a:latin typeface="微软雅黑" pitchFamily="34" charset="-122"/>
                <a:ea typeface="微软雅黑" pitchFamily="34" charset="-122"/>
              </a:rPr>
              <a:t>索引覆盖查询</a:t>
            </a:r>
            <a:endParaRPr lang="zh-CN" altLang="en-US" dirty="0"/>
          </a:p>
        </p:txBody>
      </p:sp>
      <p:sp>
        <p:nvSpPr>
          <p:cNvPr id="3" name="内容占位符 2"/>
          <p:cNvSpPr>
            <a:spLocks noGrp="1"/>
          </p:cNvSpPr>
          <p:nvPr>
            <p:ph idx="1"/>
          </p:nvPr>
        </p:nvSpPr>
        <p:spPr/>
        <p:txBody>
          <a:bodyPr/>
          <a:lstStyle/>
          <a:p>
            <a:r>
              <a:rPr lang="zh-CN" altLang="en-US" dirty="0">
                <a:latin typeface="微软雅黑" pitchFamily="34" charset="-122"/>
                <a:ea typeface="微软雅黑" pitchFamily="34" charset="-122"/>
              </a:rPr>
              <a:t>覆盖查询不需要单独一次文档检索，直接查询索引就可返回结果</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r>
              <a:rPr lang="zh-CN" altLang="en-US" dirty="0">
                <a:latin typeface="微软雅黑" pitchFamily="34" charset="-122"/>
                <a:ea typeface="微软雅黑" pitchFamily="34" charset="-122"/>
              </a:rPr>
              <a:t>索引键一般都小于被索引的文档，而且索引一般都在内存中直接可用或者在磁盘上顺序存储</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在查询</a:t>
            </a:r>
            <a:r>
              <a:rPr lang="zh-CN" altLang="en-US" dirty="0">
                <a:latin typeface="微软雅黑" pitchFamily="34" charset="-122"/>
                <a:ea typeface="微软雅黑" pitchFamily="34" charset="-122"/>
              </a:rPr>
              <a:t> 中的所有键都是索引的一部分</a:t>
            </a:r>
            <a:r>
              <a:rPr lang="zh-CN" altLang="en-US" dirty="0" smtClean="0">
                <a:latin typeface="微软雅黑" pitchFamily="34" charset="-122"/>
                <a:ea typeface="微软雅黑" pitchFamily="34" charset="-122"/>
              </a:rPr>
              <a:t>，并且所有</a:t>
            </a:r>
            <a:r>
              <a:rPr lang="zh-CN" altLang="en-US" dirty="0">
                <a:latin typeface="微软雅黑" pitchFamily="34" charset="-122"/>
                <a:ea typeface="微软雅黑" pitchFamily="34" charset="-122"/>
              </a:rPr>
              <a:t>结果集中返回的键也都在同一个索引中</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Explain: </a:t>
            </a:r>
            <a:r>
              <a:rPr lang="en-US" altLang="zh-CN" dirty="0" err="1" smtClean="0">
                <a:latin typeface="微软雅黑" pitchFamily="34" charset="-122"/>
                <a:ea typeface="微软雅黑" pitchFamily="34" charset="-122"/>
              </a:rPr>
              <a:t>indexOnly</a:t>
            </a:r>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fetch</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838518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3.6 </a:t>
            </a:r>
            <a:r>
              <a:rPr lang="zh-CN" altLang="en-US" b="1" i="1" dirty="0" smtClean="0">
                <a:solidFill>
                  <a:prstClr val="black"/>
                </a:solidFill>
                <a:latin typeface="微软雅黑" pitchFamily="34" charset="-122"/>
                <a:ea typeface="微软雅黑" pitchFamily="34" charset="-122"/>
              </a:rPr>
              <a:t>如何发现问题</a:t>
            </a:r>
            <a:endParaRPr lang="zh-CN" altLang="en-US" dirty="0"/>
          </a:p>
        </p:txBody>
      </p:sp>
      <p:sp>
        <p:nvSpPr>
          <p:cNvPr id="3" name="内容占位符 2"/>
          <p:cNvSpPr>
            <a:spLocks noGrp="1"/>
          </p:cNvSpPr>
          <p:nvPr>
            <p:ph idx="1"/>
          </p:nvPr>
        </p:nvSpPr>
        <p:spPr/>
        <p:txBody>
          <a:bodyPr/>
          <a:lstStyle/>
          <a:p>
            <a:r>
              <a:rPr lang="zh-CN" altLang="en-US" dirty="0" smtClean="0">
                <a:latin typeface="微软雅黑" pitchFamily="34" charset="-122"/>
                <a:ea typeface="微软雅黑" pitchFamily="34" charset="-122"/>
              </a:rPr>
              <a:t>执行计划</a:t>
            </a:r>
            <a:r>
              <a:rPr lang="en-US" altLang="zh-CN" dirty="0" smtClean="0">
                <a:latin typeface="微软雅黑" pitchFamily="34" charset="-122"/>
                <a:ea typeface="微软雅黑" pitchFamily="34" charset="-122"/>
              </a:rPr>
              <a:t>explain</a:t>
            </a:r>
          </a:p>
          <a:p>
            <a:pPr lvl="1"/>
            <a:r>
              <a:rPr lang="en-US" altLang="zh-CN" dirty="0">
                <a:latin typeface="微软雅黑" pitchFamily="34" charset="-122"/>
                <a:ea typeface="微软雅黑" pitchFamily="34" charset="-122"/>
              </a:rPr>
              <a:t>Stage: COLLSCAN, IXSCAN, FETCH(</a:t>
            </a:r>
            <a:r>
              <a:rPr lang="en-US" altLang="zh-CN" dirty="0" err="1">
                <a:latin typeface="微软雅黑" pitchFamily="34" charset="-122"/>
                <a:ea typeface="微软雅黑" pitchFamily="34" charset="-122"/>
              </a:rPr>
              <a:t>nscannedObjects</a:t>
            </a:r>
            <a:r>
              <a:rPr lang="en-US" altLang="zh-CN" dirty="0">
                <a:latin typeface="微软雅黑" pitchFamily="34" charset="-122"/>
                <a:ea typeface="微软雅黑" pitchFamily="34" charset="-122"/>
              </a:rPr>
              <a:t>&lt;</a:t>
            </a:r>
            <a:r>
              <a:rPr lang="en-US" altLang="zh-CN" dirty="0" err="1">
                <a:latin typeface="微软雅黑" pitchFamily="34" charset="-122"/>
                <a:ea typeface="微软雅黑" pitchFamily="34" charset="-122"/>
              </a:rPr>
              <a:t>nscanned</a:t>
            </a:r>
            <a:r>
              <a:rPr lang="en-US" altLang="zh-CN" dirty="0">
                <a:latin typeface="微软雅黑" pitchFamily="34" charset="-122"/>
                <a:ea typeface="微软雅黑" pitchFamily="34" charset="-122"/>
              </a:rPr>
              <a:t>), SORT(</a:t>
            </a:r>
            <a:r>
              <a:rPr lang="en-US" altLang="zh-CN" dirty="0" err="1">
                <a:latin typeface="微软雅黑" pitchFamily="34" charset="-122"/>
                <a:ea typeface="微软雅黑" pitchFamily="34" charset="-122"/>
              </a:rPr>
              <a:t>scanAndOrder</a:t>
            </a:r>
            <a:r>
              <a:rPr lang="en-US" altLang="zh-CN" dirty="0">
                <a:latin typeface="微软雅黑" pitchFamily="34" charset="-122"/>
                <a:ea typeface="微软雅黑" pitchFamily="34" charset="-122"/>
              </a:rPr>
              <a:t>=true</a:t>
            </a:r>
            <a:r>
              <a:rPr lang="en-US" altLang="zh-CN" dirty="0" smtClean="0">
                <a:latin typeface="微软雅黑" pitchFamily="34" charset="-122"/>
                <a:ea typeface="微软雅黑" pitchFamily="34" charset="-122"/>
              </a:rPr>
              <a:t>)</a:t>
            </a:r>
          </a:p>
          <a:p>
            <a:r>
              <a:rPr lang="en-US" altLang="zh-CN" dirty="0" err="1" smtClean="0">
                <a:latin typeface="微软雅黑" pitchFamily="34" charset="-122"/>
                <a:ea typeface="微软雅黑" pitchFamily="34" charset="-122"/>
              </a:rPr>
              <a:t>db.currentOp</a:t>
            </a:r>
            <a:endParaRPr lang="en-US" altLang="zh-CN" dirty="0" smtClean="0">
              <a:latin typeface="微软雅黑" pitchFamily="34" charset="-122"/>
              <a:ea typeface="微软雅黑" pitchFamily="34" charset="-122"/>
            </a:endParaRPr>
          </a:p>
          <a:p>
            <a:r>
              <a:rPr lang="zh-CN" altLang="en-US" dirty="0">
                <a:latin typeface="微软雅黑" pitchFamily="34" charset="-122"/>
                <a:ea typeface="微软雅黑" pitchFamily="34" charset="-122"/>
              </a:rPr>
              <a:t>慢</a:t>
            </a:r>
            <a:r>
              <a:rPr lang="zh-CN" altLang="en-US" dirty="0" smtClean="0">
                <a:latin typeface="微软雅黑" pitchFamily="34" charset="-122"/>
                <a:ea typeface="微软雅黑" pitchFamily="34" charset="-122"/>
              </a:rPr>
              <a:t>查询日志</a:t>
            </a:r>
            <a:endParaRPr lang="en-US" altLang="zh-CN" dirty="0" smtClean="0">
              <a:latin typeface="微软雅黑" pitchFamily="34" charset="-122"/>
              <a:ea typeface="微软雅黑" pitchFamily="34" charset="-122"/>
            </a:endParaRPr>
          </a:p>
          <a:p>
            <a:pPr lvl="1"/>
            <a:r>
              <a:rPr lang="en-US" altLang="zh-CN" dirty="0" err="1">
                <a:latin typeface="微软雅黑" pitchFamily="34" charset="-122"/>
                <a:ea typeface="微软雅黑" pitchFamily="34" charset="-122"/>
              </a:rPr>
              <a:t>db.setProfilingLevel</a:t>
            </a:r>
            <a:r>
              <a:rPr lang="en-US" altLang="zh-CN" dirty="0">
                <a:latin typeface="微软雅黑" pitchFamily="34" charset="-122"/>
                <a:ea typeface="微软雅黑" pitchFamily="34" charset="-122"/>
              </a:rPr>
              <a:t>(</a:t>
            </a:r>
            <a:r>
              <a:rPr lang="en-US" altLang="zh-CN" i="1" dirty="0">
                <a:latin typeface="微软雅黑" pitchFamily="34" charset="-122"/>
                <a:ea typeface="微软雅黑" pitchFamily="34" charset="-122"/>
              </a:rPr>
              <a:t>level</a:t>
            </a:r>
            <a:r>
              <a:rPr lang="en-US" altLang="zh-CN" dirty="0">
                <a:latin typeface="微软雅黑" pitchFamily="34" charset="-122"/>
                <a:ea typeface="微软雅黑" pitchFamily="34" charset="-122"/>
              </a:rPr>
              <a:t>, </a:t>
            </a:r>
            <a:r>
              <a:rPr lang="en-US" altLang="zh-CN" i="1" dirty="0" err="1">
                <a:latin typeface="微软雅黑" pitchFamily="34" charset="-122"/>
                <a:ea typeface="微软雅黑" pitchFamily="34" charset="-122"/>
              </a:rPr>
              <a:t>slowms</a:t>
            </a:r>
            <a:r>
              <a:rPr lang="en-US" altLang="zh-CN" dirty="0" smtClean="0">
                <a:latin typeface="微软雅黑" pitchFamily="34" charset="-122"/>
                <a:ea typeface="微软雅黑" pitchFamily="34" charset="-122"/>
              </a:rPr>
              <a:t>)</a:t>
            </a:r>
          </a:p>
          <a:p>
            <a:pPr lvl="2"/>
            <a:r>
              <a:rPr lang="en-US" altLang="zh-CN" dirty="0" smtClean="0">
                <a:latin typeface="微软雅黑" pitchFamily="34" charset="-122"/>
                <a:ea typeface="微软雅黑" pitchFamily="34" charset="-122"/>
              </a:rPr>
              <a:t>Level: 0-none, 1-slow, 2-all</a:t>
            </a:r>
          </a:p>
          <a:p>
            <a:pPr lvl="2"/>
            <a:r>
              <a:rPr lang="en-US" altLang="zh-CN" dirty="0">
                <a:latin typeface="微软雅黑" pitchFamily="34" charset="-122"/>
                <a:ea typeface="微软雅黑" pitchFamily="34" charset="-122"/>
              </a:rPr>
              <a:t>show </a:t>
            </a:r>
            <a:r>
              <a:rPr lang="en-US" altLang="zh-CN" dirty="0" smtClean="0">
                <a:latin typeface="微软雅黑" pitchFamily="34" charset="-122"/>
                <a:ea typeface="微软雅黑" pitchFamily="34" charset="-122"/>
              </a:rPr>
              <a:t>profile or </a:t>
            </a:r>
            <a:r>
              <a:rPr lang="en-US" altLang="zh-CN" dirty="0" err="1" smtClean="0">
                <a:latin typeface="微软雅黑" pitchFamily="34" charset="-122"/>
                <a:ea typeface="微软雅黑" pitchFamily="34" charset="-122"/>
              </a:rPr>
              <a:t>db.system.profile.find</a:t>
            </a:r>
            <a:r>
              <a:rPr lang="en-US" altLang="zh-CN" dirty="0" smtClean="0">
                <a:latin typeface="微软雅黑" pitchFamily="34" charset="-122"/>
                <a:ea typeface="微软雅黑" pitchFamily="34" charset="-122"/>
              </a:rPr>
              <a:t>()</a:t>
            </a:r>
          </a:p>
          <a:p>
            <a:r>
              <a:rPr lang="en-US" altLang="zh-CN" dirty="0" err="1" smtClean="0">
                <a:latin typeface="微软雅黑" pitchFamily="34" charset="-122"/>
                <a:ea typeface="微软雅黑" pitchFamily="34" charset="-122"/>
              </a:rPr>
              <a:t>mongostat</a:t>
            </a:r>
            <a:endParaRPr lang="en-US" altLang="zh-CN" dirty="0" smtClean="0">
              <a:latin typeface="微软雅黑" pitchFamily="34" charset="-122"/>
              <a:ea typeface="微软雅黑" pitchFamily="34" charset="-122"/>
            </a:endParaRPr>
          </a:p>
          <a:p>
            <a:pPr lvl="1"/>
            <a:r>
              <a:rPr lang="en-US" altLang="zh-CN" dirty="0" err="1">
                <a:latin typeface="微软雅黑" pitchFamily="34" charset="-122"/>
                <a:ea typeface="微软雅黑" pitchFamily="34" charset="-122"/>
              </a:rPr>
              <a:t>idx</a:t>
            </a:r>
            <a:r>
              <a:rPr lang="en-US" altLang="zh-CN" dirty="0">
                <a:latin typeface="微软雅黑" pitchFamily="34" charset="-122"/>
                <a:ea typeface="微软雅黑" pitchFamily="34" charset="-122"/>
              </a:rPr>
              <a:t> miss(2.x</a:t>
            </a:r>
            <a:r>
              <a:rPr lang="en-US" altLang="zh-CN" dirty="0" smtClean="0">
                <a:latin typeface="微软雅黑" pitchFamily="34" charset="-122"/>
                <a:ea typeface="微软雅黑" pitchFamily="34" charset="-122"/>
              </a:rPr>
              <a:t>)</a:t>
            </a:r>
          </a:p>
          <a:p>
            <a:r>
              <a:rPr lang="en-US" altLang="zh-CN" dirty="0" err="1">
                <a:latin typeface="微软雅黑" pitchFamily="34" charset="-122"/>
                <a:ea typeface="微软雅黑" pitchFamily="34" charset="-122"/>
              </a:rPr>
              <a:t>d</a:t>
            </a:r>
            <a:r>
              <a:rPr lang="en-US" altLang="zh-CN" dirty="0" err="1" smtClean="0">
                <a:latin typeface="微软雅黑" pitchFamily="34" charset="-122"/>
                <a:ea typeface="微软雅黑" pitchFamily="34" charset="-122"/>
              </a:rPr>
              <a:t>b.serverStatus</a:t>
            </a:r>
            <a:r>
              <a:rPr lang="en-US" altLang="zh-CN" dirty="0" smtClean="0">
                <a:latin typeface="微软雅黑" pitchFamily="34" charset="-122"/>
                <a:ea typeface="微软雅黑" pitchFamily="34" charset="-122"/>
              </a:rPr>
              <a:t>().</a:t>
            </a:r>
            <a:r>
              <a:rPr lang="en-US" altLang="zh-CN" dirty="0" err="1" smtClean="0">
                <a:latin typeface="微软雅黑" pitchFamily="34" charset="-122"/>
                <a:ea typeface="微软雅黑" pitchFamily="34" charset="-122"/>
              </a:rPr>
              <a:t>indexCounters</a:t>
            </a:r>
            <a:endParaRPr lang="en-US" altLang="zh-CN" dirty="0" smtClean="0">
              <a:latin typeface="微软雅黑" pitchFamily="34" charset="-122"/>
              <a:ea typeface="微软雅黑" pitchFamily="34" charset="-122"/>
            </a:endParaRPr>
          </a:p>
          <a:p>
            <a:pPr lvl="1"/>
            <a:r>
              <a:rPr lang="en-US" altLang="zh-CN" dirty="0" smtClean="0">
                <a:latin typeface="微软雅黑" pitchFamily="34" charset="-122"/>
                <a:ea typeface="微软雅黑" pitchFamily="34" charset="-122"/>
              </a:rPr>
              <a:t>2.</a:t>
            </a:r>
            <a:r>
              <a:rPr lang="en-US" altLang="zh-CN" dirty="0">
                <a:latin typeface="微软雅黑" pitchFamily="34" charset="-122"/>
                <a:ea typeface="微软雅黑" pitchFamily="34" charset="-122"/>
              </a:rPr>
              <a:t>x</a:t>
            </a:r>
            <a:endParaRPr lang="en-US" altLang="zh-CN" dirty="0" smtClean="0">
              <a:latin typeface="微软雅黑" pitchFamily="34" charset="-122"/>
              <a:ea typeface="微软雅黑" pitchFamily="34" charset="-122"/>
            </a:endParaRPr>
          </a:p>
          <a:p>
            <a:pPr marL="457200" lvl="1" indent="0">
              <a:buNone/>
            </a:pPr>
            <a:endParaRPr lang="en-US" altLang="zh-CN" dirty="0" smtClean="0">
              <a:latin typeface="微软雅黑" pitchFamily="34" charset="-122"/>
              <a:ea typeface="微软雅黑" pitchFamily="34" charset="-122"/>
            </a:endParaRPr>
          </a:p>
          <a:p>
            <a:pPr marL="457200" lvl="1" indent="0">
              <a:buNone/>
            </a:pPr>
            <a:endParaRPr lang="en-US" altLang="zh-CN" dirty="0" smtClean="0">
              <a:latin typeface="微软雅黑" pitchFamily="34" charset="-122"/>
              <a:ea typeface="微软雅黑" pitchFamily="34" charset="-122"/>
            </a:endParaRPr>
          </a:p>
          <a:p>
            <a:endParaRPr lang="en-US" altLang="zh-CN" dirty="0" smtClean="0">
              <a:latin typeface="微软雅黑" pitchFamily="34" charset="-122"/>
              <a:ea typeface="微软雅黑" pitchFamily="34" charset="-122"/>
            </a:endParaRPr>
          </a:p>
          <a:p>
            <a:pPr lvl="1"/>
            <a:endParaRPr lang="en-US" altLang="zh-CN" dirty="0" smtClean="0"/>
          </a:p>
          <a:p>
            <a:pPr lvl="1"/>
            <a:endParaRPr lang="en-US" altLang="zh-CN" dirty="0" smtClean="0"/>
          </a:p>
          <a:p>
            <a:endParaRPr lang="zh-CN" altLang="en-US" dirty="0"/>
          </a:p>
        </p:txBody>
      </p:sp>
    </p:spTree>
    <p:extLst>
      <p:ext uri="{BB962C8B-B14F-4D97-AF65-F5344CB8AC3E}">
        <p14:creationId xmlns:p14="http://schemas.microsoft.com/office/powerpoint/2010/main" val="15757179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4. </a:t>
            </a:r>
            <a:r>
              <a:rPr lang="zh-CN" altLang="en-US" b="1" i="1" dirty="0" smtClean="0">
                <a:solidFill>
                  <a:prstClr val="black"/>
                </a:solidFill>
                <a:latin typeface="微软雅黑" pitchFamily="34" charset="-122"/>
                <a:ea typeface="微软雅黑" pitchFamily="34" charset="-122"/>
              </a:rPr>
              <a:t>复制</a:t>
            </a:r>
            <a:r>
              <a:rPr lang="en-US" altLang="zh-CN" b="1" i="1" dirty="0" smtClean="0">
                <a:solidFill>
                  <a:prstClr val="black"/>
                </a:solidFill>
                <a:latin typeface="微软雅黑" pitchFamily="34" charset="-122"/>
                <a:ea typeface="微软雅黑" pitchFamily="34" charset="-122"/>
              </a:rPr>
              <a:t>(Replication)</a:t>
            </a:r>
            <a:endParaRPr lang="zh-CN" altLang="en-US" dirty="0"/>
          </a:p>
        </p:txBody>
      </p:sp>
      <p:sp>
        <p:nvSpPr>
          <p:cNvPr id="3" name="内容占位符 2"/>
          <p:cNvSpPr>
            <a:spLocks noGrp="1"/>
          </p:cNvSpPr>
          <p:nvPr>
            <p:ph idx="1"/>
          </p:nvPr>
        </p:nvSpPr>
        <p:spPr>
          <a:xfrm>
            <a:off x="1403648" y="1600200"/>
            <a:ext cx="6480720" cy="4525963"/>
          </a:xfrm>
        </p:spPr>
        <p:txBody>
          <a:bodyPr/>
          <a:lstStyle/>
          <a:p>
            <a:r>
              <a:rPr lang="en-US" altLang="zh-CN" dirty="0" smtClean="0">
                <a:latin typeface="微软雅黑" panose="020B0503020204020204" pitchFamily="34" charset="-122"/>
                <a:ea typeface="微软雅黑" panose="020B0503020204020204" pitchFamily="34" charset="-122"/>
              </a:rPr>
              <a:t>4.1 </a:t>
            </a:r>
            <a:r>
              <a:rPr lang="zh-CN" altLang="en-US" dirty="0" smtClean="0">
                <a:latin typeface="微软雅黑" panose="020B0503020204020204" pitchFamily="34" charset="-122"/>
                <a:ea typeface="微软雅黑" panose="020B0503020204020204" pitchFamily="34" charset="-122"/>
              </a:rPr>
              <a:t>复制≠备份</a:t>
            </a:r>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4.2 </a:t>
            </a:r>
            <a:r>
              <a:rPr lang="zh-CN" altLang="en-US" dirty="0" smtClean="0">
                <a:latin typeface="微软雅黑" panose="020B0503020204020204" pitchFamily="34" charset="-122"/>
                <a:ea typeface="微软雅黑" panose="020B0503020204020204" pitchFamily="34" charset="-122"/>
              </a:rPr>
              <a:t>复制基本介绍</a:t>
            </a:r>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4.3 </a:t>
            </a:r>
            <a:r>
              <a:rPr lang="en-US" altLang="zh-CN" dirty="0" err="1" smtClean="0">
                <a:latin typeface="微软雅黑" panose="020B0503020204020204" pitchFamily="34" charset="-122"/>
                <a:ea typeface="微软雅黑" panose="020B0503020204020204" pitchFamily="34" charset="-122"/>
              </a:rPr>
              <a:t>oplog</a:t>
            </a:r>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4.4 </a:t>
            </a:r>
            <a:r>
              <a:rPr lang="zh-CN" altLang="en-US" dirty="0" smtClean="0">
                <a:latin typeface="微软雅黑" panose="020B0503020204020204" pitchFamily="34" charset="-122"/>
                <a:ea typeface="微软雅黑" panose="020B0503020204020204" pitchFamily="34" charset="-122"/>
              </a:rPr>
              <a:t>复制节点</a:t>
            </a:r>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4.4 </a:t>
            </a:r>
            <a:r>
              <a:rPr lang="zh-CN" altLang="en-US" dirty="0" smtClean="0">
                <a:latin typeface="微软雅黑" panose="020B0503020204020204" pitchFamily="34" charset="-122"/>
                <a:ea typeface="微软雅黑" panose="020B0503020204020204" pitchFamily="34" charset="-122"/>
              </a:rPr>
              <a:t>选举 </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4.5 read-preference</a:t>
            </a:r>
            <a:r>
              <a:rPr lang="zh-CN" altLang="en-US" dirty="0" smtClean="0">
                <a:latin typeface="微软雅黑" panose="020B0503020204020204" pitchFamily="34" charset="-122"/>
                <a:ea typeface="微软雅黑" panose="020B0503020204020204" pitchFamily="34" charset="-122"/>
              </a:rPr>
              <a:t>与</a:t>
            </a:r>
            <a:r>
              <a:rPr lang="en-US" altLang="zh-CN" dirty="0" smtClean="0">
                <a:latin typeface="微软雅黑" panose="020B0503020204020204" pitchFamily="34" charset="-122"/>
                <a:ea typeface="微软雅黑" panose="020B0503020204020204" pitchFamily="34" charset="-122"/>
              </a:rPr>
              <a:t>write-concern</a:t>
            </a:r>
          </a:p>
          <a:p>
            <a:r>
              <a:rPr lang="en-US" altLang="zh-CN" dirty="0" smtClean="0">
                <a:latin typeface="微软雅黑" panose="020B0503020204020204" pitchFamily="34" charset="-122"/>
                <a:ea typeface="微软雅黑" panose="020B0503020204020204" pitchFamily="34" charset="-122"/>
              </a:rPr>
              <a:t>4.6 </a:t>
            </a:r>
            <a:r>
              <a:rPr lang="zh-CN" altLang="en-US" dirty="0" smtClean="0">
                <a:latin typeface="微软雅黑" panose="020B0503020204020204" pitchFamily="34" charset="-122"/>
                <a:ea typeface="微软雅黑" panose="020B0503020204020204" pitchFamily="34" charset="-122"/>
              </a:rPr>
              <a:t>复制集数据的一致性</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4.7 rollback</a:t>
            </a:r>
            <a:r>
              <a:rPr lang="zh-CN" altLang="en-US" dirty="0" smtClean="0">
                <a:latin typeface="微软雅黑" panose="020B0503020204020204" pitchFamily="34" charset="-122"/>
                <a:ea typeface="微软雅黑" panose="020B0503020204020204" pitchFamily="34" charset="-122"/>
              </a:rPr>
              <a:t>与脏读</a:t>
            </a:r>
            <a:endParaRPr lang="en-US" altLang="zh-CN" dirty="0">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39174753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4.1 </a:t>
            </a:r>
            <a:r>
              <a:rPr lang="zh-CN" altLang="en-US" b="1" i="1" dirty="0" smtClean="0">
                <a:solidFill>
                  <a:prstClr val="black"/>
                </a:solidFill>
                <a:latin typeface="微软雅黑" pitchFamily="34" charset="-122"/>
                <a:ea typeface="微软雅黑" pitchFamily="34" charset="-122"/>
              </a:rPr>
              <a:t>复制≠备份</a:t>
            </a:r>
            <a:endParaRPr lang="zh-CN" altLang="en-US" dirty="0"/>
          </a:p>
        </p:txBody>
      </p:sp>
      <p:sp>
        <p:nvSpPr>
          <p:cNvPr id="3" name="内容占位符 2"/>
          <p:cNvSpPr>
            <a:spLocks noGrp="1"/>
          </p:cNvSpPr>
          <p:nvPr>
            <p:ph idx="1"/>
          </p:nvPr>
        </p:nvSpPr>
        <p:spPr/>
        <p:txBody>
          <a:bodyPr>
            <a:normAutofit/>
          </a:bodyPr>
          <a:lstStyle/>
          <a:p>
            <a:r>
              <a:rPr lang="zh-CN" altLang="en-US" dirty="0" smtClean="0">
                <a:latin typeface="微软雅黑" pitchFamily="34" charset="-122"/>
                <a:ea typeface="微软雅黑" pitchFamily="34" charset="-122"/>
              </a:rPr>
              <a:t>复制</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可以</a:t>
            </a:r>
            <a:r>
              <a:rPr lang="zh-CN" altLang="en-US" dirty="0">
                <a:latin typeface="微软雅黑" pitchFamily="34" charset="-122"/>
                <a:ea typeface="微软雅黑" pitchFamily="34" charset="-122"/>
              </a:rPr>
              <a:t>离线多长时间</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复制集</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高可用：</a:t>
            </a:r>
            <a:r>
              <a:rPr lang="en-US" altLang="zh-CN" dirty="0" smtClean="0">
                <a:latin typeface="微软雅黑" pitchFamily="34" charset="-122"/>
                <a:ea typeface="微软雅黑" pitchFamily="34" charset="-122"/>
              </a:rPr>
              <a:t>24*7</a:t>
            </a:r>
          </a:p>
          <a:p>
            <a:pPr lvl="1"/>
            <a:r>
              <a:rPr lang="zh-CN" altLang="en-US" dirty="0">
                <a:latin typeface="微软雅黑" pitchFamily="34" charset="-122"/>
                <a:ea typeface="微软雅黑" pitchFamily="34" charset="-122"/>
              </a:rPr>
              <a:t>冗余，</a:t>
            </a:r>
            <a:r>
              <a:rPr lang="zh-CN" altLang="en-US" dirty="0" smtClean="0">
                <a:latin typeface="微软雅黑" pitchFamily="34" charset="-122"/>
                <a:ea typeface="微软雅黑" pitchFamily="34" charset="-122"/>
              </a:rPr>
              <a:t>故障自动</a:t>
            </a:r>
            <a:r>
              <a:rPr lang="en-US" altLang="zh-CN" dirty="0" smtClean="0">
                <a:latin typeface="微软雅黑" pitchFamily="34" charset="-122"/>
                <a:ea typeface="微软雅黑" pitchFamily="34" charset="-122"/>
              </a:rPr>
              <a:t>failover</a:t>
            </a:r>
            <a:r>
              <a:rPr lang="zh-CN" altLang="en-US" dirty="0" smtClean="0">
                <a:latin typeface="微软雅黑" pitchFamily="34" charset="-122"/>
                <a:ea typeface="微软雅黑" pitchFamily="34" charset="-122"/>
              </a:rPr>
              <a:t>，多数据中心部署</a:t>
            </a:r>
            <a:endParaRPr lang="en-US" altLang="zh-CN"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对用户透明的系统维护升级</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备份</a:t>
            </a:r>
            <a:endParaRPr lang="en-US" altLang="zh-CN" dirty="0" smtClean="0">
              <a:latin typeface="微软雅黑" pitchFamily="34" charset="-122"/>
              <a:ea typeface="微软雅黑" pitchFamily="34" charset="-122"/>
            </a:endParaRPr>
          </a:p>
          <a:p>
            <a:pPr lvl="1"/>
            <a:r>
              <a:rPr lang="zh-CN" altLang="en-US" dirty="0">
                <a:latin typeface="微软雅黑" pitchFamily="34" charset="-122"/>
                <a:ea typeface="微软雅黑" pitchFamily="34" charset="-122"/>
              </a:rPr>
              <a:t>可以丢失多少数据？</a:t>
            </a:r>
            <a:endParaRPr lang="en-US" altLang="zh-CN" dirty="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数据</a:t>
            </a:r>
            <a:r>
              <a:rPr lang="zh-CN" altLang="en-US" dirty="0">
                <a:latin typeface="微软雅黑" pitchFamily="34" charset="-122"/>
                <a:ea typeface="微软雅黑" pitchFamily="34" charset="-122"/>
              </a:rPr>
              <a:t>文件</a:t>
            </a:r>
            <a:endParaRPr lang="en-US" altLang="zh-CN" dirty="0">
              <a:latin typeface="微软雅黑" pitchFamily="34" charset="-122"/>
              <a:ea typeface="微软雅黑" pitchFamily="34" charset="-122"/>
            </a:endParaRPr>
          </a:p>
          <a:p>
            <a:pPr lvl="1"/>
            <a:r>
              <a:rPr lang="zh-CN" altLang="en-US" dirty="0">
                <a:latin typeface="微软雅黑" pitchFamily="34" charset="-122"/>
                <a:ea typeface="微软雅黑" pitchFamily="34" charset="-122"/>
              </a:rPr>
              <a:t>灾难恢复</a:t>
            </a:r>
            <a:endParaRPr lang="en-US" altLang="zh-CN" dirty="0">
              <a:latin typeface="微软雅黑" pitchFamily="34" charset="-122"/>
              <a:ea typeface="微软雅黑" pitchFamily="34" charset="-122"/>
            </a:endParaRPr>
          </a:p>
          <a:p>
            <a:pPr lvl="1"/>
            <a:r>
              <a:rPr lang="zh-CN" altLang="en-US" dirty="0">
                <a:latin typeface="微软雅黑" pitchFamily="34" charset="-122"/>
                <a:ea typeface="微软雅黑" pitchFamily="34" charset="-122"/>
              </a:rPr>
              <a:t>程序</a:t>
            </a:r>
            <a:r>
              <a:rPr lang="en-US" altLang="zh-CN" dirty="0">
                <a:latin typeface="微软雅黑" pitchFamily="34" charset="-122"/>
                <a:ea typeface="微软雅黑" pitchFamily="34" charset="-122"/>
              </a:rPr>
              <a:t>bug</a:t>
            </a:r>
            <a:r>
              <a:rPr lang="zh-CN" altLang="en-US" dirty="0">
                <a:latin typeface="微软雅黑" pitchFamily="34" charset="-122"/>
                <a:ea typeface="微软雅黑" pitchFamily="34" charset="-122"/>
              </a:rPr>
              <a:t>数据损坏</a:t>
            </a:r>
            <a:endParaRPr lang="en-US" altLang="zh-CN" dirty="0">
              <a:latin typeface="微软雅黑" pitchFamily="34" charset="-122"/>
              <a:ea typeface="微软雅黑" pitchFamily="34" charset="-122"/>
            </a:endParaRPr>
          </a:p>
          <a:p>
            <a:pPr lvl="1"/>
            <a:r>
              <a:rPr lang="zh-CN" altLang="en-US" dirty="0">
                <a:latin typeface="微软雅黑" pitchFamily="34" charset="-122"/>
                <a:ea typeface="微软雅黑" pitchFamily="34" charset="-122"/>
              </a:rPr>
              <a:t>人为误</a:t>
            </a:r>
            <a:r>
              <a:rPr lang="zh-CN" altLang="en-US" dirty="0" smtClean="0">
                <a:latin typeface="微软雅黑" pitchFamily="34" charset="-122"/>
                <a:ea typeface="微软雅黑" pitchFamily="34" charset="-122"/>
              </a:rPr>
              <a:t>操作</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复制具备一定备份的功能，但不能替代备份</a:t>
            </a:r>
            <a:endParaRPr lang="en-US" altLang="zh-CN" dirty="0" smtClean="0">
              <a:latin typeface="微软雅黑" pitchFamily="34" charset="-122"/>
              <a:ea typeface="微软雅黑" pitchFamily="34" charset="-122"/>
            </a:endParaRPr>
          </a:p>
          <a:p>
            <a:pPr marL="457200" lvl="1" indent="0">
              <a:buNone/>
            </a:pPr>
            <a:endParaRPr lang="en-US" altLang="zh-CN" dirty="0">
              <a:latin typeface="微软雅黑" pitchFamily="34" charset="-122"/>
              <a:ea typeface="微软雅黑" pitchFamily="34" charset="-122"/>
            </a:endParaRPr>
          </a:p>
        </p:txBody>
      </p:sp>
    </p:spTree>
    <p:extLst>
      <p:ext uri="{BB962C8B-B14F-4D97-AF65-F5344CB8AC3E}">
        <p14:creationId xmlns:p14="http://schemas.microsoft.com/office/powerpoint/2010/main" val="3839167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4.2 </a:t>
            </a:r>
            <a:r>
              <a:rPr lang="zh-CN" altLang="en-US" b="1" i="1" dirty="0" smtClean="0">
                <a:solidFill>
                  <a:prstClr val="black"/>
                </a:solidFill>
                <a:latin typeface="微软雅黑" pitchFamily="34" charset="-122"/>
                <a:ea typeface="微软雅黑" pitchFamily="34" charset="-122"/>
              </a:rPr>
              <a:t>复制集基本介绍</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latin typeface="微软雅黑" pitchFamily="34" charset="-122"/>
                <a:ea typeface="微软雅黑" pitchFamily="34" charset="-122"/>
              </a:rPr>
              <a:t>复制</a:t>
            </a:r>
            <a:endParaRPr lang="en-US" altLang="zh-CN" dirty="0" smtClean="0">
              <a:latin typeface="微软雅黑" pitchFamily="34" charset="-122"/>
              <a:ea typeface="微软雅黑" pitchFamily="34" charset="-122"/>
            </a:endParaRPr>
          </a:p>
          <a:p>
            <a:pPr lvl="1"/>
            <a:r>
              <a:rPr lang="zh-CN" altLang="en-US" dirty="0">
                <a:latin typeface="微软雅黑" pitchFamily="34" charset="-122"/>
                <a:ea typeface="微软雅黑" pitchFamily="34" charset="-122"/>
              </a:rPr>
              <a:t>复制是在多台服务器之间同步数据的</a:t>
            </a:r>
            <a:r>
              <a:rPr lang="zh-CN" altLang="en-US" dirty="0" smtClean="0">
                <a:latin typeface="微软雅黑" pitchFamily="34" charset="-122"/>
                <a:ea typeface="微软雅黑" pitchFamily="34" charset="-122"/>
              </a:rPr>
              <a:t>过程</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复制的目的</a:t>
            </a:r>
            <a:endParaRPr lang="en-US" altLang="zh-CN" dirty="0" smtClean="0">
              <a:latin typeface="微软雅黑" pitchFamily="34" charset="-122"/>
              <a:ea typeface="微软雅黑" pitchFamily="34" charset="-122"/>
            </a:endParaRPr>
          </a:p>
          <a:p>
            <a:pPr lvl="1"/>
            <a:r>
              <a:rPr lang="en-US" altLang="zh-CN" dirty="0">
                <a:latin typeface="微软雅黑" pitchFamily="34" charset="-122"/>
                <a:ea typeface="微软雅黑" pitchFamily="34" charset="-122"/>
              </a:rPr>
              <a:t>failover</a:t>
            </a:r>
            <a:r>
              <a:rPr lang="zh-CN" altLang="en-US" dirty="0">
                <a:latin typeface="微软雅黑" pitchFamily="34" charset="-122"/>
                <a:ea typeface="微软雅黑" pitchFamily="34" charset="-122"/>
              </a:rPr>
              <a:t>（故障转移，故障切换，故障恢复）</a:t>
            </a:r>
            <a:r>
              <a:rPr lang="en-US" altLang="zh-CN" dirty="0">
                <a:latin typeface="微软雅黑" pitchFamily="34" charset="-122"/>
                <a:ea typeface="微软雅黑" pitchFamily="34" charset="-122"/>
              </a:rPr>
              <a:t>and redundancy</a:t>
            </a:r>
            <a:r>
              <a:rPr lang="zh-CN" altLang="en-US" dirty="0">
                <a:latin typeface="微软雅黑" pitchFamily="34" charset="-122"/>
                <a:ea typeface="微软雅黑" pitchFamily="34" charset="-122"/>
              </a:rPr>
              <a:t>（数据冗余）</a:t>
            </a:r>
            <a:endParaRPr lang="en-US" altLang="zh-CN" dirty="0">
              <a:latin typeface="微软雅黑" pitchFamily="34" charset="-122"/>
              <a:ea typeface="微软雅黑" pitchFamily="34" charset="-122"/>
            </a:endParaRPr>
          </a:p>
          <a:p>
            <a:pPr lvl="1"/>
            <a:r>
              <a:rPr lang="zh-CN" altLang="en-US" dirty="0">
                <a:latin typeface="微软雅黑" pitchFamily="34" charset="-122"/>
                <a:ea typeface="微软雅黑" pitchFamily="34" charset="-122"/>
              </a:rPr>
              <a:t>避免单点，用于灾难时恢复，报表处理，提升数据可用性</a:t>
            </a:r>
            <a:endParaRPr lang="en-US" altLang="zh-CN" sz="5200" dirty="0">
              <a:latin typeface="微软雅黑" pitchFamily="34" charset="-122"/>
              <a:ea typeface="微软雅黑" pitchFamily="34" charset="-122"/>
            </a:endParaRPr>
          </a:p>
          <a:p>
            <a:pPr lvl="1"/>
            <a:r>
              <a:rPr lang="zh-CN" altLang="en-US" dirty="0">
                <a:latin typeface="微软雅黑" pitchFamily="34" charset="-122"/>
                <a:ea typeface="微软雅黑" pitchFamily="34" charset="-122"/>
              </a:rPr>
              <a:t>读写分离，分担读</a:t>
            </a:r>
            <a:r>
              <a:rPr lang="zh-CN" altLang="en-US" dirty="0" smtClean="0">
                <a:latin typeface="微软雅黑" pitchFamily="34" charset="-122"/>
                <a:ea typeface="微软雅黑" pitchFamily="34" charset="-122"/>
              </a:rPr>
              <a:t>压力</a:t>
            </a:r>
            <a:endParaRPr lang="en-US" altLang="zh-CN" dirty="0" smtClean="0">
              <a:latin typeface="微软雅黑" pitchFamily="34" charset="-122"/>
              <a:ea typeface="微软雅黑" pitchFamily="34" charset="-122"/>
            </a:endParaRPr>
          </a:p>
          <a:p>
            <a:r>
              <a:rPr lang="en-US" altLang="zh-CN" dirty="0" err="1" smtClean="0">
                <a:latin typeface="微软雅黑" pitchFamily="34" charset="-122"/>
                <a:ea typeface="微软雅黑" pitchFamily="34" charset="-122"/>
              </a:rPr>
              <a:t>MongoDB</a:t>
            </a:r>
            <a:r>
              <a:rPr lang="zh-CN" altLang="en-US" dirty="0" smtClean="0">
                <a:latin typeface="微软雅黑" pitchFamily="34" charset="-122"/>
                <a:ea typeface="微软雅黑" pitchFamily="34" charset="-122"/>
              </a:rPr>
              <a:t>中的复制</a:t>
            </a:r>
            <a:endParaRPr lang="en-US" altLang="zh-CN" dirty="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复制</a:t>
            </a:r>
            <a:r>
              <a:rPr lang="zh-CN" altLang="en-US" dirty="0">
                <a:latin typeface="微软雅黑" pitchFamily="34" charset="-122"/>
                <a:ea typeface="微软雅黑" pitchFamily="34" charset="-122"/>
              </a:rPr>
              <a:t>集是由一</a:t>
            </a:r>
            <a:r>
              <a:rPr lang="zh-CN" altLang="en-US" dirty="0" smtClean="0">
                <a:latin typeface="微软雅黑" pitchFamily="34" charset="-122"/>
                <a:ea typeface="微软雅黑" pitchFamily="34" charset="-122"/>
              </a:rPr>
              <a:t>组</a:t>
            </a:r>
            <a:r>
              <a:rPr lang="zh-CN" altLang="en-US" dirty="0">
                <a:latin typeface="微软雅黑" pitchFamily="34" charset="-122"/>
                <a:ea typeface="微软雅黑" pitchFamily="34" charset="-122"/>
              </a:rPr>
              <a:t> </a:t>
            </a:r>
            <a:r>
              <a:rPr lang="en-US" altLang="zh-CN" dirty="0" err="1">
                <a:latin typeface="微软雅黑" pitchFamily="34" charset="-122"/>
                <a:ea typeface="微软雅黑" pitchFamily="34" charset="-122"/>
              </a:rPr>
              <a:t>mongod</a:t>
            </a:r>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实例组成</a:t>
            </a:r>
            <a:r>
              <a:rPr lang="zh-CN" altLang="en-US" dirty="0" smtClean="0">
                <a:latin typeface="微软雅黑" pitchFamily="34" charset="-122"/>
                <a:ea typeface="微软雅黑" pitchFamily="34" charset="-122"/>
              </a:rPr>
              <a:t>的，这些</a:t>
            </a:r>
            <a:r>
              <a:rPr lang="en-US" altLang="zh-CN" dirty="0" err="1" smtClean="0">
                <a:latin typeface="微软雅黑" pitchFamily="34" charset="-122"/>
                <a:ea typeface="微软雅黑" pitchFamily="34" charset="-122"/>
              </a:rPr>
              <a:t>mongod</a:t>
            </a:r>
            <a:r>
              <a:rPr lang="zh-CN" altLang="en-US" dirty="0" smtClean="0">
                <a:latin typeface="微软雅黑" pitchFamily="34" charset="-122"/>
                <a:ea typeface="微软雅黑" pitchFamily="34" charset="-122"/>
              </a:rPr>
              <a:t>主要分为两个角色：</a:t>
            </a:r>
            <a:endParaRPr lang="en-US" altLang="zh-CN" dirty="0" smtClean="0">
              <a:latin typeface="微软雅黑" pitchFamily="34" charset="-122"/>
              <a:ea typeface="微软雅黑" pitchFamily="34" charset="-122"/>
            </a:endParaRPr>
          </a:p>
          <a:p>
            <a:pPr lvl="2"/>
            <a:r>
              <a:rPr lang="en-US" altLang="zh-CN" dirty="0" smtClean="0">
                <a:latin typeface="微软雅黑" pitchFamily="34" charset="-122"/>
                <a:ea typeface="微软雅黑" pitchFamily="34" charset="-122"/>
              </a:rPr>
              <a:t>Primary</a:t>
            </a:r>
          </a:p>
          <a:p>
            <a:pPr lvl="3"/>
            <a:r>
              <a:rPr lang="zh-CN" altLang="en-US" dirty="0">
                <a:latin typeface="微软雅黑" pitchFamily="34" charset="-122"/>
                <a:ea typeface="微软雅黑" pitchFamily="34" charset="-122"/>
              </a:rPr>
              <a:t>主节点只能有一个，所有的写请求都是在它上面完成的</a:t>
            </a:r>
            <a:r>
              <a:rPr lang="zh-CN" altLang="en-US" dirty="0" smtClean="0">
                <a:latin typeface="微软雅黑" pitchFamily="34" charset="-122"/>
                <a:ea typeface="微软雅黑" pitchFamily="34" charset="-122"/>
              </a:rPr>
              <a:t>。</a:t>
            </a:r>
            <a:r>
              <a:rPr lang="zh-CN" altLang="en-US" dirty="0">
                <a:latin typeface="微软雅黑" pitchFamily="34" charset="-122"/>
                <a:ea typeface="微软雅黑" pitchFamily="34" charset="-122"/>
              </a:rPr>
              <a:t>主</a:t>
            </a:r>
            <a:r>
              <a:rPr lang="zh-CN" altLang="en-US" dirty="0" smtClean="0">
                <a:latin typeface="微软雅黑" pitchFamily="34" charset="-122"/>
                <a:ea typeface="微软雅黑" pitchFamily="34" charset="-122"/>
              </a:rPr>
              <a:t>节点会将所有变动（数据，索引等）记录</a:t>
            </a:r>
            <a:r>
              <a:rPr lang="zh-CN" altLang="en-US" dirty="0">
                <a:latin typeface="微软雅黑" pitchFamily="34" charset="-122"/>
                <a:ea typeface="微软雅黑" pitchFamily="34" charset="-122"/>
              </a:rPr>
              <a:t>到 </a:t>
            </a:r>
            <a:r>
              <a:rPr lang="en-US" altLang="zh-CN" dirty="0" err="1">
                <a:latin typeface="微软雅黑" pitchFamily="34" charset="-122"/>
                <a:ea typeface="微软雅黑" pitchFamily="34" charset="-122"/>
              </a:rPr>
              <a:t>oplog</a:t>
            </a:r>
            <a:r>
              <a:rPr lang="en-US" altLang="zh-CN" dirty="0">
                <a:latin typeface="微软雅黑" pitchFamily="34" charset="-122"/>
                <a:ea typeface="微软雅黑" pitchFamily="34" charset="-122"/>
              </a:rPr>
              <a:t> </a:t>
            </a:r>
            <a:r>
              <a:rPr lang="zh-CN" altLang="en-US" dirty="0" smtClean="0">
                <a:latin typeface="微软雅黑" pitchFamily="34" charset="-122"/>
                <a:ea typeface="微软雅黑" pitchFamily="34" charset="-122"/>
              </a:rPr>
              <a:t>（类似</a:t>
            </a:r>
            <a:r>
              <a:rPr lang="en-US" altLang="zh-CN" dirty="0" err="1" smtClean="0">
                <a:latin typeface="微软雅黑" pitchFamily="34" charset="-122"/>
                <a:ea typeface="微软雅黑" pitchFamily="34" charset="-122"/>
              </a:rPr>
              <a:t>mysql</a:t>
            </a:r>
            <a:r>
              <a:rPr lang="zh-CN" altLang="en-US" dirty="0" smtClean="0">
                <a:latin typeface="微软雅黑" pitchFamily="34" charset="-122"/>
                <a:ea typeface="微软雅黑" pitchFamily="34" charset="-122"/>
              </a:rPr>
              <a:t>的</a:t>
            </a:r>
            <a:r>
              <a:rPr lang="en-US" altLang="zh-CN" dirty="0" err="1" smtClean="0">
                <a:latin typeface="微软雅黑" pitchFamily="34" charset="-122"/>
                <a:ea typeface="微软雅黑" pitchFamily="34" charset="-122"/>
              </a:rPr>
              <a:t>binlog</a:t>
            </a:r>
            <a:r>
              <a:rPr lang="zh-CN" altLang="en-US" dirty="0" smtClean="0">
                <a:latin typeface="微软雅黑" pitchFamily="34" charset="-122"/>
                <a:ea typeface="微软雅黑" pitchFamily="34" charset="-122"/>
              </a:rPr>
              <a:t>）中</a:t>
            </a:r>
            <a:r>
              <a:rPr lang="zh-CN" altLang="en-US" dirty="0">
                <a:latin typeface="微软雅黑" pitchFamily="34" charset="-122"/>
                <a:ea typeface="微软雅黑" pitchFamily="34" charset="-122"/>
              </a:rPr>
              <a:t>以支持复制的</a:t>
            </a:r>
            <a:r>
              <a:rPr lang="zh-CN" altLang="en-US" dirty="0" smtClean="0">
                <a:latin typeface="微软雅黑" pitchFamily="34" charset="-122"/>
                <a:ea typeface="微软雅黑" pitchFamily="34" charset="-122"/>
              </a:rPr>
              <a:t>实现。</a:t>
            </a:r>
            <a:endParaRPr lang="en-US" altLang="zh-CN" dirty="0" smtClean="0">
              <a:latin typeface="微软雅黑" pitchFamily="34" charset="-122"/>
              <a:ea typeface="微软雅黑" pitchFamily="34" charset="-122"/>
            </a:endParaRPr>
          </a:p>
          <a:p>
            <a:pPr lvl="2"/>
            <a:r>
              <a:rPr lang="en-US" altLang="zh-CN" dirty="0" smtClean="0">
                <a:latin typeface="微软雅黑" pitchFamily="34" charset="-122"/>
                <a:ea typeface="微软雅黑" pitchFamily="34" charset="-122"/>
              </a:rPr>
              <a:t>Secondary</a:t>
            </a:r>
          </a:p>
          <a:p>
            <a:pPr lvl="3"/>
            <a:r>
              <a:rPr lang="zh-CN" altLang="en-US" dirty="0" smtClean="0">
                <a:latin typeface="微软雅黑" pitchFamily="34" charset="-122"/>
                <a:ea typeface="微软雅黑" pitchFamily="34" charset="-122"/>
              </a:rPr>
              <a:t>从</a:t>
            </a:r>
            <a:r>
              <a:rPr lang="zh-CN" altLang="en-US" dirty="0">
                <a:latin typeface="微软雅黑" pitchFamily="34" charset="-122"/>
                <a:ea typeface="微软雅黑" pitchFamily="34" charset="-122"/>
              </a:rPr>
              <a:t>节点接收从主节点上传来的</a:t>
            </a:r>
            <a:r>
              <a:rPr lang="zh-CN" altLang="en-US" dirty="0" smtClean="0">
                <a:latin typeface="微软雅黑" pitchFamily="34" charset="-122"/>
                <a:ea typeface="微软雅黑" pitchFamily="34" charset="-122"/>
              </a:rPr>
              <a:t>操作</a:t>
            </a:r>
            <a:r>
              <a:rPr lang="en-US" altLang="zh-CN" dirty="0" smtClean="0">
                <a:latin typeface="微软雅黑" pitchFamily="34" charset="-122"/>
                <a:ea typeface="微软雅黑" pitchFamily="34" charset="-122"/>
              </a:rPr>
              <a:t>(</a:t>
            </a:r>
            <a:r>
              <a:rPr lang="en-US" altLang="zh-CN" dirty="0" err="1" smtClean="0">
                <a:latin typeface="微软雅黑" pitchFamily="34" charset="-122"/>
                <a:ea typeface="微软雅黑" pitchFamily="34" charset="-122"/>
              </a:rPr>
              <a:t>oplog</a:t>
            </a:r>
            <a:r>
              <a:rPr lang="zh-CN" altLang="en-US" dirty="0" smtClean="0">
                <a:latin typeface="微软雅黑" pitchFamily="34" charset="-122"/>
                <a:ea typeface="微软雅黑" pitchFamily="34" charset="-122"/>
              </a:rPr>
              <a:t>的记录</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并重放，以此</a:t>
            </a:r>
            <a:r>
              <a:rPr lang="zh-CN" altLang="en-US" dirty="0">
                <a:latin typeface="微软雅黑" pitchFamily="34" charset="-122"/>
                <a:ea typeface="微软雅黑" pitchFamily="34" charset="-122"/>
              </a:rPr>
              <a:t>来保证其与主节点的数据集一致</a:t>
            </a:r>
            <a:r>
              <a:rPr lang="zh-CN" altLang="en-US" dirty="0" smtClean="0">
                <a:latin typeface="微软雅黑" pitchFamily="34" charset="-122"/>
                <a:ea typeface="微软雅黑" pitchFamily="34" charset="-122"/>
              </a:rPr>
              <a:t>。</a:t>
            </a:r>
            <a:endParaRPr lang="en-US" altLang="zh-CN" dirty="0">
              <a:latin typeface="微软雅黑" pitchFamily="34" charset="-122"/>
              <a:ea typeface="微软雅黑" pitchFamily="34" charset="-122"/>
            </a:endParaRPr>
          </a:p>
          <a:p>
            <a:pPr lvl="1"/>
            <a:endParaRPr lang="en-US" altLang="zh-CN" dirty="0" smtClean="0">
              <a:latin typeface="微软雅黑" pitchFamily="34" charset="-122"/>
              <a:ea typeface="微软雅黑" pitchFamily="34" charset="-122"/>
            </a:endParaRPr>
          </a:p>
          <a:p>
            <a:pPr lvl="1"/>
            <a:endParaRPr lang="en-US" altLang="zh-CN" dirty="0" smtClean="0"/>
          </a:p>
          <a:p>
            <a:pPr marL="457200" lvl="1" indent="0">
              <a:buNone/>
            </a:pPr>
            <a:endParaRPr lang="zh-CN" altLang="en-US" dirty="0"/>
          </a:p>
        </p:txBody>
      </p:sp>
    </p:spTree>
    <p:extLst>
      <p:ext uri="{BB962C8B-B14F-4D97-AF65-F5344CB8AC3E}">
        <p14:creationId xmlns:p14="http://schemas.microsoft.com/office/powerpoint/2010/main" val="3513706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4.2 </a:t>
            </a:r>
            <a:r>
              <a:rPr lang="en-US" altLang="zh-CN" b="1" i="1" dirty="0" err="1" smtClean="0">
                <a:solidFill>
                  <a:prstClr val="black"/>
                </a:solidFill>
                <a:latin typeface="微软雅黑" pitchFamily="34" charset="-122"/>
                <a:ea typeface="微软雅黑" pitchFamily="34" charset="-122"/>
              </a:rPr>
              <a:t>oplog</a:t>
            </a:r>
            <a:endParaRPr lang="zh-CN" altLang="en-US" dirty="0"/>
          </a:p>
        </p:txBody>
      </p:sp>
      <p:sp>
        <p:nvSpPr>
          <p:cNvPr id="3" name="内容占位符 2"/>
          <p:cNvSpPr>
            <a:spLocks noGrp="1"/>
          </p:cNvSpPr>
          <p:nvPr>
            <p:ph idx="1"/>
          </p:nvPr>
        </p:nvSpPr>
        <p:spPr>
          <a:xfrm>
            <a:off x="179512" y="1600200"/>
            <a:ext cx="8856984" cy="4781128"/>
          </a:xfrm>
        </p:spPr>
        <p:txBody>
          <a:bodyPr>
            <a:normAutofit fontScale="85000" lnSpcReduction="10000"/>
          </a:bodyPr>
          <a:lstStyle/>
          <a:p>
            <a:r>
              <a:rPr lang="zh-CN" altLang="en-US" sz="2600" dirty="0" smtClean="0">
                <a:latin typeface="微软雅黑" pitchFamily="34" charset="-122"/>
                <a:ea typeface="微软雅黑" pitchFamily="34" charset="-122"/>
              </a:rPr>
              <a:t>类似</a:t>
            </a:r>
            <a:r>
              <a:rPr lang="en-US" altLang="zh-CN" sz="2600" dirty="0" err="1" smtClean="0">
                <a:latin typeface="微软雅黑" pitchFamily="34" charset="-122"/>
                <a:ea typeface="微软雅黑" pitchFamily="34" charset="-122"/>
              </a:rPr>
              <a:t>mysql</a:t>
            </a:r>
            <a:r>
              <a:rPr lang="zh-CN" altLang="en-US" sz="2600" dirty="0" smtClean="0">
                <a:latin typeface="微软雅黑" pitchFamily="34" charset="-122"/>
                <a:ea typeface="微软雅黑" pitchFamily="34" charset="-122"/>
              </a:rPr>
              <a:t>的</a:t>
            </a:r>
            <a:r>
              <a:rPr lang="en-US" altLang="zh-CN" sz="2600" dirty="0" err="1" smtClean="0">
                <a:latin typeface="微软雅黑" pitchFamily="34" charset="-122"/>
                <a:ea typeface="微软雅黑" pitchFamily="34" charset="-122"/>
              </a:rPr>
              <a:t>binlog</a:t>
            </a:r>
            <a:endParaRPr lang="en-US" altLang="zh-CN" sz="2600" dirty="0" smtClean="0">
              <a:latin typeface="微软雅黑" pitchFamily="34" charset="-122"/>
              <a:ea typeface="微软雅黑" pitchFamily="34" charset="-122"/>
            </a:endParaRPr>
          </a:p>
          <a:p>
            <a:r>
              <a:rPr lang="zh-CN" altLang="en-US" sz="2600" dirty="0" smtClean="0">
                <a:latin typeface="微软雅黑" pitchFamily="34" charset="-122"/>
                <a:ea typeface="微软雅黑" pitchFamily="34" charset="-122"/>
              </a:rPr>
              <a:t>定容集合</a:t>
            </a:r>
            <a:r>
              <a:rPr lang="en-US" altLang="zh-CN" sz="2600" dirty="0" smtClean="0">
                <a:latin typeface="微软雅黑" pitchFamily="34" charset="-122"/>
                <a:ea typeface="微软雅黑" pitchFamily="34" charset="-122"/>
              </a:rPr>
              <a:t>(capped collection)</a:t>
            </a:r>
          </a:p>
          <a:p>
            <a:pPr lvl="1"/>
            <a:r>
              <a:rPr lang="en-US" altLang="zh-CN" sz="1900" dirty="0" smtClean="0">
                <a:latin typeface="微软雅黑" pitchFamily="34" charset="-122"/>
                <a:ea typeface="微软雅黑" pitchFamily="34" charset="-122"/>
              </a:rPr>
              <a:t>local.oplog.rs </a:t>
            </a:r>
          </a:p>
          <a:p>
            <a:pPr lvl="1"/>
            <a:r>
              <a:rPr lang="zh-CN" altLang="en-US" sz="1900" dirty="0" smtClean="0">
                <a:latin typeface="微软雅黑" pitchFamily="34" charset="-122"/>
                <a:ea typeface="微软雅黑" pitchFamily="34" charset="-122"/>
              </a:rPr>
              <a:t>没有索引，顺序写，循环滚动</a:t>
            </a:r>
            <a:endParaRPr lang="en-US" altLang="zh-CN" sz="1900" dirty="0">
              <a:latin typeface="微软雅黑" pitchFamily="34" charset="-122"/>
              <a:ea typeface="微软雅黑" pitchFamily="34" charset="-122"/>
            </a:endParaRPr>
          </a:p>
          <a:p>
            <a:r>
              <a:rPr lang="en-US" altLang="zh-CN" sz="2600" dirty="0" smtClean="0">
                <a:latin typeface="微软雅黑" pitchFamily="34" charset="-122"/>
                <a:ea typeface="微软雅黑" pitchFamily="34" charset="-122"/>
              </a:rPr>
              <a:t>primary</a:t>
            </a:r>
            <a:r>
              <a:rPr lang="zh-CN" altLang="en-US" sz="2600" dirty="0" smtClean="0">
                <a:latin typeface="微软雅黑" pitchFamily="34" charset="-122"/>
                <a:ea typeface="微软雅黑" pitchFamily="34" charset="-122"/>
              </a:rPr>
              <a:t>记录所有引发数据变动的操作，</a:t>
            </a:r>
            <a:r>
              <a:rPr lang="en-US" altLang="zh-CN" sz="2600" dirty="0" smtClean="0">
                <a:latin typeface="微软雅黑" pitchFamily="34" charset="-122"/>
                <a:ea typeface="微软雅黑" pitchFamily="34" charset="-122"/>
              </a:rPr>
              <a:t>secondary</a:t>
            </a:r>
            <a:r>
              <a:rPr lang="zh-CN" altLang="en-US" sz="2600" dirty="0" smtClean="0">
                <a:latin typeface="微软雅黑" pitchFamily="34" charset="-122"/>
                <a:ea typeface="微软雅黑" pitchFamily="34" charset="-122"/>
              </a:rPr>
              <a:t>异步复制并在自己机器上重放这些操作以与</a:t>
            </a:r>
            <a:r>
              <a:rPr lang="en-US" altLang="zh-CN" sz="2600" dirty="0" smtClean="0">
                <a:latin typeface="微软雅黑" pitchFamily="34" charset="-122"/>
                <a:ea typeface="微软雅黑" pitchFamily="34" charset="-122"/>
              </a:rPr>
              <a:t>primary</a:t>
            </a:r>
            <a:r>
              <a:rPr lang="zh-CN" altLang="en-US" sz="2600" dirty="0" smtClean="0">
                <a:latin typeface="微软雅黑" pitchFamily="34" charset="-122"/>
                <a:ea typeface="微软雅黑" pitchFamily="34" charset="-122"/>
              </a:rPr>
              <a:t>保持数据一致。</a:t>
            </a:r>
            <a:endParaRPr lang="en-US" altLang="zh-CN" sz="2600" dirty="0" smtClean="0">
              <a:latin typeface="微软雅黑" pitchFamily="34" charset="-122"/>
              <a:ea typeface="微软雅黑" pitchFamily="34" charset="-122"/>
            </a:endParaRPr>
          </a:p>
          <a:p>
            <a:pPr lvl="1"/>
            <a:r>
              <a:rPr lang="en-US" altLang="zh-CN" sz="1900" dirty="0" err="1">
                <a:latin typeface="微软雅黑" pitchFamily="34" charset="-122"/>
                <a:ea typeface="微软雅黑" pitchFamily="34" charset="-122"/>
              </a:rPr>
              <a:t>t</a:t>
            </a:r>
            <a:r>
              <a:rPr lang="en-US" altLang="zh-CN" sz="1900" dirty="0" err="1" smtClean="0">
                <a:latin typeface="微软雅黑" pitchFamily="34" charset="-122"/>
                <a:ea typeface="微软雅黑" pitchFamily="34" charset="-122"/>
              </a:rPr>
              <a:t>ailable</a:t>
            </a:r>
            <a:r>
              <a:rPr lang="en-US" altLang="zh-CN" sz="1900" dirty="0" smtClean="0">
                <a:latin typeface="微软雅黑" pitchFamily="34" charset="-122"/>
                <a:ea typeface="微软雅黑" pitchFamily="34" charset="-122"/>
              </a:rPr>
              <a:t> cursor</a:t>
            </a:r>
          </a:p>
          <a:p>
            <a:r>
              <a:rPr lang="zh-CN" altLang="en-US" sz="2600" dirty="0">
                <a:latin typeface="微软雅黑" pitchFamily="34" charset="-122"/>
                <a:ea typeface="微软雅黑" pitchFamily="34" charset="-122"/>
              </a:rPr>
              <a:t>为了提高复制的效率，复制集中所有节点之间会互相进行心跳检测（通过</a:t>
            </a:r>
            <a:r>
              <a:rPr lang="en-US" altLang="zh-CN" sz="2600" dirty="0">
                <a:latin typeface="微软雅黑" pitchFamily="34" charset="-122"/>
                <a:ea typeface="微软雅黑" pitchFamily="34" charset="-122"/>
              </a:rPr>
              <a:t>ping</a:t>
            </a:r>
            <a:r>
              <a:rPr lang="zh-CN" altLang="en-US" sz="2600" dirty="0">
                <a:latin typeface="微软雅黑" pitchFamily="34" charset="-122"/>
                <a:ea typeface="微软雅黑" pitchFamily="34" charset="-122"/>
              </a:rPr>
              <a:t>）。每个节点都可以从任何其他节点上获取</a:t>
            </a:r>
            <a:r>
              <a:rPr lang="en-US" altLang="zh-CN" sz="2600" dirty="0" err="1" smtClean="0">
                <a:latin typeface="微软雅黑" pitchFamily="34" charset="-122"/>
                <a:ea typeface="微软雅黑" pitchFamily="34" charset="-122"/>
              </a:rPr>
              <a:t>oplog</a:t>
            </a:r>
            <a:r>
              <a:rPr lang="zh-CN" altLang="en-US" sz="2600" dirty="0" smtClean="0">
                <a:latin typeface="微软雅黑" pitchFamily="34" charset="-122"/>
                <a:ea typeface="微软雅黑" pitchFamily="34" charset="-122"/>
              </a:rPr>
              <a:t>。</a:t>
            </a:r>
            <a:endParaRPr lang="en-US" altLang="zh-CN" sz="2600" dirty="0" smtClean="0">
              <a:latin typeface="微软雅黑" pitchFamily="34" charset="-122"/>
              <a:ea typeface="微软雅黑" pitchFamily="34" charset="-122"/>
            </a:endParaRPr>
          </a:p>
          <a:p>
            <a:r>
              <a:rPr lang="en-US" altLang="zh-CN" sz="2600" dirty="0" err="1" smtClean="0">
                <a:latin typeface="微软雅黑" pitchFamily="34" charset="-122"/>
                <a:ea typeface="微软雅黑" pitchFamily="34" charset="-122"/>
              </a:rPr>
              <a:t>oplogSizeMB</a:t>
            </a:r>
            <a:endParaRPr lang="en-US" altLang="zh-CN" sz="2600" dirty="0">
              <a:latin typeface="微软雅黑" pitchFamily="34" charset="-122"/>
              <a:ea typeface="微软雅黑" pitchFamily="34" charset="-122"/>
            </a:endParaRPr>
          </a:p>
          <a:p>
            <a:pPr lvl="1"/>
            <a:r>
              <a:rPr lang="zh-CN" altLang="en-US" sz="1900" dirty="0" smtClean="0">
                <a:latin typeface="微软雅黑" pitchFamily="34" charset="-122"/>
                <a:ea typeface="微软雅黑" pitchFamily="34" charset="-122"/>
              </a:rPr>
              <a:t>默认</a:t>
            </a:r>
            <a:r>
              <a:rPr lang="en-US" altLang="zh-CN" sz="1900" dirty="0" smtClean="0">
                <a:latin typeface="微软雅黑" pitchFamily="34" charset="-122"/>
                <a:ea typeface="微软雅黑" pitchFamily="34" charset="-122"/>
              </a:rPr>
              <a:t>5</a:t>
            </a:r>
            <a:r>
              <a:rPr lang="en-US" altLang="zh-CN" sz="1900" dirty="0">
                <a:latin typeface="微软雅黑" pitchFamily="34" charset="-122"/>
                <a:ea typeface="微软雅黑" pitchFamily="34" charset="-122"/>
              </a:rPr>
              <a:t>% </a:t>
            </a:r>
            <a:r>
              <a:rPr lang="en-US" altLang="zh-CN" sz="1900" dirty="0" err="1" smtClean="0">
                <a:latin typeface="微软雅黑" pitchFamily="34" charset="-122"/>
                <a:ea typeface="微软雅黑" pitchFamily="34" charset="-122"/>
              </a:rPr>
              <a:t>avaliable</a:t>
            </a:r>
            <a:endParaRPr lang="en-US" altLang="zh-CN" sz="1900" dirty="0" smtClean="0">
              <a:latin typeface="微软雅黑" pitchFamily="34" charset="-122"/>
              <a:ea typeface="微软雅黑" pitchFamily="34" charset="-122"/>
            </a:endParaRPr>
          </a:p>
          <a:p>
            <a:r>
              <a:rPr lang="zh-CN" altLang="en-US" sz="2600" dirty="0">
                <a:latin typeface="微软雅黑" pitchFamily="34" charset="-122"/>
                <a:ea typeface="微软雅黑" pitchFamily="34" charset="-122"/>
              </a:rPr>
              <a:t>幂</a:t>
            </a:r>
            <a:r>
              <a:rPr lang="zh-CN" altLang="en-US" sz="2600" dirty="0" smtClean="0">
                <a:latin typeface="微软雅黑" pitchFamily="34" charset="-122"/>
                <a:ea typeface="微软雅黑" pitchFamily="34" charset="-122"/>
              </a:rPr>
              <a:t>等</a:t>
            </a:r>
            <a:endParaRPr lang="en-US" altLang="zh-CN" sz="2600" dirty="0" smtClean="0">
              <a:latin typeface="微软雅黑" pitchFamily="34" charset="-122"/>
              <a:ea typeface="微软雅黑" pitchFamily="34" charset="-122"/>
            </a:endParaRPr>
          </a:p>
          <a:p>
            <a:pPr lvl="1"/>
            <a:r>
              <a:rPr lang="zh-CN" altLang="en-US" sz="1800" dirty="0">
                <a:latin typeface="微软雅黑" pitchFamily="34" charset="-122"/>
                <a:ea typeface="微软雅黑" pitchFamily="34" charset="-122"/>
              </a:rPr>
              <a:t>可能产生大量</a:t>
            </a:r>
            <a:r>
              <a:rPr lang="zh-CN" altLang="en-US" sz="1800" dirty="0" smtClean="0">
                <a:latin typeface="微软雅黑" pitchFamily="34" charset="-122"/>
                <a:ea typeface="微软雅黑" pitchFamily="34" charset="-122"/>
              </a:rPr>
              <a:t>记录</a:t>
            </a:r>
            <a:endParaRPr lang="en-US" altLang="zh-CN" sz="1800" dirty="0" smtClean="0">
              <a:latin typeface="微软雅黑" pitchFamily="34" charset="-122"/>
              <a:ea typeface="微软雅黑" pitchFamily="34" charset="-122"/>
            </a:endParaRPr>
          </a:p>
          <a:p>
            <a:r>
              <a:rPr lang="en-US" altLang="zh-CN" dirty="0" err="1">
                <a:latin typeface="微软雅黑" pitchFamily="34" charset="-122"/>
                <a:ea typeface="微软雅黑" pitchFamily="34" charset="-122"/>
              </a:rPr>
              <a:t>rs.printReplicationInfo</a:t>
            </a:r>
            <a:r>
              <a:rPr lang="en-US" altLang="zh-CN" dirty="0">
                <a:latin typeface="微软雅黑" pitchFamily="34" charset="-122"/>
                <a:ea typeface="微软雅黑" pitchFamily="34" charset="-122"/>
              </a:rPr>
              <a:t>()</a:t>
            </a:r>
            <a:endParaRPr lang="en-US" altLang="zh-CN" sz="2600" dirty="0" smtClean="0">
              <a:latin typeface="微软雅黑" pitchFamily="34" charset="-122"/>
              <a:ea typeface="微软雅黑" pitchFamily="34" charset="-122"/>
            </a:endParaRPr>
          </a:p>
          <a:p>
            <a:endParaRPr lang="en-US" altLang="zh-CN" dirty="0" smtClean="0"/>
          </a:p>
          <a:p>
            <a:endParaRPr lang="zh-CN" altLang="en-US" dirty="0"/>
          </a:p>
        </p:txBody>
      </p:sp>
    </p:spTree>
    <p:extLst>
      <p:ext uri="{BB962C8B-B14F-4D97-AF65-F5344CB8AC3E}">
        <p14:creationId xmlns:p14="http://schemas.microsoft.com/office/powerpoint/2010/main" val="34157555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4.3 </a:t>
            </a:r>
            <a:r>
              <a:rPr lang="zh-CN" altLang="en-US" b="1" i="1" dirty="0" smtClean="0">
                <a:solidFill>
                  <a:prstClr val="black"/>
                </a:solidFill>
                <a:latin typeface="微软雅黑" pitchFamily="34" charset="-122"/>
                <a:ea typeface="微软雅黑" pitchFamily="34" charset="-122"/>
              </a:rPr>
              <a:t>复制节点</a:t>
            </a:r>
            <a:r>
              <a:rPr lang="en-US" altLang="zh-CN" b="1" i="1" dirty="0" smtClean="0">
                <a:solidFill>
                  <a:prstClr val="black"/>
                </a:solidFill>
                <a:latin typeface="微软雅黑" pitchFamily="34" charset="-122"/>
                <a:ea typeface="微软雅黑" pitchFamily="34" charset="-122"/>
              </a:rPr>
              <a:t> </a:t>
            </a:r>
            <a:endParaRPr lang="zh-CN" altLang="en-US" dirty="0"/>
          </a:p>
        </p:txBody>
      </p:sp>
      <p:sp>
        <p:nvSpPr>
          <p:cNvPr id="3" name="内容占位符 2"/>
          <p:cNvSpPr>
            <a:spLocks noGrp="1"/>
          </p:cNvSpPr>
          <p:nvPr>
            <p:ph idx="1"/>
          </p:nvPr>
        </p:nvSpPr>
        <p:spPr>
          <a:xfrm>
            <a:off x="251520" y="1600200"/>
            <a:ext cx="8640960" cy="4709120"/>
          </a:xfrm>
        </p:spPr>
        <p:txBody>
          <a:bodyPr>
            <a:normAutofit fontScale="92500" lnSpcReduction="20000"/>
          </a:bodyPr>
          <a:lstStyle/>
          <a:p>
            <a:r>
              <a:rPr lang="en-US" altLang="zh-CN" dirty="0" smtClean="0">
                <a:latin typeface="微软雅黑" pitchFamily="34" charset="-122"/>
                <a:ea typeface="微软雅黑" pitchFamily="34" charset="-122"/>
              </a:rPr>
              <a:t>Primary</a:t>
            </a:r>
          </a:p>
          <a:p>
            <a:r>
              <a:rPr lang="en-US" altLang="zh-CN" dirty="0" smtClean="0">
                <a:latin typeface="微软雅黑" pitchFamily="34" charset="-122"/>
                <a:ea typeface="微软雅黑" pitchFamily="34" charset="-122"/>
              </a:rPr>
              <a:t>Secondary</a:t>
            </a:r>
          </a:p>
          <a:p>
            <a:pPr lvl="1"/>
            <a:r>
              <a:rPr lang="en-US" altLang="zh-CN" dirty="0" smtClean="0">
                <a:latin typeface="微软雅黑" pitchFamily="34" charset="-122"/>
                <a:ea typeface="微软雅黑" pitchFamily="34" charset="-122"/>
              </a:rPr>
              <a:t>priority:0</a:t>
            </a:r>
          </a:p>
          <a:p>
            <a:pPr lvl="2"/>
            <a:r>
              <a:rPr lang="zh-CN" altLang="en-US" dirty="0" smtClean="0">
                <a:latin typeface="微软雅黑" pitchFamily="34" charset="-122"/>
                <a:ea typeface="微软雅黑" pitchFamily="34" charset="-122"/>
              </a:rPr>
              <a:t>不能成为</a:t>
            </a:r>
            <a:r>
              <a:rPr lang="en-US" altLang="zh-CN" dirty="0" smtClean="0">
                <a:latin typeface="微软雅黑" pitchFamily="34" charset="-122"/>
                <a:ea typeface="微软雅黑" pitchFamily="34" charset="-122"/>
              </a:rPr>
              <a:t>primary</a:t>
            </a:r>
            <a:r>
              <a:rPr lang="zh-CN" altLang="en-US" dirty="0" smtClean="0">
                <a:latin typeface="微软雅黑" pitchFamily="34" charset="-122"/>
                <a:ea typeface="微软雅黑" pitchFamily="34" charset="-122"/>
              </a:rPr>
              <a:t>，复制数据，可以提供读，可以参与投票</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可以用作备用节点</a:t>
            </a:r>
            <a:endParaRPr lang="en-US" altLang="zh-CN" dirty="0" smtClean="0">
              <a:latin typeface="微软雅黑" pitchFamily="34" charset="-122"/>
              <a:ea typeface="微软雅黑" pitchFamily="34" charset="-122"/>
            </a:endParaRPr>
          </a:p>
          <a:p>
            <a:pPr lvl="1"/>
            <a:r>
              <a:rPr lang="en-US" altLang="zh-CN" dirty="0" err="1" smtClean="0">
                <a:latin typeface="微软雅黑" pitchFamily="34" charset="-122"/>
                <a:ea typeface="微软雅黑" pitchFamily="34" charset="-122"/>
              </a:rPr>
              <a:t>hidden:true</a:t>
            </a:r>
            <a:endParaRPr lang="en-US" altLang="zh-CN" dirty="0" smtClean="0">
              <a:latin typeface="微软雅黑" pitchFamily="34" charset="-122"/>
              <a:ea typeface="微软雅黑" pitchFamily="34" charset="-122"/>
            </a:endParaRPr>
          </a:p>
          <a:p>
            <a:pPr lvl="2"/>
            <a:r>
              <a:rPr lang="en-US" altLang="zh-CN" dirty="0">
                <a:latin typeface="微软雅黑" pitchFamily="34" charset="-122"/>
                <a:ea typeface="微软雅黑" pitchFamily="34" charset="-122"/>
              </a:rPr>
              <a:t>p</a:t>
            </a:r>
            <a:r>
              <a:rPr lang="en-US" altLang="zh-CN" dirty="0" smtClean="0">
                <a:latin typeface="微软雅黑" pitchFamily="34" charset="-122"/>
                <a:ea typeface="微软雅黑" pitchFamily="34" charset="-122"/>
              </a:rPr>
              <a:t>riority:0</a:t>
            </a:r>
          </a:p>
          <a:p>
            <a:pPr lvl="2"/>
            <a:r>
              <a:rPr lang="zh-CN" altLang="en-US" dirty="0" smtClean="0">
                <a:latin typeface="微软雅黑" pitchFamily="34" charset="-122"/>
                <a:ea typeface="微软雅黑" pitchFamily="34" charset="-122"/>
              </a:rPr>
              <a:t>对于客户端程序</a:t>
            </a:r>
            <a:r>
              <a:rPr lang="en-US" altLang="zh-CN" dirty="0" smtClean="0">
                <a:latin typeface="微软雅黑" pitchFamily="34" charset="-122"/>
                <a:ea typeface="微软雅黑" pitchFamily="34" charset="-122"/>
              </a:rPr>
              <a:t>, mongos</a:t>
            </a:r>
            <a:r>
              <a:rPr lang="zh-CN" altLang="en-US" dirty="0" smtClean="0">
                <a:latin typeface="微软雅黑" pitchFamily="34" charset="-122"/>
                <a:ea typeface="微软雅黑" pitchFamily="34" charset="-122"/>
              </a:rPr>
              <a:t>不可见，复制数据，不能成为</a:t>
            </a:r>
            <a:r>
              <a:rPr lang="en-US" altLang="zh-CN" dirty="0" smtClean="0">
                <a:latin typeface="微软雅黑" pitchFamily="34" charset="-122"/>
                <a:ea typeface="微软雅黑" pitchFamily="34" charset="-122"/>
              </a:rPr>
              <a:t>primary</a:t>
            </a:r>
            <a:r>
              <a:rPr lang="zh-CN" altLang="en-US" dirty="0" smtClean="0">
                <a:latin typeface="微软雅黑" pitchFamily="34" charset="-122"/>
                <a:ea typeface="微软雅黑" pitchFamily="34" charset="-122"/>
              </a:rPr>
              <a:t>，可以投票</a:t>
            </a:r>
            <a:endParaRPr lang="en-US" altLang="zh-CN" dirty="0" smtClean="0">
              <a:latin typeface="微软雅黑" pitchFamily="34" charset="-122"/>
              <a:ea typeface="微软雅黑" pitchFamily="34" charset="-122"/>
            </a:endParaRPr>
          </a:p>
          <a:p>
            <a:pPr lvl="2"/>
            <a:r>
              <a:rPr lang="zh-CN" altLang="en-US" dirty="0" smtClean="0">
                <a:latin typeface="微软雅黑" pitchFamily="34" charset="-122"/>
                <a:ea typeface="微软雅黑" pitchFamily="34" charset="-122"/>
              </a:rPr>
              <a:t>可用作报表节点或备份节点</a:t>
            </a:r>
            <a:endParaRPr lang="en-US" altLang="zh-CN" dirty="0" smtClean="0">
              <a:latin typeface="微软雅黑" pitchFamily="34" charset="-122"/>
              <a:ea typeface="微软雅黑" pitchFamily="34" charset="-122"/>
            </a:endParaRPr>
          </a:p>
          <a:p>
            <a:pPr lvl="1"/>
            <a:r>
              <a:rPr lang="en-US" altLang="zh-CN" dirty="0" smtClean="0">
                <a:latin typeface="微软雅黑" pitchFamily="34" charset="-122"/>
                <a:ea typeface="微软雅黑" pitchFamily="34" charset="-122"/>
              </a:rPr>
              <a:t>slaveDelay:3600(s)</a:t>
            </a:r>
          </a:p>
          <a:p>
            <a:pPr lvl="2"/>
            <a:r>
              <a:rPr lang="en-US" altLang="zh-CN" dirty="0" err="1" smtClean="0">
                <a:latin typeface="微软雅黑" pitchFamily="34" charset="-122"/>
                <a:ea typeface="微软雅黑" pitchFamily="34" charset="-122"/>
              </a:rPr>
              <a:t>hidden:true</a:t>
            </a:r>
            <a:r>
              <a:rPr lang="en-US" altLang="zh-CN" dirty="0" smtClean="0">
                <a:latin typeface="微软雅黑" pitchFamily="34" charset="-122"/>
                <a:ea typeface="微软雅黑" pitchFamily="34" charset="-122"/>
              </a:rPr>
              <a:t>, priority:0</a:t>
            </a:r>
          </a:p>
          <a:p>
            <a:pPr lvl="2"/>
            <a:r>
              <a:rPr lang="zh-CN" altLang="en-US" dirty="0" smtClean="0">
                <a:latin typeface="微软雅黑" pitchFamily="34" charset="-122"/>
                <a:ea typeface="微软雅黑" pitchFamily="34" charset="-122"/>
              </a:rPr>
              <a:t>延时复制主节点数据，</a:t>
            </a:r>
            <a:r>
              <a:rPr lang="zh-CN" altLang="en-US" dirty="0">
                <a:latin typeface="微软雅黑" pitchFamily="34" charset="-122"/>
                <a:ea typeface="微软雅黑" pitchFamily="34" charset="-122"/>
              </a:rPr>
              <a:t>对于客户端程序</a:t>
            </a:r>
            <a:r>
              <a:rPr lang="en-US" altLang="zh-CN" dirty="0">
                <a:latin typeface="微软雅黑" pitchFamily="34" charset="-122"/>
                <a:ea typeface="微软雅黑" pitchFamily="34" charset="-122"/>
              </a:rPr>
              <a:t>, mongos</a:t>
            </a:r>
            <a:r>
              <a:rPr lang="zh-CN" altLang="en-US" dirty="0">
                <a:latin typeface="微软雅黑" pitchFamily="34" charset="-122"/>
                <a:ea typeface="微软雅黑" pitchFamily="34" charset="-122"/>
              </a:rPr>
              <a:t>不可见，</a:t>
            </a:r>
            <a:r>
              <a:rPr lang="zh-CN" altLang="en-US" dirty="0" smtClean="0">
                <a:latin typeface="微软雅黑" pitchFamily="34" charset="-122"/>
                <a:ea typeface="微软雅黑" pitchFamily="34" charset="-122"/>
              </a:rPr>
              <a:t>不能成为</a:t>
            </a:r>
            <a:r>
              <a:rPr lang="en-US" altLang="zh-CN" dirty="0" smtClean="0">
                <a:latin typeface="微软雅黑" pitchFamily="34" charset="-122"/>
                <a:ea typeface="微软雅黑" pitchFamily="34" charset="-122"/>
              </a:rPr>
              <a:t>primary</a:t>
            </a:r>
            <a:r>
              <a:rPr lang="zh-CN" altLang="en-US" dirty="0" smtClean="0">
                <a:latin typeface="微软雅黑" pitchFamily="34" charset="-122"/>
                <a:ea typeface="微软雅黑" pitchFamily="34" charset="-122"/>
              </a:rPr>
              <a:t>，可以投票</a:t>
            </a:r>
            <a:endParaRPr lang="en-US" altLang="zh-CN" dirty="0">
              <a:latin typeface="微软雅黑" pitchFamily="34" charset="-122"/>
              <a:ea typeface="微软雅黑" pitchFamily="34" charset="-122"/>
            </a:endParaRPr>
          </a:p>
          <a:p>
            <a:pPr lvl="2"/>
            <a:r>
              <a:rPr lang="en-US" altLang="zh-CN" dirty="0" smtClean="0">
                <a:latin typeface="微软雅黑" pitchFamily="34" charset="-122"/>
                <a:ea typeface="微软雅黑" pitchFamily="34" charset="-122"/>
              </a:rPr>
              <a:t>Delay</a:t>
            </a:r>
            <a:r>
              <a:rPr lang="zh-CN" altLang="en-US" dirty="0" smtClean="0">
                <a:latin typeface="微软雅黑" pitchFamily="34" charset="-122"/>
                <a:ea typeface="微软雅黑" pitchFamily="34" charset="-122"/>
              </a:rPr>
              <a:t>时间必须</a:t>
            </a:r>
            <a:r>
              <a:rPr lang="zh-CN" altLang="en-US" dirty="0">
                <a:latin typeface="微软雅黑" pitchFamily="34" charset="-122"/>
                <a:ea typeface="微软雅黑" pitchFamily="34" charset="-122"/>
              </a:rPr>
              <a:t>大于或者等于你的维护窗口</a:t>
            </a:r>
            <a:r>
              <a:rPr lang="zh-CN" altLang="en-US" dirty="0" smtClean="0">
                <a:latin typeface="微软雅黑" pitchFamily="34" charset="-122"/>
                <a:ea typeface="微软雅黑" pitchFamily="34" charset="-122"/>
              </a:rPr>
              <a:t>。必须</a:t>
            </a:r>
            <a:r>
              <a:rPr lang="zh-CN" altLang="en-US" dirty="0">
                <a:latin typeface="微软雅黑" pitchFamily="34" charset="-122"/>
                <a:ea typeface="微软雅黑" pitchFamily="34" charset="-122"/>
              </a:rPr>
              <a:t> 小于 </a:t>
            </a:r>
            <a:r>
              <a:rPr lang="en-US" altLang="zh-CN" dirty="0" err="1">
                <a:latin typeface="微软雅黑" pitchFamily="34" charset="-122"/>
                <a:ea typeface="微软雅黑" pitchFamily="34" charset="-122"/>
              </a:rPr>
              <a:t>oplog</a:t>
            </a:r>
            <a:r>
              <a:rPr lang="zh-CN" altLang="en-US" dirty="0">
                <a:latin typeface="微软雅黑" pitchFamily="34" charset="-122"/>
                <a:ea typeface="微软雅黑" pitchFamily="34" charset="-122"/>
              </a:rPr>
              <a:t>的存储</a:t>
            </a:r>
            <a:r>
              <a:rPr lang="zh-CN" altLang="en-US" dirty="0" smtClean="0">
                <a:latin typeface="微软雅黑" pitchFamily="34" charset="-122"/>
                <a:ea typeface="微软雅黑" pitchFamily="34" charset="-122"/>
              </a:rPr>
              <a:t>能力</a:t>
            </a:r>
            <a:endParaRPr lang="en-US" altLang="zh-CN" dirty="0" smtClean="0">
              <a:latin typeface="微软雅黑" pitchFamily="34" charset="-122"/>
              <a:ea typeface="微软雅黑" pitchFamily="34" charset="-122"/>
            </a:endParaRPr>
          </a:p>
          <a:p>
            <a:pPr lvl="2"/>
            <a:r>
              <a:rPr lang="zh-CN" altLang="en-US" dirty="0">
                <a:latin typeface="微软雅黑" pitchFamily="34" charset="-122"/>
                <a:ea typeface="微软雅黑" pitchFamily="34" charset="-122"/>
              </a:rPr>
              <a:t>可以帮助我们在人为误操作或是其他意外情况下恢复数据</a:t>
            </a:r>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Arbiter</a:t>
            </a:r>
          </a:p>
          <a:p>
            <a:pPr lvl="1"/>
            <a:r>
              <a:rPr lang="zh-CN" altLang="en-US" dirty="0">
                <a:latin typeface="微软雅黑" pitchFamily="34" charset="-122"/>
                <a:ea typeface="微软雅黑" pitchFamily="34" charset="-122"/>
              </a:rPr>
              <a:t>仲裁节点</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投票节点，不复制数据，加入打破投票僵局（偶数成员时，无法形成多数票</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Max: 12members(3.x up to 50), 7votes</a:t>
            </a:r>
          </a:p>
        </p:txBody>
      </p:sp>
    </p:spTree>
    <p:extLst>
      <p:ext uri="{BB962C8B-B14F-4D97-AF65-F5344CB8AC3E}">
        <p14:creationId xmlns:p14="http://schemas.microsoft.com/office/powerpoint/2010/main" val="7523307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4.4 </a:t>
            </a:r>
            <a:r>
              <a:rPr lang="zh-CN" altLang="en-US" b="1" i="1" dirty="0" smtClean="0">
                <a:solidFill>
                  <a:prstClr val="black"/>
                </a:solidFill>
                <a:latin typeface="微软雅黑" pitchFamily="34" charset="-122"/>
                <a:ea typeface="微软雅黑" pitchFamily="34" charset="-122"/>
              </a:rPr>
              <a:t>选举</a:t>
            </a:r>
            <a:endParaRPr lang="zh-CN" altLang="en-US" dirty="0"/>
          </a:p>
        </p:txBody>
      </p:sp>
      <p:sp>
        <p:nvSpPr>
          <p:cNvPr id="3" name="内容占位符 2"/>
          <p:cNvSpPr>
            <a:spLocks noGrp="1"/>
          </p:cNvSpPr>
          <p:nvPr>
            <p:ph idx="1"/>
          </p:nvPr>
        </p:nvSpPr>
        <p:spPr/>
        <p:txBody>
          <a:bodyPr>
            <a:normAutofit/>
          </a:bodyPr>
          <a:lstStyle/>
          <a:p>
            <a:r>
              <a:rPr lang="zh-CN" altLang="en-US" sz="1400" dirty="0"/>
              <a:t>副本集使用选举来决定哪个副本集成员将成为</a:t>
            </a:r>
            <a:r>
              <a:rPr lang="en-US" altLang="zh-CN" sz="1400" dirty="0"/>
              <a:t>primary</a:t>
            </a:r>
            <a:r>
              <a:rPr lang="zh-CN" altLang="en-US" sz="1400" dirty="0"/>
              <a:t>。选举发生在副本集启动后，任何时候</a:t>
            </a:r>
            <a:r>
              <a:rPr lang="en-US" altLang="zh-CN" sz="1400" dirty="0"/>
              <a:t>primary</a:t>
            </a:r>
            <a:r>
              <a:rPr lang="zh-CN" altLang="en-US" sz="1400" dirty="0"/>
              <a:t>变为不可用。</a:t>
            </a:r>
            <a:r>
              <a:rPr lang="en-US" altLang="zh-CN" sz="1400" dirty="0"/>
              <a:t>primary</a:t>
            </a:r>
            <a:r>
              <a:rPr lang="zh-CN" altLang="en-US" sz="1400" dirty="0"/>
              <a:t>是副本集中唯一可以接受写操作的成员。如果一个</a:t>
            </a:r>
            <a:r>
              <a:rPr lang="en-US" altLang="zh-CN" sz="1400" dirty="0"/>
              <a:t>primary</a:t>
            </a:r>
            <a:r>
              <a:rPr lang="zh-CN" altLang="en-US" sz="1400" dirty="0"/>
              <a:t>变为不可用，选举允许副本集恢复正常操作而不需要人工干预。选举是故障转移过程的</a:t>
            </a:r>
            <a:r>
              <a:rPr lang="zh-CN" altLang="en-US" sz="1400" dirty="0" smtClean="0"/>
              <a:t>一部分</a:t>
            </a:r>
            <a:endParaRPr lang="en-US" altLang="zh-CN" sz="1400" dirty="0" smtClean="0"/>
          </a:p>
          <a:p>
            <a:endParaRPr lang="zh-CN" altLang="en-US" sz="14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503844"/>
            <a:ext cx="4762500" cy="360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78229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4.4 </a:t>
            </a:r>
            <a:r>
              <a:rPr lang="zh-CN" altLang="en-US" b="1" i="1" dirty="0">
                <a:solidFill>
                  <a:prstClr val="black"/>
                </a:solidFill>
                <a:latin typeface="微软雅黑" pitchFamily="34" charset="-122"/>
                <a:ea typeface="微软雅黑" pitchFamily="34" charset="-122"/>
              </a:rPr>
              <a:t>选举</a:t>
            </a:r>
            <a:endParaRPr lang="zh-CN" altLang="en-US" dirty="0"/>
          </a:p>
        </p:txBody>
      </p:sp>
      <p:sp>
        <p:nvSpPr>
          <p:cNvPr id="3" name="内容占位符 2"/>
          <p:cNvSpPr>
            <a:spLocks noGrp="1"/>
          </p:cNvSpPr>
          <p:nvPr>
            <p:ph idx="1"/>
          </p:nvPr>
        </p:nvSpPr>
        <p:spPr>
          <a:xfrm>
            <a:off x="251520" y="1600200"/>
            <a:ext cx="8640960" cy="5141168"/>
          </a:xfrm>
        </p:spPr>
        <p:txBody>
          <a:bodyPr>
            <a:normAutofit/>
          </a:bodyPr>
          <a:lstStyle/>
          <a:p>
            <a:r>
              <a:rPr lang="en-US" altLang="zh-CN" sz="1100" dirty="0">
                <a:latin typeface="微软雅黑" panose="020B0503020204020204" pitchFamily="34" charset="-122"/>
                <a:ea typeface="微软雅黑" panose="020B0503020204020204" pitchFamily="34" charset="-122"/>
              </a:rPr>
              <a:t>Heartbeat</a:t>
            </a:r>
          </a:p>
          <a:p>
            <a:pPr lvl="1"/>
            <a:r>
              <a:rPr lang="zh-CN" altLang="en-US" sz="1100" dirty="0">
                <a:latin typeface="微软雅黑" panose="020B0503020204020204" pitchFamily="34" charset="-122"/>
                <a:ea typeface="微软雅黑" panose="020B0503020204020204" pitchFamily="34" charset="-122"/>
              </a:rPr>
              <a:t>复制集成员每两秒向复制集中其他成员进行心跳检测</a:t>
            </a:r>
            <a:endParaRPr lang="en-US" altLang="zh-CN" sz="1100" dirty="0">
              <a:latin typeface="微软雅黑" panose="020B0503020204020204" pitchFamily="34" charset="-122"/>
              <a:ea typeface="微软雅黑" panose="020B0503020204020204" pitchFamily="34" charset="-122"/>
            </a:endParaRPr>
          </a:p>
          <a:p>
            <a:r>
              <a:rPr lang="zh-CN" altLang="en-US" sz="1100" dirty="0">
                <a:latin typeface="微软雅黑" panose="020B0503020204020204" pitchFamily="34" charset="-122"/>
                <a:ea typeface="微软雅黑" panose="020B0503020204020204" pitchFamily="34" charset="-122"/>
              </a:rPr>
              <a:t>影响选举的因素</a:t>
            </a:r>
            <a:endParaRPr lang="en-US" altLang="zh-CN" sz="1100" dirty="0">
              <a:latin typeface="微软雅黑" panose="020B0503020204020204" pitchFamily="34" charset="-122"/>
              <a:ea typeface="微软雅黑" panose="020B0503020204020204" pitchFamily="34" charset="-122"/>
            </a:endParaRPr>
          </a:p>
          <a:p>
            <a:pPr lvl="1"/>
            <a:r>
              <a:rPr lang="zh-CN" altLang="en-US" sz="1100" dirty="0">
                <a:latin typeface="微软雅黑" panose="020B0503020204020204" pitchFamily="34" charset="-122"/>
                <a:ea typeface="微软雅黑" panose="020B0503020204020204" pitchFamily="34" charset="-122"/>
              </a:rPr>
              <a:t>心跳检测：如果某个节点在</a:t>
            </a:r>
            <a:r>
              <a:rPr lang="en-US" altLang="zh-CN" sz="1100" dirty="0">
                <a:latin typeface="微软雅黑" panose="020B0503020204020204" pitchFamily="34" charset="-122"/>
                <a:ea typeface="微软雅黑" panose="020B0503020204020204" pitchFamily="34" charset="-122"/>
              </a:rPr>
              <a:t>10</a:t>
            </a:r>
            <a:r>
              <a:rPr lang="zh-CN" altLang="en-US" sz="1100" dirty="0">
                <a:latin typeface="微软雅黑" panose="020B0503020204020204" pitchFamily="34" charset="-122"/>
                <a:ea typeface="微软雅黑" panose="020B0503020204020204" pitchFamily="34" charset="-122"/>
              </a:rPr>
              <a:t>秒内没有返回，那么它将被标记为不可用。</a:t>
            </a:r>
            <a:endParaRPr lang="en-US" altLang="zh-CN" sz="1100" dirty="0">
              <a:latin typeface="微软雅黑" panose="020B0503020204020204" pitchFamily="34" charset="-122"/>
              <a:ea typeface="微软雅黑" panose="020B0503020204020204" pitchFamily="34" charset="-122"/>
            </a:endParaRPr>
          </a:p>
          <a:p>
            <a:pPr lvl="1"/>
            <a:r>
              <a:rPr lang="zh-CN" altLang="en-US" sz="1100" dirty="0">
                <a:latin typeface="微软雅黑" panose="020B0503020204020204" pitchFamily="34" charset="-122"/>
                <a:ea typeface="微软雅黑" panose="020B0503020204020204" pitchFamily="34" charset="-122"/>
              </a:rPr>
              <a:t>优先级：</a:t>
            </a:r>
            <a:endParaRPr lang="en-US" altLang="zh-CN" sz="1100" dirty="0">
              <a:latin typeface="微软雅黑" panose="020B0503020204020204" pitchFamily="34" charset="-122"/>
              <a:ea typeface="微软雅黑" panose="020B0503020204020204" pitchFamily="34" charset="-122"/>
            </a:endParaRPr>
          </a:p>
          <a:p>
            <a:pPr lvl="2"/>
            <a:r>
              <a:rPr lang="zh-CN" altLang="en-US" sz="1100" dirty="0">
                <a:latin typeface="微软雅黑" panose="020B0503020204020204" pitchFamily="34" charset="-122"/>
                <a:ea typeface="微软雅黑" panose="020B0503020204020204" pitchFamily="34" charset="-122"/>
              </a:rPr>
              <a:t>优先级设置影响选举。成员将更宁愿投票给优先级值更高的成员。</a:t>
            </a:r>
            <a:endParaRPr lang="en-US" altLang="zh-CN" sz="1100" dirty="0">
              <a:latin typeface="微软雅黑" panose="020B0503020204020204" pitchFamily="34" charset="-122"/>
              <a:ea typeface="微软雅黑" panose="020B0503020204020204" pitchFamily="34" charset="-122"/>
            </a:endParaRPr>
          </a:p>
          <a:p>
            <a:pPr lvl="2"/>
            <a:r>
              <a:rPr lang="zh-CN" altLang="en-US" sz="1100" dirty="0">
                <a:latin typeface="微软雅黑" panose="020B0503020204020204" pitchFamily="34" charset="-122"/>
                <a:ea typeface="微软雅黑" panose="020B0503020204020204" pitchFamily="34" charset="-122"/>
              </a:rPr>
              <a:t>优先级为</a:t>
            </a:r>
            <a:r>
              <a:rPr lang="en-US" altLang="zh-CN" sz="1100" dirty="0">
                <a:latin typeface="微软雅黑" panose="020B0503020204020204" pitchFamily="34" charset="-122"/>
                <a:ea typeface="微软雅黑" panose="020B0503020204020204" pitchFamily="34" charset="-122"/>
              </a:rPr>
              <a:t>0</a:t>
            </a:r>
            <a:r>
              <a:rPr lang="zh-CN" altLang="en-US" sz="1100" dirty="0">
                <a:latin typeface="微软雅黑" panose="020B0503020204020204" pitchFamily="34" charset="-122"/>
                <a:ea typeface="微软雅黑" panose="020B0503020204020204" pitchFamily="34" charset="-122"/>
              </a:rPr>
              <a:t>的节点将不能成为主节点，也不会发起选举。</a:t>
            </a:r>
            <a:endParaRPr lang="en-US" altLang="zh-CN" sz="1100" dirty="0">
              <a:latin typeface="微软雅黑" panose="020B0503020204020204" pitchFamily="34" charset="-122"/>
              <a:ea typeface="微软雅黑" panose="020B0503020204020204" pitchFamily="34" charset="-122"/>
            </a:endParaRPr>
          </a:p>
          <a:p>
            <a:pPr lvl="2"/>
            <a:r>
              <a:rPr lang="zh-CN" altLang="en-US" sz="1100" dirty="0">
                <a:latin typeface="微软雅黑" panose="020B0503020204020204" pitchFamily="34" charset="-122"/>
                <a:ea typeface="微软雅黑" panose="020B0503020204020204" pitchFamily="34" charset="-122"/>
              </a:rPr>
              <a:t>副本集不会举行选举只要当前</a:t>
            </a:r>
            <a:r>
              <a:rPr lang="en-US" altLang="zh-CN" sz="1100" dirty="0">
                <a:latin typeface="微软雅黑" panose="020B0503020204020204" pitchFamily="34" charset="-122"/>
                <a:ea typeface="微软雅黑" panose="020B0503020204020204" pitchFamily="34" charset="-122"/>
              </a:rPr>
              <a:t>primary</a:t>
            </a:r>
            <a:r>
              <a:rPr lang="zh-CN" altLang="en-US" sz="1100" dirty="0">
                <a:latin typeface="微软雅黑" panose="020B0503020204020204" pitchFamily="34" charset="-122"/>
                <a:ea typeface="微软雅黑" panose="020B0503020204020204" pitchFamily="34" charset="-122"/>
              </a:rPr>
              <a:t>拥有最高的优先级值或者没有</a:t>
            </a:r>
            <a:r>
              <a:rPr lang="en-US" altLang="zh-CN" sz="1100" dirty="0">
                <a:latin typeface="微软雅黑" panose="020B0503020204020204" pitchFamily="34" charset="-122"/>
                <a:ea typeface="微软雅黑" panose="020B0503020204020204" pitchFamily="34" charset="-122"/>
              </a:rPr>
              <a:t>secondary</a:t>
            </a:r>
            <a:r>
              <a:rPr lang="zh-CN" altLang="en-US" sz="1100" dirty="0">
                <a:latin typeface="微软雅黑" panose="020B0503020204020204" pitchFamily="34" charset="-122"/>
                <a:ea typeface="微软雅黑" panose="020B0503020204020204" pitchFamily="34" charset="-122"/>
              </a:rPr>
              <a:t>拥有更高优先级并且其操作日志记录的最新操作时间与</a:t>
            </a:r>
            <a:r>
              <a:rPr lang="en-US" altLang="zh-CN" sz="1100" dirty="0">
                <a:latin typeface="微软雅黑" panose="020B0503020204020204" pitchFamily="34" charset="-122"/>
                <a:ea typeface="微软雅黑" panose="020B0503020204020204" pitchFamily="34" charset="-122"/>
              </a:rPr>
              <a:t>primary</a:t>
            </a:r>
            <a:r>
              <a:rPr lang="zh-CN" altLang="en-US" sz="1100" dirty="0">
                <a:latin typeface="微软雅黑" panose="020B0503020204020204" pitchFamily="34" charset="-122"/>
                <a:ea typeface="微软雅黑" panose="020B0503020204020204" pitchFamily="34" charset="-122"/>
              </a:rPr>
              <a:t>的</a:t>
            </a:r>
            <a:r>
              <a:rPr lang="en-US" altLang="zh-CN" sz="1100" dirty="0" err="1">
                <a:latin typeface="微软雅黑" panose="020B0503020204020204" pitchFamily="34" charset="-122"/>
                <a:ea typeface="微软雅黑" panose="020B0503020204020204" pitchFamily="34" charset="-122"/>
              </a:rPr>
              <a:t>oplog</a:t>
            </a:r>
            <a:r>
              <a:rPr lang="zh-CN" altLang="en-US" sz="1100" dirty="0">
                <a:latin typeface="微软雅黑" panose="020B0503020204020204" pitchFamily="34" charset="-122"/>
                <a:ea typeface="微软雅黑" panose="020B0503020204020204" pitchFamily="34" charset="-122"/>
              </a:rPr>
              <a:t>记录的最新记录相差小于</a:t>
            </a:r>
            <a:r>
              <a:rPr lang="en-US" altLang="zh-CN" sz="1100" dirty="0">
                <a:latin typeface="微软雅黑" panose="020B0503020204020204" pitchFamily="34" charset="-122"/>
                <a:ea typeface="微软雅黑" panose="020B0503020204020204" pitchFamily="34" charset="-122"/>
              </a:rPr>
              <a:t>10</a:t>
            </a:r>
            <a:r>
              <a:rPr lang="zh-CN" altLang="en-US" sz="1100" dirty="0">
                <a:latin typeface="微软雅黑" panose="020B0503020204020204" pitchFamily="34" charset="-122"/>
                <a:ea typeface="微软雅黑" panose="020B0503020204020204" pitchFamily="34" charset="-122"/>
              </a:rPr>
              <a:t>秒的时候。</a:t>
            </a:r>
            <a:endParaRPr lang="en-US" altLang="zh-CN" sz="1100" dirty="0">
              <a:latin typeface="微软雅黑" panose="020B0503020204020204" pitchFamily="34" charset="-122"/>
              <a:ea typeface="微软雅黑" panose="020B0503020204020204" pitchFamily="34" charset="-122"/>
            </a:endParaRPr>
          </a:p>
          <a:p>
            <a:pPr lvl="2"/>
            <a:r>
              <a:rPr lang="zh-CN" altLang="en-US" sz="1100" dirty="0">
                <a:latin typeface="微软雅黑" panose="020B0503020204020204" pitchFamily="34" charset="-122"/>
                <a:ea typeface="微软雅黑" panose="020B0503020204020204" pitchFamily="34" charset="-122"/>
              </a:rPr>
              <a:t>如果一个更高优先级成员并且其操作日志所记录最新操作时间和当前</a:t>
            </a:r>
            <a:r>
              <a:rPr lang="en-US" altLang="zh-CN" sz="1100" dirty="0" err="1">
                <a:latin typeface="微软雅黑" panose="020B0503020204020204" pitchFamily="34" charset="-122"/>
                <a:ea typeface="微软雅黑" panose="020B0503020204020204" pitchFamily="34" charset="-122"/>
              </a:rPr>
              <a:t>primay</a:t>
            </a:r>
            <a:r>
              <a:rPr lang="zh-CN" altLang="en-US" sz="1100" dirty="0">
                <a:latin typeface="微软雅黑" panose="020B0503020204020204" pitchFamily="34" charset="-122"/>
                <a:ea typeface="微软雅黑" panose="020B0503020204020204" pitchFamily="34" charset="-122"/>
              </a:rPr>
              <a:t>节点记录的时间相差小于</a:t>
            </a:r>
            <a:r>
              <a:rPr lang="en-US" altLang="zh-CN" sz="1100" dirty="0">
                <a:latin typeface="微软雅黑" panose="020B0503020204020204" pitchFamily="34" charset="-122"/>
                <a:ea typeface="微软雅黑" panose="020B0503020204020204" pitchFamily="34" charset="-122"/>
              </a:rPr>
              <a:t>10</a:t>
            </a:r>
            <a:r>
              <a:rPr lang="zh-CN" altLang="en-US" sz="1100" dirty="0">
                <a:latin typeface="微软雅黑" panose="020B0503020204020204" pitchFamily="34" charset="-122"/>
                <a:ea typeface="微软雅黑" panose="020B0503020204020204" pitchFamily="34" charset="-122"/>
              </a:rPr>
              <a:t>秒的时候，副本集就会举行一次选举以提供一次机会给更高优先级节点成为</a:t>
            </a:r>
            <a:r>
              <a:rPr lang="en-US" altLang="zh-CN" sz="1100" dirty="0">
                <a:latin typeface="微软雅黑" panose="020B0503020204020204" pitchFamily="34" charset="-122"/>
                <a:ea typeface="微软雅黑" panose="020B0503020204020204" pitchFamily="34" charset="-122"/>
              </a:rPr>
              <a:t>primary.</a:t>
            </a:r>
            <a:endParaRPr lang="zh-CN" altLang="en-US" sz="1100" dirty="0">
              <a:latin typeface="微软雅黑" panose="020B0503020204020204" pitchFamily="34" charset="-122"/>
              <a:ea typeface="微软雅黑" panose="020B0503020204020204" pitchFamily="34" charset="-122"/>
            </a:endParaRPr>
          </a:p>
          <a:p>
            <a:pPr lvl="1"/>
            <a:r>
              <a:rPr lang="en-US" altLang="zh-CN" sz="1100" dirty="0" err="1">
                <a:latin typeface="微软雅黑" panose="020B0503020204020204" pitchFamily="34" charset="-122"/>
                <a:ea typeface="微软雅黑" panose="020B0503020204020204" pitchFamily="34" charset="-122"/>
              </a:rPr>
              <a:t>Optime</a:t>
            </a:r>
            <a:endParaRPr lang="en-US" altLang="zh-CN" sz="1100" dirty="0">
              <a:latin typeface="微软雅黑" panose="020B0503020204020204" pitchFamily="34" charset="-122"/>
              <a:ea typeface="微软雅黑" panose="020B0503020204020204" pitchFamily="34" charset="-122"/>
            </a:endParaRPr>
          </a:p>
          <a:p>
            <a:pPr lvl="2"/>
            <a:r>
              <a:rPr lang="en-US" altLang="zh-CN" sz="1100" dirty="0" err="1">
                <a:latin typeface="微软雅黑" panose="020B0503020204020204" pitchFamily="34" charset="-122"/>
                <a:ea typeface="微软雅黑" panose="020B0503020204020204" pitchFamily="34" charset="-122"/>
              </a:rPr>
              <a:t>optime</a:t>
            </a:r>
            <a:r>
              <a:rPr lang="zh-CN" altLang="en-US" sz="1100" dirty="0">
                <a:latin typeface="微软雅黑" panose="020B0503020204020204" pitchFamily="34" charset="-122"/>
                <a:ea typeface="微软雅黑" panose="020B0503020204020204" pitchFamily="34" charset="-122"/>
              </a:rPr>
              <a:t>是成员最近一次从</a:t>
            </a:r>
            <a:r>
              <a:rPr lang="en-US" altLang="zh-CN" sz="1100" dirty="0" err="1">
                <a:latin typeface="微软雅黑" panose="020B0503020204020204" pitchFamily="34" charset="-122"/>
                <a:ea typeface="微软雅黑" panose="020B0503020204020204" pitchFamily="34" charset="-122"/>
              </a:rPr>
              <a:t>oplog</a:t>
            </a:r>
            <a:r>
              <a:rPr lang="zh-CN" altLang="en-US" sz="1100" dirty="0">
                <a:latin typeface="微软雅黑" panose="020B0503020204020204" pitchFamily="34" charset="-122"/>
                <a:ea typeface="微软雅黑" panose="020B0503020204020204" pitchFamily="34" charset="-122"/>
              </a:rPr>
              <a:t>应用的上一次操作的</a:t>
            </a:r>
            <a:r>
              <a:rPr lang="en-US" altLang="zh-CN" sz="1100" dirty="0">
                <a:latin typeface="微软雅黑" panose="020B0503020204020204" pitchFamily="34" charset="-122"/>
                <a:ea typeface="微软雅黑" panose="020B0503020204020204" pitchFamily="34" charset="-122"/>
              </a:rPr>
              <a:t>timestamp</a:t>
            </a:r>
            <a:r>
              <a:rPr lang="zh-CN" altLang="en-US" sz="1100" dirty="0">
                <a:latin typeface="微软雅黑" panose="020B0503020204020204" pitchFamily="34" charset="-122"/>
                <a:ea typeface="微软雅黑" panose="020B0503020204020204" pitchFamily="34" charset="-122"/>
              </a:rPr>
              <a:t>。一个副本集成员不能成为</a:t>
            </a:r>
            <a:r>
              <a:rPr lang="en-US" altLang="zh-CN" sz="1100" dirty="0">
                <a:latin typeface="微软雅黑" panose="020B0503020204020204" pitchFamily="34" charset="-122"/>
                <a:ea typeface="微软雅黑" panose="020B0503020204020204" pitchFamily="34" charset="-122"/>
              </a:rPr>
              <a:t>primary</a:t>
            </a:r>
            <a:r>
              <a:rPr lang="zh-CN" altLang="en-US" sz="1100" dirty="0">
                <a:latin typeface="微软雅黑" panose="020B0503020204020204" pitchFamily="34" charset="-122"/>
                <a:ea typeface="微软雅黑" panose="020B0503020204020204" pitchFamily="34" charset="-122"/>
              </a:rPr>
              <a:t>除非它在副本集所有可见的成员中拥有更高的（也就是最新的）</a:t>
            </a:r>
            <a:r>
              <a:rPr lang="en-US" altLang="zh-CN" sz="1100" dirty="0" err="1">
                <a:latin typeface="微软雅黑" panose="020B0503020204020204" pitchFamily="34" charset="-122"/>
                <a:ea typeface="微软雅黑" panose="020B0503020204020204" pitchFamily="34" charset="-122"/>
              </a:rPr>
              <a:t>optime</a:t>
            </a:r>
            <a:endParaRPr lang="zh-CN" altLang="en-US" sz="1100" dirty="0">
              <a:latin typeface="微软雅黑" panose="020B0503020204020204" pitchFamily="34" charset="-122"/>
              <a:ea typeface="微软雅黑" panose="020B0503020204020204" pitchFamily="34" charset="-122"/>
            </a:endParaRPr>
          </a:p>
          <a:p>
            <a:pPr lvl="1"/>
            <a:r>
              <a:rPr lang="zh-CN" altLang="en-US" sz="1100" dirty="0">
                <a:latin typeface="微软雅黑" panose="020B0503020204020204" pitchFamily="34" charset="-122"/>
                <a:ea typeface="微软雅黑" panose="020B0503020204020204" pitchFamily="34" charset="-122"/>
              </a:rPr>
              <a:t>连接</a:t>
            </a:r>
            <a:endParaRPr lang="en-US" altLang="zh-CN" sz="1100" dirty="0">
              <a:latin typeface="微软雅黑" panose="020B0503020204020204" pitchFamily="34" charset="-122"/>
              <a:ea typeface="微软雅黑" panose="020B0503020204020204" pitchFamily="34" charset="-122"/>
            </a:endParaRPr>
          </a:p>
          <a:p>
            <a:pPr lvl="2"/>
            <a:r>
              <a:rPr lang="zh-CN" altLang="en-US" sz="1100" dirty="0">
                <a:latin typeface="微软雅黑" panose="020B0503020204020204" pitchFamily="34" charset="-122"/>
                <a:ea typeface="微软雅黑" panose="020B0503020204020204" pitchFamily="34" charset="-122"/>
              </a:rPr>
              <a:t>如果复制集中的某个节点不能连接上其他多数节点，那么它将不能升职为主节点。在选举中，多数是指多数 投票 而不是多数节点个数。</a:t>
            </a:r>
            <a:endParaRPr lang="en-US" altLang="zh-CN" sz="1100" dirty="0">
              <a:latin typeface="微软雅黑" panose="020B0503020204020204" pitchFamily="34" charset="-122"/>
              <a:ea typeface="微软雅黑" panose="020B0503020204020204" pitchFamily="34" charset="-122"/>
            </a:endParaRPr>
          </a:p>
          <a:p>
            <a:pPr lvl="2"/>
            <a:r>
              <a:rPr lang="zh-CN" altLang="en-US" sz="1100" dirty="0">
                <a:latin typeface="微软雅黑" panose="020B0503020204020204" pitchFamily="34" charset="-122"/>
                <a:ea typeface="微软雅黑" panose="020B0503020204020204" pitchFamily="34" charset="-122"/>
              </a:rPr>
              <a:t>如果复制集是由三个节点组成的，且三个节点均可投票，只要其中两个节点能够互相沟通那么复制集就能选举出新的主节点。如果有两个节点不可用了，那么剩下的节点将为 从节点 ，因为它不能与复制集中多数节点进行沟通。 如果两个从节点不可用了，剩下的 主节点 将降职为从节点。</a:t>
            </a:r>
          </a:p>
          <a:p>
            <a:pPr lvl="1"/>
            <a:r>
              <a:rPr lang="zh-CN" altLang="en-US" sz="1100" dirty="0">
                <a:latin typeface="微软雅黑" panose="020B0503020204020204" pitchFamily="34" charset="-122"/>
                <a:ea typeface="微软雅黑" panose="020B0503020204020204" pitchFamily="34" charset="-122"/>
              </a:rPr>
              <a:t>网络隔离</a:t>
            </a:r>
            <a:endParaRPr lang="en-US" altLang="zh-CN" sz="1100" dirty="0">
              <a:latin typeface="微软雅黑" panose="020B0503020204020204" pitchFamily="34" charset="-122"/>
              <a:ea typeface="微软雅黑" panose="020B0503020204020204" pitchFamily="34" charset="-122"/>
            </a:endParaRPr>
          </a:p>
          <a:p>
            <a:pPr lvl="2"/>
            <a:r>
              <a:rPr lang="zh-CN" altLang="en-US" sz="1100" dirty="0">
                <a:latin typeface="微软雅黑" panose="020B0503020204020204" pitchFamily="34" charset="-122"/>
                <a:ea typeface="微软雅黑" panose="020B0503020204020204" pitchFamily="34" charset="-122"/>
              </a:rPr>
              <a:t>网络隔离影响了选举中多数选票的结构。如果主节点不可用了，且每个相互隔离的网络中都没有多数选票的出现，那么复制集将 不会 选举出新的主节点。复制集将变为只读的。</a:t>
            </a:r>
            <a:endParaRPr lang="en-US" altLang="zh-CN" sz="1100" dirty="0">
              <a:latin typeface="微软雅黑" panose="020B0503020204020204" pitchFamily="34" charset="-122"/>
              <a:ea typeface="微软雅黑" panose="020B0503020204020204" pitchFamily="34" charset="-122"/>
            </a:endParaRPr>
          </a:p>
          <a:p>
            <a:pPr lvl="2"/>
            <a:r>
              <a:rPr lang="zh-CN" altLang="en-US" sz="1100" dirty="0">
                <a:latin typeface="微软雅黑" panose="020B0503020204020204" pitchFamily="34" charset="-122"/>
                <a:ea typeface="微软雅黑" panose="020B0503020204020204" pitchFamily="34" charset="-122"/>
              </a:rPr>
              <a:t>为了避免这种情况的出现，我们需要将多数节点置于主数据中心，少数节点放于其他数据中心</a:t>
            </a:r>
          </a:p>
        </p:txBody>
      </p:sp>
    </p:spTree>
    <p:extLst>
      <p:ext uri="{BB962C8B-B14F-4D97-AF65-F5344CB8AC3E}">
        <p14:creationId xmlns:p14="http://schemas.microsoft.com/office/powerpoint/2010/main" val="14941433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4.4 </a:t>
            </a:r>
            <a:r>
              <a:rPr lang="zh-CN" altLang="en-US" b="1" i="1" dirty="0">
                <a:solidFill>
                  <a:prstClr val="black"/>
                </a:solidFill>
                <a:latin typeface="微软雅黑" pitchFamily="34" charset="-122"/>
                <a:ea typeface="微软雅黑" pitchFamily="34" charset="-122"/>
              </a:rPr>
              <a:t>选举</a:t>
            </a:r>
            <a:endParaRPr lang="zh-CN" altLang="en-US" dirty="0"/>
          </a:p>
        </p:txBody>
      </p:sp>
      <p:sp>
        <p:nvSpPr>
          <p:cNvPr id="3" name="内容占位符 2"/>
          <p:cNvSpPr>
            <a:spLocks noGrp="1"/>
          </p:cNvSpPr>
          <p:nvPr>
            <p:ph idx="1"/>
          </p:nvPr>
        </p:nvSpPr>
        <p:spPr/>
        <p:txBody>
          <a:bodyPr/>
          <a:lstStyle/>
          <a:p>
            <a:r>
              <a:rPr lang="zh-CN" altLang="en-US" dirty="0">
                <a:latin typeface="微软雅黑" pitchFamily="34" charset="-122"/>
                <a:ea typeface="微软雅黑" pitchFamily="34" charset="-122"/>
              </a:rPr>
              <a:t>当复制集中没有主节点可用的时候将触发选举：</a:t>
            </a:r>
            <a:endParaRPr lang="zh-CN" altLang="en-US" sz="5200" dirty="0">
              <a:latin typeface="微软雅黑" pitchFamily="34" charset="-122"/>
              <a:ea typeface="微软雅黑" pitchFamily="34" charset="-122"/>
            </a:endParaRPr>
          </a:p>
          <a:p>
            <a:pPr lvl="2"/>
            <a:r>
              <a:rPr lang="zh-CN" altLang="en-US" dirty="0">
                <a:latin typeface="微软雅黑" pitchFamily="34" charset="-122"/>
                <a:ea typeface="微软雅黑" pitchFamily="34" charset="-122"/>
              </a:rPr>
              <a:t>新复制集的初始化。</a:t>
            </a:r>
            <a:endParaRPr lang="en-US" altLang="zh-CN" sz="5200" dirty="0">
              <a:latin typeface="微软雅黑" pitchFamily="34" charset="-122"/>
              <a:ea typeface="微软雅黑" pitchFamily="34" charset="-122"/>
            </a:endParaRPr>
          </a:p>
          <a:p>
            <a:pPr lvl="2"/>
            <a:r>
              <a:rPr lang="zh-CN" altLang="en-US" dirty="0">
                <a:latin typeface="微软雅黑" pitchFamily="34" charset="-122"/>
                <a:ea typeface="微软雅黑" pitchFamily="34" charset="-122"/>
              </a:rPr>
              <a:t>一个从节点无法与主节点进行连接。当从节点们无法与主节点进行沟通的时候将会触发选举。</a:t>
            </a:r>
            <a:endParaRPr lang="en-US" altLang="zh-CN" sz="6000" dirty="0">
              <a:latin typeface="微软雅黑" pitchFamily="34" charset="-122"/>
              <a:ea typeface="微软雅黑" pitchFamily="34" charset="-122"/>
            </a:endParaRPr>
          </a:p>
          <a:p>
            <a:pPr lvl="2"/>
            <a:r>
              <a:rPr lang="zh-CN" altLang="en-US" dirty="0">
                <a:latin typeface="微软雅黑" pitchFamily="34" charset="-122"/>
                <a:ea typeface="微软雅黑" pitchFamily="34" charset="-122"/>
              </a:rPr>
              <a:t>主节点辞职了。（</a:t>
            </a:r>
            <a:r>
              <a:rPr lang="en-US" altLang="zh-CN" dirty="0" err="1"/>
              <a:t>rs.stepDown</a:t>
            </a:r>
            <a:r>
              <a:rPr lang="en-US" altLang="zh-CN" dirty="0"/>
              <a:t>(300)</a:t>
            </a:r>
            <a:r>
              <a:rPr lang="zh-CN" altLang="en-US" dirty="0">
                <a:latin typeface="微软雅黑" pitchFamily="34" charset="-122"/>
                <a:ea typeface="微软雅黑" pitchFamily="34" charset="-122"/>
              </a:rPr>
              <a:t>）</a:t>
            </a:r>
            <a:endParaRPr lang="zh-CN" altLang="en-US" sz="6000" dirty="0">
              <a:latin typeface="微软雅黑" pitchFamily="34" charset="-122"/>
              <a:ea typeface="微软雅黑" pitchFamily="34" charset="-122"/>
            </a:endParaRPr>
          </a:p>
          <a:p>
            <a:endParaRPr lang="zh-CN" altLang="en-US" dirty="0"/>
          </a:p>
        </p:txBody>
      </p:sp>
    </p:spTree>
    <p:extLst>
      <p:ext uri="{BB962C8B-B14F-4D97-AF65-F5344CB8AC3E}">
        <p14:creationId xmlns:p14="http://schemas.microsoft.com/office/powerpoint/2010/main" val="19019724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4.4 </a:t>
            </a:r>
            <a:r>
              <a:rPr lang="zh-CN" altLang="en-US" b="1" i="1" dirty="0" smtClean="0">
                <a:solidFill>
                  <a:prstClr val="black"/>
                </a:solidFill>
                <a:latin typeface="微软雅黑" pitchFamily="34" charset="-122"/>
                <a:ea typeface="微软雅黑" pitchFamily="34" charset="-122"/>
              </a:rPr>
              <a:t>选举</a:t>
            </a:r>
            <a:r>
              <a:rPr lang="en-US" altLang="zh-CN" b="1" i="1" dirty="0" smtClean="0">
                <a:solidFill>
                  <a:prstClr val="black"/>
                </a:solidFill>
                <a:latin typeface="微软雅黑" pitchFamily="34" charset="-122"/>
                <a:ea typeface="微软雅黑" pitchFamily="34" charset="-122"/>
              </a:rPr>
              <a:t>-Bully</a:t>
            </a:r>
            <a:r>
              <a:rPr lang="zh-CN" altLang="en-US" b="1" i="1" dirty="0" smtClean="0">
                <a:solidFill>
                  <a:prstClr val="black"/>
                </a:solidFill>
                <a:latin typeface="微软雅黑" pitchFamily="34" charset="-122"/>
                <a:ea typeface="微软雅黑" pitchFamily="34" charset="-122"/>
              </a:rPr>
              <a:t>算法</a:t>
            </a:r>
            <a:endParaRPr lang="zh-CN" altLang="en-US" dirty="0"/>
          </a:p>
        </p:txBody>
      </p:sp>
      <p:sp>
        <p:nvSpPr>
          <p:cNvPr id="3" name="内容占位符 2"/>
          <p:cNvSpPr>
            <a:spLocks noGrp="1"/>
          </p:cNvSpPr>
          <p:nvPr>
            <p:ph idx="1"/>
          </p:nvPr>
        </p:nvSpPr>
        <p:spPr/>
        <p:txBody>
          <a:bodyPr/>
          <a:lstStyle/>
          <a:p>
            <a:r>
              <a:rPr lang="en-US" altLang="zh-CN" dirty="0">
                <a:latin typeface="微软雅黑" panose="020B0503020204020204" pitchFamily="34" charset="-122"/>
                <a:ea typeface="微软雅黑" panose="020B0503020204020204" pitchFamily="34" charset="-122"/>
              </a:rPr>
              <a:t>Bully(</a:t>
            </a:r>
            <a:r>
              <a:rPr lang="zh-CN" altLang="en-US" dirty="0">
                <a:latin typeface="微软雅黑" panose="020B0503020204020204" pitchFamily="34" charset="-122"/>
                <a:ea typeface="微软雅黑" panose="020B0503020204020204" pitchFamily="34" charset="-122"/>
              </a:rPr>
              <a:t>欺负算法</a:t>
            </a:r>
            <a:r>
              <a:rPr lang="en-US" altLang="zh-CN" dirty="0">
                <a:latin typeface="微软雅黑" panose="020B0503020204020204" pitchFamily="34" charset="-122"/>
                <a:ea typeface="微软雅黑" panose="020B0503020204020204" pitchFamily="34" charset="-122"/>
              </a:rPr>
              <a:t>)</a:t>
            </a:r>
          </a:p>
          <a:p>
            <a:pPr lvl="1"/>
            <a:r>
              <a:rPr lang="zh-CN" altLang="en-US" dirty="0"/>
              <a:t>最初集群有</a:t>
            </a:r>
            <a:r>
              <a:rPr lang="en-US" altLang="zh-CN" dirty="0"/>
              <a:t>5</a:t>
            </a:r>
            <a:r>
              <a:rPr lang="zh-CN" altLang="en-US" dirty="0"/>
              <a:t>个节点，节点</a:t>
            </a:r>
            <a:r>
              <a:rPr lang="en-US" altLang="zh-CN" dirty="0"/>
              <a:t>5</a:t>
            </a:r>
            <a:r>
              <a:rPr lang="zh-CN" altLang="en-US" dirty="0"/>
              <a:t>是一个公认的协调者。</a:t>
            </a:r>
          </a:p>
          <a:p>
            <a:pPr lvl="1"/>
            <a:r>
              <a:rPr lang="zh-CN" altLang="en-US" dirty="0"/>
              <a:t>假设节点</a:t>
            </a:r>
            <a:r>
              <a:rPr lang="en-US" altLang="zh-CN" dirty="0"/>
              <a:t>5</a:t>
            </a:r>
            <a:r>
              <a:rPr lang="zh-CN" altLang="en-US" dirty="0"/>
              <a:t>挂了，并且节点</a:t>
            </a:r>
            <a:r>
              <a:rPr lang="en-US" altLang="zh-CN" dirty="0"/>
              <a:t>2</a:t>
            </a:r>
            <a:r>
              <a:rPr lang="zh-CN" altLang="en-US" dirty="0"/>
              <a:t>和节点</a:t>
            </a:r>
            <a:r>
              <a:rPr lang="en-US" altLang="zh-CN" dirty="0"/>
              <a:t>3</a:t>
            </a:r>
            <a:r>
              <a:rPr lang="zh-CN" altLang="en-US" dirty="0"/>
              <a:t>同时发现了这一情况。两个节点开始竞选并发送竞选消息给</a:t>
            </a:r>
            <a:r>
              <a:rPr lang="en-US" altLang="zh-CN" dirty="0"/>
              <a:t>ID</a:t>
            </a:r>
            <a:r>
              <a:rPr lang="zh-CN" altLang="en-US" dirty="0"/>
              <a:t>更大的节点。</a:t>
            </a:r>
          </a:p>
          <a:p>
            <a:pPr lvl="1"/>
            <a:r>
              <a:rPr lang="zh-CN" altLang="en-US" dirty="0"/>
              <a:t>节点</a:t>
            </a:r>
            <a:r>
              <a:rPr lang="en-US" altLang="zh-CN" dirty="0"/>
              <a:t>4</a:t>
            </a:r>
            <a:r>
              <a:rPr lang="zh-CN" altLang="en-US" dirty="0"/>
              <a:t>淘汰了节点</a:t>
            </a:r>
            <a:r>
              <a:rPr lang="en-US" altLang="zh-CN" dirty="0"/>
              <a:t>2</a:t>
            </a:r>
            <a:r>
              <a:rPr lang="zh-CN" altLang="en-US" dirty="0"/>
              <a:t>和</a:t>
            </a:r>
            <a:r>
              <a:rPr lang="en-US" altLang="zh-CN" dirty="0"/>
              <a:t>3</a:t>
            </a:r>
            <a:r>
              <a:rPr lang="zh-CN" altLang="en-US" dirty="0"/>
              <a:t>，节点</a:t>
            </a:r>
            <a:r>
              <a:rPr lang="en-US" altLang="zh-CN" dirty="0"/>
              <a:t>3</a:t>
            </a:r>
            <a:r>
              <a:rPr lang="zh-CN" altLang="en-US" dirty="0"/>
              <a:t>淘汰了节点</a:t>
            </a:r>
            <a:r>
              <a:rPr lang="en-US" altLang="zh-CN" dirty="0"/>
              <a:t>2</a:t>
            </a:r>
            <a:r>
              <a:rPr lang="zh-CN" altLang="en-US" dirty="0"/>
              <a:t>。</a:t>
            </a:r>
          </a:p>
          <a:p>
            <a:pPr lvl="1"/>
            <a:r>
              <a:rPr lang="zh-CN" altLang="en-US" dirty="0"/>
              <a:t>这时候节点</a:t>
            </a:r>
            <a:r>
              <a:rPr lang="en-US" altLang="zh-CN" dirty="0"/>
              <a:t>1</a:t>
            </a:r>
            <a:r>
              <a:rPr lang="zh-CN" altLang="en-US" dirty="0"/>
              <a:t>察觉了节点</a:t>
            </a:r>
            <a:r>
              <a:rPr lang="en-US" altLang="zh-CN" dirty="0"/>
              <a:t>5</a:t>
            </a:r>
            <a:r>
              <a:rPr lang="zh-CN" altLang="en-US" dirty="0"/>
              <a:t>失效并向所有</a:t>
            </a:r>
            <a:r>
              <a:rPr lang="en-US" altLang="zh-CN" dirty="0"/>
              <a:t>ID</a:t>
            </a:r>
            <a:r>
              <a:rPr lang="zh-CN" altLang="en-US" dirty="0"/>
              <a:t>更大的节点发送了竞选信息。</a:t>
            </a:r>
          </a:p>
          <a:p>
            <a:pPr lvl="1"/>
            <a:r>
              <a:rPr lang="zh-CN" altLang="en-US" dirty="0"/>
              <a:t>节点</a:t>
            </a:r>
            <a:r>
              <a:rPr lang="en-US" altLang="zh-CN" dirty="0"/>
              <a:t>2</a:t>
            </a:r>
            <a:r>
              <a:rPr lang="zh-CN" altLang="en-US" dirty="0"/>
              <a:t>、</a:t>
            </a:r>
            <a:r>
              <a:rPr lang="en-US" altLang="zh-CN" dirty="0"/>
              <a:t>3</a:t>
            </a:r>
            <a:r>
              <a:rPr lang="zh-CN" altLang="en-US" dirty="0"/>
              <a:t>和</a:t>
            </a:r>
            <a:r>
              <a:rPr lang="en-US" altLang="zh-CN" dirty="0"/>
              <a:t>4</a:t>
            </a:r>
            <a:r>
              <a:rPr lang="zh-CN" altLang="en-US" dirty="0"/>
              <a:t>都淘汰了节点</a:t>
            </a:r>
            <a:r>
              <a:rPr lang="en-US" altLang="zh-CN" dirty="0"/>
              <a:t>1</a:t>
            </a:r>
            <a:r>
              <a:rPr lang="zh-CN" altLang="en-US" dirty="0"/>
              <a:t>。</a:t>
            </a:r>
          </a:p>
          <a:p>
            <a:pPr lvl="1"/>
            <a:r>
              <a:rPr lang="zh-CN" altLang="en-US" dirty="0"/>
              <a:t>节点</a:t>
            </a:r>
            <a:r>
              <a:rPr lang="en-US" altLang="zh-CN" dirty="0"/>
              <a:t>4</a:t>
            </a:r>
            <a:r>
              <a:rPr lang="zh-CN" altLang="en-US" dirty="0"/>
              <a:t>发送竞选信息给节点</a:t>
            </a:r>
            <a:r>
              <a:rPr lang="en-US" altLang="zh-CN" dirty="0"/>
              <a:t>5</a:t>
            </a:r>
            <a:r>
              <a:rPr lang="zh-CN" altLang="en-US" dirty="0"/>
              <a:t>。</a:t>
            </a:r>
          </a:p>
          <a:p>
            <a:pPr lvl="1"/>
            <a:r>
              <a:rPr lang="zh-CN" altLang="en-US" dirty="0"/>
              <a:t>节点</a:t>
            </a:r>
            <a:r>
              <a:rPr lang="en-US" altLang="zh-CN" dirty="0"/>
              <a:t>5</a:t>
            </a:r>
            <a:r>
              <a:rPr lang="zh-CN" altLang="en-US" dirty="0"/>
              <a:t>没有响应，所以节点</a:t>
            </a:r>
            <a:r>
              <a:rPr lang="en-US" altLang="zh-CN" dirty="0"/>
              <a:t>4</a:t>
            </a:r>
            <a:r>
              <a:rPr lang="zh-CN" altLang="en-US" dirty="0"/>
              <a:t>宣布自己</a:t>
            </a:r>
            <a:endParaRPr lang="en-US" altLang="zh-CN" dirty="0"/>
          </a:p>
          <a:p>
            <a:pPr marL="457200" lvl="1" indent="0">
              <a:buNone/>
            </a:pPr>
            <a:r>
              <a:rPr lang="en-US" altLang="zh-CN" dirty="0"/>
              <a:t>      </a:t>
            </a:r>
            <a:r>
              <a:rPr lang="zh-CN" altLang="en-US" dirty="0"/>
              <a:t>当选并向其他节点通告了这一消息。</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040" y="3588190"/>
            <a:ext cx="3783356" cy="3217057"/>
          </a:xfrm>
          <a:prstGeom prst="rect">
            <a:avLst/>
          </a:prstGeom>
        </p:spPr>
      </p:pic>
    </p:spTree>
    <p:extLst>
      <p:ext uri="{BB962C8B-B14F-4D97-AF65-F5344CB8AC3E}">
        <p14:creationId xmlns:p14="http://schemas.microsoft.com/office/powerpoint/2010/main" val="29868103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4.4 </a:t>
            </a:r>
            <a:r>
              <a:rPr lang="zh-CN" altLang="en-US" b="1" i="1" dirty="0">
                <a:solidFill>
                  <a:prstClr val="black"/>
                </a:solidFill>
                <a:latin typeface="微软雅黑" pitchFamily="34" charset="-122"/>
                <a:ea typeface="微软雅黑" pitchFamily="34" charset="-122"/>
              </a:rPr>
              <a:t>选举</a:t>
            </a:r>
            <a:r>
              <a:rPr lang="en-US" altLang="zh-CN" b="1" i="1" dirty="0" smtClean="0">
                <a:solidFill>
                  <a:prstClr val="black"/>
                </a:solidFill>
                <a:latin typeface="微软雅黑" pitchFamily="34" charset="-122"/>
                <a:ea typeface="微软雅黑" pitchFamily="34" charset="-122"/>
              </a:rPr>
              <a:t>-</a:t>
            </a:r>
            <a:r>
              <a:rPr lang="zh-CN" altLang="en-US" b="1" i="1" dirty="0">
                <a:solidFill>
                  <a:prstClr val="black"/>
                </a:solidFill>
                <a:latin typeface="微软雅黑" pitchFamily="34" charset="-122"/>
                <a:ea typeface="微软雅黑" pitchFamily="34" charset="-122"/>
              </a:rPr>
              <a:t>降级</a:t>
            </a:r>
            <a:endParaRPr lang="zh-CN" altLang="en-US" dirty="0"/>
          </a:p>
        </p:txBody>
      </p:sp>
      <p:sp>
        <p:nvSpPr>
          <p:cNvPr id="3" name="内容占位符 2"/>
          <p:cNvSpPr>
            <a:spLocks noGrp="1"/>
          </p:cNvSpPr>
          <p:nvPr>
            <p:ph idx="1"/>
          </p:nvPr>
        </p:nvSpPr>
        <p:spPr/>
        <p:txBody>
          <a:bodyPr/>
          <a:lstStyle/>
          <a:p>
            <a:r>
              <a:rPr lang="zh-CN" altLang="en-US" dirty="0"/>
              <a:t>选举还有个前提条件，参与选举的节点数量必须大于副本集总节点数量的一半，如果已经小于一半了所有节点保持只读状态</a:t>
            </a:r>
          </a:p>
        </p:txBody>
      </p:sp>
    </p:spTree>
    <p:extLst>
      <p:ext uri="{BB962C8B-B14F-4D97-AF65-F5344CB8AC3E}">
        <p14:creationId xmlns:p14="http://schemas.microsoft.com/office/powerpoint/2010/main" val="33813987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4.5 Read-Preference</a:t>
            </a:r>
            <a:r>
              <a:rPr lang="zh-CN" altLang="en-US" b="1" i="1" dirty="0" smtClean="0">
                <a:solidFill>
                  <a:prstClr val="black"/>
                </a:solidFill>
                <a:latin typeface="微软雅黑" pitchFamily="34" charset="-122"/>
                <a:ea typeface="微软雅黑" pitchFamily="34" charset="-122"/>
              </a:rPr>
              <a:t>与</a:t>
            </a:r>
            <a:r>
              <a:rPr lang="en-US" altLang="zh-CN" b="1" i="1" dirty="0" err="1" smtClean="0">
                <a:solidFill>
                  <a:prstClr val="black"/>
                </a:solidFill>
                <a:latin typeface="微软雅黑" pitchFamily="34" charset="-122"/>
                <a:ea typeface="微软雅黑" pitchFamily="34" charset="-122"/>
              </a:rPr>
              <a:t>WriteConcern</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复制集中的</a:t>
            </a:r>
            <a:r>
              <a:rPr lang="en-US" altLang="zh-CN" dirty="0" err="1" smtClean="0"/>
              <a:t>WriteConcern</a:t>
            </a:r>
            <a:endParaRPr lang="en-US" altLang="zh-CN" dirty="0" smtClean="0"/>
          </a:p>
          <a:p>
            <a:pPr lvl="1"/>
            <a:r>
              <a:rPr lang="en-US" altLang="zh-CN" dirty="0">
                <a:latin typeface="微软雅黑" pitchFamily="34" charset="-122"/>
                <a:ea typeface="微软雅黑" pitchFamily="34" charset="-122"/>
              </a:rPr>
              <a:t>w</a:t>
            </a:r>
            <a:r>
              <a:rPr lang="zh-CN" altLang="en-US" dirty="0">
                <a:latin typeface="微软雅黑" pitchFamily="34" charset="-122"/>
                <a:ea typeface="微软雅黑" pitchFamily="34" charset="-122"/>
              </a:rPr>
              <a:t>≥</a:t>
            </a:r>
            <a:r>
              <a:rPr lang="en-US" altLang="zh-CN" dirty="0" smtClean="0">
                <a:latin typeface="微软雅黑" pitchFamily="34" charset="-122"/>
                <a:ea typeface="微软雅黑" pitchFamily="34" charset="-122"/>
              </a:rPr>
              <a:t>2</a:t>
            </a:r>
            <a:endParaRPr lang="en-US" altLang="zh-CN" dirty="0"/>
          </a:p>
          <a:p>
            <a:pPr lvl="1"/>
            <a:r>
              <a:rPr lang="en-US" altLang="zh-CN" dirty="0">
                <a:latin typeface="微软雅黑" pitchFamily="34" charset="-122"/>
                <a:ea typeface="微软雅黑" pitchFamily="34" charset="-122"/>
              </a:rPr>
              <a:t>Replica </a:t>
            </a:r>
            <a:r>
              <a:rPr lang="en-US" altLang="zh-CN" dirty="0" smtClean="0">
                <a:latin typeface="微软雅黑" pitchFamily="34" charset="-122"/>
                <a:ea typeface="微软雅黑" pitchFamily="34" charset="-122"/>
              </a:rPr>
              <a:t>Acknowledged</a:t>
            </a:r>
          </a:p>
          <a:p>
            <a:pPr lvl="2"/>
            <a:r>
              <a:rPr lang="zh-CN" altLang="en-US" dirty="0" smtClean="0">
                <a:latin typeface="微软雅黑" pitchFamily="34" charset="-122"/>
                <a:ea typeface="微软雅黑" pitchFamily="34" charset="-122"/>
              </a:rPr>
              <a:t>默认</a:t>
            </a:r>
            <a:r>
              <a:rPr lang="en-US" altLang="zh-CN" dirty="0" smtClean="0">
                <a:latin typeface="微软雅黑" pitchFamily="34" charset="-122"/>
                <a:ea typeface="微软雅黑" pitchFamily="34" charset="-122"/>
              </a:rPr>
              <a:t>w=2</a:t>
            </a:r>
          </a:p>
          <a:p>
            <a:r>
              <a:rPr lang="en-US" altLang="zh-CN" dirty="0" smtClean="0"/>
              <a:t>Read-Preference</a:t>
            </a:r>
            <a:endParaRPr lang="en-US" altLang="zh-CN" dirty="0"/>
          </a:p>
          <a:p>
            <a:pPr lvl="1"/>
            <a:r>
              <a:rPr lang="en-US" altLang="zh-CN" dirty="0">
                <a:latin typeface="微软雅黑" pitchFamily="34" charset="-122"/>
                <a:ea typeface="微软雅黑" pitchFamily="34" charset="-122"/>
              </a:rPr>
              <a:t>Primary</a:t>
            </a:r>
          </a:p>
          <a:p>
            <a:pPr lvl="2"/>
            <a:r>
              <a:rPr lang="zh-CN" altLang="en-US" dirty="0">
                <a:latin typeface="微软雅黑" pitchFamily="34" charset="-122"/>
                <a:ea typeface="微软雅黑" pitchFamily="34" charset="-122"/>
              </a:rPr>
              <a:t>只读主</a:t>
            </a:r>
            <a:endParaRPr lang="en-US" altLang="zh-CN" dirty="0">
              <a:latin typeface="微软雅黑" pitchFamily="34" charset="-122"/>
              <a:ea typeface="微软雅黑" pitchFamily="34" charset="-122"/>
            </a:endParaRPr>
          </a:p>
          <a:p>
            <a:pPr lvl="1"/>
            <a:r>
              <a:rPr lang="en-US" altLang="zh-CN" dirty="0" err="1">
                <a:latin typeface="微软雅黑" pitchFamily="34" charset="-122"/>
                <a:ea typeface="微软雅黑" pitchFamily="34" charset="-122"/>
              </a:rPr>
              <a:t>primaryPreferred</a:t>
            </a:r>
            <a:endParaRPr lang="en-US" altLang="zh-CN" dirty="0">
              <a:latin typeface="微软雅黑" pitchFamily="34" charset="-122"/>
              <a:ea typeface="微软雅黑" pitchFamily="34" charset="-122"/>
            </a:endParaRPr>
          </a:p>
          <a:p>
            <a:pPr lvl="2"/>
            <a:r>
              <a:rPr lang="zh-CN" altLang="en-US" dirty="0">
                <a:latin typeface="微软雅黑" pitchFamily="34" charset="-122"/>
                <a:ea typeface="微软雅黑" pitchFamily="34" charset="-122"/>
              </a:rPr>
              <a:t>优先主，主不可用读从</a:t>
            </a:r>
            <a:endParaRPr lang="en-US" altLang="zh-CN" dirty="0">
              <a:latin typeface="微软雅黑" pitchFamily="34" charset="-122"/>
              <a:ea typeface="微软雅黑" pitchFamily="34" charset="-122"/>
            </a:endParaRPr>
          </a:p>
          <a:p>
            <a:pPr lvl="1"/>
            <a:r>
              <a:rPr lang="en-US" altLang="zh-CN" dirty="0">
                <a:latin typeface="微软雅黑" pitchFamily="34" charset="-122"/>
                <a:ea typeface="微软雅黑" pitchFamily="34" charset="-122"/>
              </a:rPr>
              <a:t>Secondary</a:t>
            </a:r>
          </a:p>
          <a:p>
            <a:pPr lvl="2"/>
            <a:r>
              <a:rPr lang="zh-CN" altLang="en-US" dirty="0">
                <a:latin typeface="微软雅黑" pitchFamily="34" charset="-122"/>
                <a:ea typeface="微软雅黑" pitchFamily="34" charset="-122"/>
              </a:rPr>
              <a:t>只读从</a:t>
            </a:r>
            <a:endParaRPr lang="en-US" altLang="zh-CN" dirty="0">
              <a:latin typeface="微软雅黑" pitchFamily="34" charset="-122"/>
              <a:ea typeface="微软雅黑" pitchFamily="34" charset="-122"/>
            </a:endParaRPr>
          </a:p>
          <a:p>
            <a:pPr lvl="1"/>
            <a:r>
              <a:rPr lang="en-US" altLang="zh-CN" dirty="0" err="1">
                <a:latin typeface="微软雅黑" pitchFamily="34" charset="-122"/>
                <a:ea typeface="微软雅黑" pitchFamily="34" charset="-122"/>
              </a:rPr>
              <a:t>secondaryPreferred</a:t>
            </a:r>
            <a:endParaRPr lang="en-US" altLang="zh-CN" dirty="0">
              <a:latin typeface="微软雅黑" pitchFamily="34" charset="-122"/>
              <a:ea typeface="微软雅黑" pitchFamily="34" charset="-122"/>
            </a:endParaRPr>
          </a:p>
          <a:p>
            <a:pPr lvl="2"/>
            <a:r>
              <a:rPr lang="zh-CN" altLang="en-US" dirty="0">
                <a:latin typeface="微软雅黑" pitchFamily="34" charset="-122"/>
                <a:ea typeface="微软雅黑" pitchFamily="34" charset="-122"/>
              </a:rPr>
              <a:t>优先从，从挂读主</a:t>
            </a:r>
            <a:endParaRPr lang="en-US" altLang="zh-CN" dirty="0">
              <a:latin typeface="微软雅黑" pitchFamily="34" charset="-122"/>
              <a:ea typeface="微软雅黑" pitchFamily="34" charset="-122"/>
            </a:endParaRPr>
          </a:p>
          <a:p>
            <a:pPr lvl="1"/>
            <a:r>
              <a:rPr lang="en-US" altLang="zh-CN" dirty="0">
                <a:latin typeface="微软雅黑" pitchFamily="34" charset="-122"/>
                <a:ea typeface="微软雅黑" pitchFamily="34" charset="-122"/>
              </a:rPr>
              <a:t>Nearest</a:t>
            </a:r>
          </a:p>
          <a:p>
            <a:pPr lvl="2"/>
            <a:r>
              <a:rPr lang="zh-CN" altLang="en-US" dirty="0">
                <a:latin typeface="微软雅黑" pitchFamily="34" charset="-122"/>
                <a:ea typeface="微软雅黑" pitchFamily="34" charset="-122"/>
              </a:rPr>
              <a:t>网络延时最小</a:t>
            </a:r>
            <a:endParaRPr lang="en-US" altLang="zh-CN" dirty="0"/>
          </a:p>
          <a:p>
            <a:pPr lvl="1"/>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988840"/>
            <a:ext cx="3800872" cy="3947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74015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4.6 </a:t>
            </a:r>
            <a:r>
              <a:rPr lang="zh-CN" altLang="en-US" b="1" i="1" dirty="0">
                <a:solidFill>
                  <a:prstClr val="black"/>
                </a:solidFill>
                <a:latin typeface="微软雅黑" pitchFamily="34" charset="-122"/>
                <a:ea typeface="微软雅黑" pitchFamily="34" charset="-122"/>
              </a:rPr>
              <a:t>复制集数据的一致性</a:t>
            </a:r>
            <a:endParaRPr lang="zh-CN" altLang="en-US" dirty="0"/>
          </a:p>
        </p:txBody>
      </p:sp>
      <p:sp>
        <p:nvSpPr>
          <p:cNvPr id="3" name="内容占位符 2"/>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数据读写的强一致性</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默认，读写都在</a:t>
            </a:r>
            <a:r>
              <a:rPr lang="en-US" altLang="zh-CN" dirty="0">
                <a:latin typeface="微软雅黑" panose="020B0503020204020204" pitchFamily="34" charset="-122"/>
                <a:ea typeface="微软雅黑" panose="020B0503020204020204" pitchFamily="34" charset="-122"/>
              </a:rPr>
              <a:t>primary</a:t>
            </a:r>
          </a:p>
          <a:p>
            <a:pPr lvl="2"/>
            <a:r>
              <a:rPr lang="en-US" altLang="zh-CN" dirty="0" err="1">
                <a:latin typeface="微软雅黑" panose="020B0503020204020204" pitchFamily="34" charset="-122"/>
                <a:ea typeface="微软雅黑" panose="020B0503020204020204" pitchFamily="34" charset="-122"/>
              </a:rPr>
              <a:t>WriteConcern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w=1</a:t>
            </a:r>
          </a:p>
          <a:p>
            <a:pPr lvl="2"/>
            <a:r>
              <a:rPr lang="en-US" altLang="zh-CN" dirty="0">
                <a:latin typeface="微软雅黑" panose="020B0503020204020204" pitchFamily="34" charset="-122"/>
                <a:ea typeface="微软雅黑" panose="020B0503020204020204" pitchFamily="34" charset="-122"/>
              </a:rPr>
              <a:t>Read-Preference</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Primary</a:t>
            </a:r>
          </a:p>
          <a:p>
            <a:pPr lvl="1"/>
            <a:r>
              <a:rPr lang="zh-CN" altLang="en-US" dirty="0">
                <a:latin typeface="微软雅黑" panose="020B0503020204020204" pitchFamily="34" charset="-122"/>
                <a:ea typeface="微软雅黑" panose="020B0503020204020204" pitchFamily="34" charset="-122"/>
              </a:rPr>
              <a:t>或者配置</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参数，使得写操作在应用到所有从节点上才算成功完成（影响写性能）</a:t>
            </a:r>
            <a:endParaRPr lang="en-US" altLang="zh-CN" dirty="0">
              <a:latin typeface="微软雅黑" panose="020B0503020204020204" pitchFamily="34" charset="-122"/>
              <a:ea typeface="微软雅黑" panose="020B0503020204020204" pitchFamily="34" charset="-122"/>
            </a:endParaRPr>
          </a:p>
          <a:p>
            <a:pPr lvl="2"/>
            <a:r>
              <a:rPr lang="en-US" altLang="zh-CN" dirty="0" err="1">
                <a:latin typeface="微软雅黑" panose="020B0503020204020204" pitchFamily="34" charset="-122"/>
                <a:ea typeface="微软雅黑" panose="020B0503020204020204" pitchFamily="34" charset="-122"/>
              </a:rPr>
              <a:t>WriteConcern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w=n</a:t>
            </a:r>
          </a:p>
          <a:p>
            <a:pPr lvl="2"/>
            <a:r>
              <a:rPr lang="en-US" altLang="zh-CN" dirty="0">
                <a:latin typeface="微软雅黑" panose="020B0503020204020204" pitchFamily="34" charset="-122"/>
                <a:ea typeface="微软雅黑" panose="020B0503020204020204" pitchFamily="34" charset="-122"/>
              </a:rPr>
              <a:t>Read-Preference</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secondaryPreferred</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最终一致性</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在从节点读，同时不要求写操作应用到从节点上才算成功</a:t>
            </a:r>
            <a:endParaRPr lang="en-US" altLang="zh-CN" dirty="0">
              <a:latin typeface="微软雅黑" panose="020B0503020204020204" pitchFamily="34" charset="-122"/>
              <a:ea typeface="微软雅黑" panose="020B0503020204020204" pitchFamily="34" charset="-122"/>
            </a:endParaRPr>
          </a:p>
          <a:p>
            <a:pPr lvl="2"/>
            <a:r>
              <a:rPr lang="en-US" altLang="zh-CN" dirty="0" err="1">
                <a:latin typeface="微软雅黑" panose="020B0503020204020204" pitchFamily="34" charset="-122"/>
                <a:ea typeface="微软雅黑" panose="020B0503020204020204" pitchFamily="34" charset="-122"/>
              </a:rPr>
              <a:t>WriteConcern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w=1</a:t>
            </a:r>
          </a:p>
          <a:p>
            <a:pPr lvl="2"/>
            <a:r>
              <a:rPr lang="en-US" altLang="zh-CN" dirty="0">
                <a:latin typeface="微软雅黑" panose="020B0503020204020204" pitchFamily="34" charset="-122"/>
                <a:ea typeface="微软雅黑" panose="020B0503020204020204" pitchFamily="34" charset="-122"/>
              </a:rPr>
              <a:t>Read-Preference</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secondaryPreferred</a:t>
            </a:r>
            <a:endParaRPr lang="en-US" altLang="zh-CN" dirty="0">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14889483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4.7 rollback</a:t>
            </a:r>
            <a:endParaRPr lang="zh-CN" altLang="en-US" dirty="0"/>
          </a:p>
        </p:txBody>
      </p:sp>
      <p:sp>
        <p:nvSpPr>
          <p:cNvPr id="3" name="内容占位符 2"/>
          <p:cNvSpPr>
            <a:spLocks noGrp="1"/>
          </p:cNvSpPr>
          <p:nvPr>
            <p:ph idx="1"/>
          </p:nvPr>
        </p:nvSpPr>
        <p:spPr>
          <a:xfrm>
            <a:off x="899592" y="1600200"/>
            <a:ext cx="7128792" cy="4525963"/>
          </a:xfrm>
        </p:spPr>
        <p:txBody>
          <a:bodyPr/>
          <a:lstStyle/>
          <a:p>
            <a:r>
              <a:rPr lang="zh-CN" altLang="en-US" dirty="0">
                <a:latin typeface="微软雅黑" panose="020B0503020204020204" pitchFamily="34" charset="-122"/>
                <a:ea typeface="微软雅黑" panose="020B0503020204020204" pitchFamily="34" charset="-122"/>
              </a:rPr>
              <a:t>回</a:t>
            </a:r>
            <a:r>
              <a:rPr lang="zh-CN" altLang="en-US" dirty="0" smtClean="0">
                <a:latin typeface="微软雅黑" panose="020B0503020204020204" pitchFamily="34" charset="-122"/>
                <a:ea typeface="微软雅黑" panose="020B0503020204020204" pitchFamily="34" charset="-122"/>
              </a:rPr>
              <a:t>滚</a:t>
            </a:r>
            <a:r>
              <a:rPr lang="en-US" altLang="zh-CN" dirty="0" smtClean="0">
                <a:latin typeface="微软雅黑" panose="020B0503020204020204" pitchFamily="34" charset="-122"/>
                <a:ea typeface="微软雅黑" panose="020B0503020204020204" pitchFamily="34" charset="-122"/>
              </a:rPr>
              <a:t>(rollback)</a:t>
            </a:r>
            <a:r>
              <a:rPr lang="zh-CN" altLang="en-US" dirty="0" smtClean="0">
                <a:latin typeface="微软雅黑" panose="020B0503020204020204" pitchFamily="34" charset="-122"/>
                <a:ea typeface="微软雅黑" panose="020B0503020204020204" pitchFamily="34" charset="-122"/>
              </a:rPr>
              <a:t>发生</a:t>
            </a:r>
            <a:r>
              <a:rPr lang="zh-CN" altLang="en-US" dirty="0">
                <a:latin typeface="微软雅黑" panose="020B0503020204020204" pitchFamily="34" charset="-122"/>
                <a:ea typeface="微软雅黑" panose="020B0503020204020204" pitchFamily="34" charset="-122"/>
              </a:rPr>
              <a:t>在主节点的写</a:t>
            </a:r>
            <a:r>
              <a:rPr lang="zh-CN" altLang="en-US" dirty="0" smtClean="0">
                <a:latin typeface="微软雅黑" panose="020B0503020204020204" pitchFamily="34" charset="-122"/>
                <a:ea typeface="微软雅黑" panose="020B0503020204020204" pitchFamily="34" charset="-122"/>
              </a:rPr>
              <a:t>操作没能成功在从节点上</a:t>
            </a:r>
            <a:r>
              <a:rPr lang="zh-CN" altLang="en-US" dirty="0">
                <a:latin typeface="微软雅黑" panose="020B0503020204020204" pitchFamily="34" charset="-122"/>
                <a:ea typeface="微软雅黑" panose="020B0503020204020204" pitchFamily="34" charset="-122"/>
              </a:rPr>
              <a:t>应用就辞职的情况下。当主节点重新以一个从</a:t>
            </a:r>
            <a:r>
              <a:rPr lang="zh-CN" altLang="en-US" dirty="0" smtClean="0">
                <a:latin typeface="微软雅黑" panose="020B0503020204020204" pitchFamily="34" charset="-122"/>
                <a:ea typeface="微软雅黑" panose="020B0503020204020204" pitchFamily="34" charset="-122"/>
              </a:rPr>
              <a:t>节点身份加入</a:t>
            </a:r>
            <a:r>
              <a:rPr lang="zh-CN" altLang="en-US" dirty="0">
                <a:latin typeface="微软雅黑" panose="020B0503020204020204" pitchFamily="34" charset="-122"/>
                <a:ea typeface="微软雅黑" panose="020B0503020204020204" pitchFamily="34" charset="-122"/>
              </a:rPr>
              <a:t>复制</a:t>
            </a:r>
            <a:r>
              <a:rPr lang="zh-CN" altLang="en-US" dirty="0" smtClean="0">
                <a:latin typeface="微软雅黑" panose="020B0503020204020204" pitchFamily="34" charset="-122"/>
                <a:ea typeface="微软雅黑" panose="020B0503020204020204" pitchFamily="34" charset="-122"/>
              </a:rPr>
              <a:t>集时，</a:t>
            </a:r>
            <a:r>
              <a:rPr lang="zh-CN" altLang="en-US" dirty="0">
                <a:latin typeface="微软雅黑" panose="020B0503020204020204" pitchFamily="34" charset="-122"/>
                <a:ea typeface="微软雅黑" panose="020B0503020204020204" pitchFamily="34" charset="-122"/>
              </a:rPr>
              <a:t>它</a:t>
            </a:r>
            <a:r>
              <a:rPr lang="zh-CN" altLang="en-US" dirty="0" smtClean="0">
                <a:latin typeface="微软雅黑" panose="020B0503020204020204" pitchFamily="34" charset="-122"/>
                <a:ea typeface="微软雅黑" panose="020B0503020204020204" pitchFamily="34" charset="-122"/>
              </a:rPr>
              <a:t>将对这部分数据进行</a:t>
            </a:r>
            <a:r>
              <a:rPr lang="zh-CN" altLang="en-US" dirty="0">
                <a:latin typeface="微软雅黑" panose="020B0503020204020204" pitchFamily="34" charset="-122"/>
                <a:ea typeface="微软雅黑" panose="020B0503020204020204" pitchFamily="34" charset="-122"/>
              </a:rPr>
              <a:t> “回滚” </a:t>
            </a:r>
            <a:r>
              <a:rPr lang="zh-CN" altLang="en-US" dirty="0" smtClean="0">
                <a:latin typeface="微软雅黑" panose="020B0503020204020204" pitchFamily="34" charset="-122"/>
                <a:ea typeface="微软雅黑" panose="020B0503020204020204" pitchFamily="34" charset="-122"/>
              </a:rPr>
              <a:t>，使得其上的写操作与</a:t>
            </a:r>
            <a:r>
              <a:rPr lang="zh-CN" altLang="en-US" dirty="0">
                <a:latin typeface="微软雅黑" panose="020B0503020204020204" pitchFamily="34" charset="-122"/>
                <a:ea typeface="微软雅黑" panose="020B0503020204020204" pitchFamily="34" charset="-122"/>
              </a:rPr>
              <a:t>复制集中其他</a:t>
            </a:r>
            <a:r>
              <a:rPr lang="zh-CN" altLang="en-US" dirty="0" smtClean="0">
                <a:latin typeface="微软雅黑" panose="020B0503020204020204" pitchFamily="34" charset="-122"/>
                <a:ea typeface="微软雅黑" panose="020B0503020204020204" pitchFamily="34" charset="-122"/>
              </a:rPr>
              <a:t>成员保持</a:t>
            </a:r>
            <a:r>
              <a:rPr lang="zh-CN" altLang="en-US" dirty="0">
                <a:latin typeface="微软雅黑" panose="020B0503020204020204" pitchFamily="34" charset="-122"/>
                <a:ea typeface="微软雅黑" panose="020B0503020204020204" pitchFamily="34" charset="-122"/>
              </a:rPr>
              <a:t>一致</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lvl="1"/>
            <a:r>
              <a:rPr lang="en-US" altLang="zh-CN" dirty="0" smtClean="0">
                <a:latin typeface="微软雅黑" panose="020B0503020204020204" pitchFamily="34" charset="-122"/>
                <a:ea typeface="微软雅黑" panose="020B0503020204020204" pitchFamily="34" charset="-122"/>
              </a:rPr>
              <a:t>/rollback</a:t>
            </a:r>
          </a:p>
          <a:p>
            <a:pPr lvl="1"/>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300MB</a:t>
            </a:r>
          </a:p>
          <a:p>
            <a:endParaRPr lang="en-US" altLang="zh-CN" dirty="0" smtClean="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057842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5. </a:t>
            </a:r>
            <a:r>
              <a:rPr lang="zh-CN" altLang="en-US" b="1" i="1" dirty="0">
                <a:solidFill>
                  <a:prstClr val="black"/>
                </a:solidFill>
                <a:latin typeface="微软雅黑" pitchFamily="34" charset="-122"/>
                <a:ea typeface="微软雅黑" pitchFamily="34" charset="-122"/>
              </a:rPr>
              <a:t>分片</a:t>
            </a:r>
            <a:r>
              <a:rPr lang="en-US" altLang="zh-CN" b="1" i="1" dirty="0" smtClean="0">
                <a:solidFill>
                  <a:prstClr val="black"/>
                </a:solidFill>
                <a:latin typeface="微软雅黑" pitchFamily="34" charset="-122"/>
                <a:ea typeface="微软雅黑" pitchFamily="34" charset="-122"/>
              </a:rPr>
              <a:t>(</a:t>
            </a:r>
            <a:r>
              <a:rPr lang="en-US" altLang="zh-CN" b="1" i="1" dirty="0" err="1" smtClean="0">
                <a:solidFill>
                  <a:prstClr val="black"/>
                </a:solidFill>
                <a:latin typeface="微软雅黑" pitchFamily="34" charset="-122"/>
                <a:ea typeface="微软雅黑" pitchFamily="34" charset="-122"/>
              </a:rPr>
              <a:t>Sharding</a:t>
            </a:r>
            <a:r>
              <a:rPr lang="en-US" altLang="zh-CN" b="1" i="1" dirty="0" smtClean="0">
                <a:solidFill>
                  <a:prstClr val="black"/>
                </a:solidFill>
                <a:latin typeface="微软雅黑" pitchFamily="34" charset="-122"/>
                <a:ea typeface="微软雅黑" pitchFamily="34" charset="-122"/>
              </a:rPr>
              <a:t>)</a:t>
            </a:r>
            <a:endParaRPr lang="zh-CN" altLang="en-US" dirty="0"/>
          </a:p>
        </p:txBody>
      </p:sp>
      <p:sp>
        <p:nvSpPr>
          <p:cNvPr id="3" name="内容占位符 2"/>
          <p:cNvSpPr>
            <a:spLocks noGrp="1"/>
          </p:cNvSpPr>
          <p:nvPr>
            <p:ph idx="1"/>
          </p:nvPr>
        </p:nvSpPr>
        <p:spPr/>
        <p:txBody>
          <a:bodyPr/>
          <a:lstStyle/>
          <a:p>
            <a:r>
              <a:rPr lang="en-US" altLang="zh-CN" dirty="0" smtClean="0">
                <a:latin typeface="微软雅黑" panose="020B0503020204020204" pitchFamily="34" charset="-122"/>
                <a:ea typeface="微软雅黑" panose="020B0503020204020204" pitchFamily="34" charset="-122"/>
              </a:rPr>
              <a:t>5.1 </a:t>
            </a:r>
            <a:r>
              <a:rPr lang="zh-CN" altLang="en-US" dirty="0" smtClean="0">
                <a:latin typeface="微软雅黑" panose="020B0503020204020204" pitchFamily="34" charset="-122"/>
                <a:ea typeface="微软雅黑" panose="020B0503020204020204" pitchFamily="34" charset="-122"/>
              </a:rPr>
              <a:t>分片基本介绍</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5</a:t>
            </a:r>
            <a:r>
              <a:rPr lang="en-US" altLang="zh-CN" dirty="0" smtClean="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片</a:t>
            </a:r>
            <a:r>
              <a:rPr lang="zh-CN" altLang="en-US" dirty="0" smtClean="0">
                <a:latin typeface="微软雅黑" panose="020B0503020204020204" pitchFamily="34" charset="-122"/>
                <a:ea typeface="微软雅黑" panose="020B0503020204020204" pitchFamily="34" charset="-122"/>
              </a:rPr>
              <a:t>键</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5.3 chunk</a:t>
            </a:r>
          </a:p>
          <a:p>
            <a:r>
              <a:rPr lang="en-US" altLang="zh-CN" dirty="0" smtClean="0">
                <a:latin typeface="微软雅黑" panose="020B0503020204020204" pitchFamily="34" charset="-122"/>
                <a:ea typeface="微软雅黑" panose="020B0503020204020204" pitchFamily="34" charset="-122"/>
              </a:rPr>
              <a:t>5.3 </a:t>
            </a:r>
            <a:r>
              <a:rPr lang="en-US" altLang="zh-CN" dirty="0" err="1" smtClean="0">
                <a:latin typeface="微软雅黑" panose="020B0503020204020204" pitchFamily="34" charset="-122"/>
                <a:ea typeface="微软雅黑" panose="020B0503020204020204" pitchFamily="34" charset="-122"/>
              </a:rPr>
              <a:t>config</a:t>
            </a:r>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5.4 mongos</a:t>
            </a:r>
            <a:endParaRPr lang="en-US" altLang="zh-CN" dirty="0">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33124397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5.1 </a:t>
            </a:r>
            <a:r>
              <a:rPr lang="zh-CN" altLang="en-US" b="1" i="1" dirty="0" smtClean="0">
                <a:solidFill>
                  <a:prstClr val="black"/>
                </a:solidFill>
                <a:latin typeface="微软雅黑" pitchFamily="34" charset="-122"/>
                <a:ea typeface="微软雅黑" pitchFamily="34" charset="-122"/>
              </a:rPr>
              <a:t>分片基本介绍</a:t>
            </a:r>
            <a:endParaRPr lang="zh-CN" altLang="en-US" dirty="0"/>
          </a:p>
        </p:txBody>
      </p:sp>
      <p:sp>
        <p:nvSpPr>
          <p:cNvPr id="3" name="内容占位符 2"/>
          <p:cNvSpPr>
            <a:spLocks noGrp="1"/>
          </p:cNvSpPr>
          <p:nvPr>
            <p:ph idx="1"/>
          </p:nvPr>
        </p:nvSpPr>
        <p:spPr/>
        <p:txBody>
          <a:bodyPr/>
          <a:lstStyle/>
          <a:p>
            <a:r>
              <a:rPr lang="zh-CN" altLang="en-US" dirty="0" smtClean="0">
                <a:latin typeface="微软雅黑" panose="020B0503020204020204" pitchFamily="34" charset="-122"/>
                <a:ea typeface="微软雅黑" panose="020B0503020204020204" pitchFamily="34" charset="-122"/>
              </a:rPr>
              <a:t>什么是分片</a:t>
            </a:r>
            <a:r>
              <a:rPr lang="en-US" altLang="zh-CN" dirty="0" smtClean="0">
                <a:latin typeface="微软雅黑" panose="020B0503020204020204" pitchFamily="34" charset="-122"/>
                <a:ea typeface="微软雅黑" panose="020B0503020204020204" pitchFamily="34" charset="-122"/>
              </a:rPr>
              <a:t>(</a:t>
            </a:r>
            <a:r>
              <a:rPr lang="en-US" altLang="zh-CN" dirty="0" err="1" smtClean="0">
                <a:latin typeface="微软雅黑" panose="020B0503020204020204" pitchFamily="34" charset="-122"/>
                <a:ea typeface="微软雅黑" panose="020B0503020204020204" pitchFamily="34" charset="-122"/>
              </a:rPr>
              <a:t>sharding</a:t>
            </a:r>
            <a:r>
              <a:rPr lang="en-US" altLang="zh-CN" dirty="0" smtClean="0">
                <a:latin typeface="微软雅黑" panose="020B0503020204020204" pitchFamily="34" charset="-122"/>
                <a:ea typeface="微软雅黑" panose="020B0503020204020204" pitchFamily="34" charset="-122"/>
              </a:rPr>
              <a:t>)?</a:t>
            </a:r>
          </a:p>
          <a:p>
            <a:pPr lvl="1"/>
            <a:r>
              <a:rPr lang="zh-CN" altLang="en-US" dirty="0" smtClean="0">
                <a:latin typeface="微软雅黑" panose="020B0503020204020204" pitchFamily="34" charset="-122"/>
                <a:ea typeface="微软雅黑" panose="020B0503020204020204" pitchFamily="34" charset="-122"/>
              </a:rPr>
              <a:t>通过分割数据，负载到多个机器来解决单机存储能力，以及读写性能等瓶颈，达到横向扩展的目的</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分片针对的基本单位是集合</a:t>
            </a:r>
            <a:endParaRPr lang="en-US" altLang="zh-CN" dirty="0" smtClean="0">
              <a:latin typeface="微软雅黑" panose="020B0503020204020204" pitchFamily="34" charset="-122"/>
              <a:ea typeface="微软雅黑" panose="020B0503020204020204" pitchFamily="34" charset="-122"/>
            </a:endParaRPr>
          </a:p>
          <a:p>
            <a:pPr lvl="1"/>
            <a:endParaRPr lang="en-US" altLang="zh-CN" dirty="0" smtClean="0">
              <a:latin typeface="微软雅黑" panose="020B0503020204020204" pitchFamily="34" charset="-122"/>
              <a:ea typeface="微软雅黑" panose="020B0503020204020204" pitchFamily="34" charset="-122"/>
            </a:endParaRPr>
          </a:p>
          <a:p>
            <a:pPr lvl="1"/>
            <a:endParaRPr lang="en-US" altLang="zh-CN" dirty="0" smtClean="0">
              <a:latin typeface="微软雅黑" panose="020B0503020204020204" pitchFamily="34" charset="-122"/>
              <a:ea typeface="微软雅黑" panose="020B0503020204020204" pitchFamily="34" charset="-122"/>
            </a:endParaRPr>
          </a:p>
          <a:p>
            <a:pPr lvl="1"/>
            <a:endParaRPr lang="zh-CN" altLang="en-US" dirty="0">
              <a:latin typeface="微软雅黑" panose="020B0503020204020204" pitchFamily="34" charset="-122"/>
              <a:ea typeface="微软雅黑" panose="020B0503020204020204" pitchFamily="34" charset="-122"/>
            </a:endParaRPr>
          </a:p>
        </p:txBody>
      </p:sp>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6797" y="3140968"/>
            <a:ext cx="3333750" cy="3195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77637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a:solidFill>
                  <a:prstClr val="black"/>
                </a:solidFill>
                <a:latin typeface="微软雅黑" pitchFamily="34" charset="-122"/>
                <a:ea typeface="微软雅黑" pitchFamily="34" charset="-122"/>
              </a:rPr>
              <a:t>5.1 </a:t>
            </a:r>
            <a:r>
              <a:rPr lang="zh-CN" altLang="en-US" b="1" i="1" dirty="0">
                <a:solidFill>
                  <a:prstClr val="black"/>
                </a:solidFill>
                <a:latin typeface="微软雅黑" pitchFamily="34" charset="-122"/>
                <a:ea typeface="微软雅黑" pitchFamily="34" charset="-122"/>
              </a:rPr>
              <a:t>分片基本介绍</a:t>
            </a:r>
            <a:endParaRPr lang="zh-CN" altLang="en-US" dirty="0"/>
          </a:p>
        </p:txBody>
      </p:sp>
      <p:sp>
        <p:nvSpPr>
          <p:cNvPr id="3" name="内容占位符 2"/>
          <p:cNvSpPr>
            <a:spLocks noGrp="1"/>
          </p:cNvSpPr>
          <p:nvPr>
            <p:ph idx="1"/>
          </p:nvPr>
        </p:nvSpPr>
        <p:spPr>
          <a:xfrm>
            <a:off x="755576" y="1600200"/>
            <a:ext cx="7695603" cy="4853136"/>
          </a:xfrm>
        </p:spPr>
        <p:txBody>
          <a:bodyPr/>
          <a:lstStyle/>
          <a:p>
            <a:r>
              <a:rPr lang="zh-CN" altLang="en-US" dirty="0" smtClean="0">
                <a:latin typeface="微软雅黑" panose="020B0503020204020204" pitchFamily="34" charset="-122"/>
                <a:ea typeface="微软雅黑" panose="020B0503020204020204" pitchFamily="34" charset="-122"/>
              </a:rPr>
              <a:t>集群结构和基本流程</a:t>
            </a:r>
            <a:endParaRPr lang="en-US" altLang="zh-CN" dirty="0" smtClean="0">
              <a:latin typeface="微软雅黑" panose="020B0503020204020204" pitchFamily="34" charset="-122"/>
              <a:ea typeface="微软雅黑" panose="020B0503020204020204" pitchFamily="34" charset="-122"/>
            </a:endParaRPr>
          </a:p>
          <a:p>
            <a:pPr lvl="1"/>
            <a:r>
              <a:rPr lang="en-US" altLang="zh-CN" dirty="0" err="1">
                <a:latin typeface="微软雅黑" panose="020B0503020204020204" pitchFamily="34" charset="-122"/>
                <a:ea typeface="微软雅黑" panose="020B0503020204020204" pitchFamily="34" charset="-122"/>
              </a:rPr>
              <a:t>config</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mongos</a:t>
            </a:r>
          </a:p>
          <a:p>
            <a:pPr lvl="1"/>
            <a:r>
              <a:rPr lang="en-US" altLang="zh-CN" dirty="0">
                <a:latin typeface="微软雅黑" panose="020B0503020204020204" pitchFamily="34" charset="-122"/>
                <a:ea typeface="微软雅黑" panose="020B0503020204020204" pitchFamily="34" charset="-122"/>
              </a:rPr>
              <a:t>shard(</a:t>
            </a:r>
            <a:r>
              <a:rPr lang="en-US" altLang="zh-CN" dirty="0" err="1">
                <a:latin typeface="微软雅黑" panose="020B0503020204020204" pitchFamily="34" charset="-122"/>
                <a:ea typeface="微软雅黑" panose="020B0503020204020204" pitchFamily="34" charset="-122"/>
              </a:rPr>
              <a:t>mongod</a:t>
            </a:r>
            <a:r>
              <a:rPr lang="en-US" altLang="zh-CN" dirty="0">
                <a:latin typeface="微软雅黑" panose="020B0503020204020204" pitchFamily="34" charset="-122"/>
                <a:ea typeface="微软雅黑" panose="020B0503020204020204" pitchFamily="34" charset="-122"/>
              </a:rPr>
              <a:t>/replica set)</a:t>
            </a: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没有分片的集合存在哪？</a:t>
            </a:r>
            <a:endParaRPr lang="en-US" altLang="zh-CN" dirty="0" smtClean="0">
              <a:latin typeface="微软雅黑" panose="020B0503020204020204" pitchFamily="34" charset="-122"/>
              <a:ea typeface="微软雅黑" panose="020B0503020204020204" pitchFamily="34" charset="-122"/>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2203" y="2996952"/>
            <a:ext cx="5498976" cy="259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30567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5.2 chunk</a:t>
            </a:r>
            <a:endParaRPr lang="zh-CN" altLang="en-US" dirty="0"/>
          </a:p>
        </p:txBody>
      </p:sp>
      <p:sp>
        <p:nvSpPr>
          <p:cNvPr id="3" name="内容占位符 2"/>
          <p:cNvSpPr>
            <a:spLocks noGrp="1"/>
          </p:cNvSpPr>
          <p:nvPr>
            <p:ph idx="1"/>
          </p:nvPr>
        </p:nvSpPr>
        <p:spPr>
          <a:xfrm>
            <a:off x="899592" y="1600200"/>
            <a:ext cx="7200800" cy="4525963"/>
          </a:xfrm>
        </p:spPr>
        <p:txBody>
          <a:bodyPr/>
          <a:lstStyle/>
          <a:p>
            <a:r>
              <a:rPr lang="zh-CN" altLang="en-US" dirty="0" smtClean="0">
                <a:latin typeface="微软雅黑" panose="020B0503020204020204" pitchFamily="34" charset="-122"/>
                <a:ea typeface="微软雅黑" panose="020B0503020204020204" pitchFamily="34" charset="-122"/>
              </a:rPr>
              <a:t>什么是数据块</a:t>
            </a:r>
            <a:r>
              <a:rPr lang="en-US" altLang="zh-CN" dirty="0" smtClean="0">
                <a:latin typeface="微软雅黑" panose="020B0503020204020204" pitchFamily="34" charset="-122"/>
                <a:ea typeface="微软雅黑" panose="020B0503020204020204" pitchFamily="34" charset="-122"/>
              </a:rPr>
              <a:t>(chunk)</a:t>
            </a:r>
          </a:p>
          <a:p>
            <a:r>
              <a:rPr lang="en-US" altLang="zh-CN" dirty="0" smtClean="0">
                <a:latin typeface="微软雅黑" panose="020B0503020204020204" pitchFamily="34" charset="-122"/>
                <a:ea typeface="微软雅黑" panose="020B0503020204020204" pitchFamily="34" charset="-122"/>
              </a:rPr>
              <a:t>chunk</a:t>
            </a:r>
            <a:r>
              <a:rPr lang="zh-CN" altLang="en-US" dirty="0" smtClean="0">
                <a:latin typeface="微软雅黑" panose="020B0503020204020204" pitchFamily="34" charset="-122"/>
                <a:ea typeface="微软雅黑" panose="020B0503020204020204" pitchFamily="34" charset="-122"/>
              </a:rPr>
              <a:t>的分裂</a:t>
            </a:r>
            <a:endParaRPr lang="en-US" altLang="zh-CN" dirty="0" smtClean="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c</a:t>
            </a:r>
            <a:r>
              <a:rPr lang="en-US" altLang="zh-CN" dirty="0" smtClean="0">
                <a:latin typeface="微软雅黑" panose="020B0503020204020204" pitchFamily="34" charset="-122"/>
                <a:ea typeface="微软雅黑" panose="020B0503020204020204" pitchFamily="34" charset="-122"/>
              </a:rPr>
              <a:t>hunk</a:t>
            </a:r>
            <a:r>
              <a:rPr lang="zh-CN" altLang="en-US" dirty="0" smtClean="0">
                <a:latin typeface="微软雅黑" panose="020B0503020204020204" pitchFamily="34" charset="-122"/>
                <a:ea typeface="微软雅黑" panose="020B0503020204020204" pitchFamily="34" charset="-122"/>
              </a:rPr>
              <a:t>的默认大小</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chunk</a:t>
            </a:r>
            <a:r>
              <a:rPr lang="zh-CN" altLang="en-US" dirty="0" smtClean="0">
                <a:latin typeface="微软雅黑" panose="020B0503020204020204" pitchFamily="34" charset="-122"/>
                <a:ea typeface="微软雅黑" panose="020B0503020204020204" pitchFamily="34" charset="-122"/>
              </a:rPr>
              <a:t>的迁移均衡</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迁移触发</a:t>
            </a:r>
            <a:r>
              <a:rPr lang="zh-CN" altLang="en-US" dirty="0">
                <a:latin typeface="微软雅黑" panose="020B0503020204020204" pitchFamily="34" charset="-122"/>
                <a:ea typeface="微软雅黑" panose="020B0503020204020204" pitchFamily="34" charset="-122"/>
              </a:rPr>
              <a:t>阈</a:t>
            </a:r>
            <a:r>
              <a:rPr lang="zh-CN" altLang="en-US" dirty="0" smtClean="0">
                <a:latin typeface="微软雅黑" panose="020B0503020204020204" pitchFamily="34" charset="-122"/>
                <a:ea typeface="微软雅黑" panose="020B0503020204020204" pitchFamily="34" charset="-122"/>
              </a:rPr>
              <a:t>值</a:t>
            </a:r>
            <a:endParaRPr lang="en-US" altLang="zh-CN" dirty="0" smtClean="0">
              <a:latin typeface="微软雅黑" panose="020B0503020204020204" pitchFamily="34" charset="-122"/>
              <a:ea typeface="微软雅黑" panose="020B0503020204020204" pitchFamily="34" charset="-122"/>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4315" y="1628800"/>
            <a:ext cx="3511456" cy="2528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6545" y="4293096"/>
            <a:ext cx="6667500" cy="2400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66015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5.3 </a:t>
            </a:r>
            <a:r>
              <a:rPr lang="zh-CN" altLang="en-US" b="1" i="1" dirty="0" smtClean="0">
                <a:solidFill>
                  <a:prstClr val="black"/>
                </a:solidFill>
                <a:latin typeface="微软雅黑" pitchFamily="34" charset="-122"/>
                <a:ea typeface="微软雅黑" pitchFamily="34" charset="-122"/>
              </a:rPr>
              <a:t>片键</a:t>
            </a:r>
            <a:endParaRPr lang="zh-CN" altLang="en-US" dirty="0"/>
          </a:p>
        </p:txBody>
      </p:sp>
      <p:sp>
        <p:nvSpPr>
          <p:cNvPr id="3" name="内容占位符 2"/>
          <p:cNvSpPr>
            <a:spLocks noGrp="1"/>
          </p:cNvSpPr>
          <p:nvPr>
            <p:ph idx="1"/>
          </p:nvPr>
        </p:nvSpPr>
        <p:spPr>
          <a:xfrm>
            <a:off x="539552" y="1600200"/>
            <a:ext cx="7920880" cy="4853136"/>
          </a:xfrm>
        </p:spPr>
        <p:txBody>
          <a:bodyPr>
            <a:normAutofit fontScale="85000" lnSpcReduction="20000"/>
          </a:bodyPr>
          <a:lstStyle/>
          <a:p>
            <a:r>
              <a:rPr lang="zh-CN" altLang="en-US" dirty="0" smtClean="0">
                <a:latin typeface="微软雅黑" panose="020B0503020204020204" pitchFamily="34" charset="-122"/>
                <a:ea typeface="微软雅黑" panose="020B0503020204020204" pitchFamily="34" charset="-122"/>
              </a:rPr>
              <a:t>什么是片键</a:t>
            </a: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设计片键需要注意的问题</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小基数片键</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写热点</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范围查询</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片键字段需要索引，记录不能为空</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不能</a:t>
            </a:r>
            <a:r>
              <a:rPr lang="zh-CN" altLang="en-US" dirty="0" smtClean="0">
                <a:latin typeface="微软雅黑" panose="020B0503020204020204" pitchFamily="34" charset="-122"/>
                <a:ea typeface="微软雅黑" panose="020B0503020204020204" pitchFamily="34" charset="-122"/>
              </a:rPr>
              <a:t>修改</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哈希片键</a:t>
            </a:r>
            <a:endParaRPr lang="en-US" altLang="zh-CN" dirty="0" smtClean="0">
              <a:latin typeface="微软雅黑" panose="020B0503020204020204" pitchFamily="34" charset="-122"/>
              <a:ea typeface="微软雅黑" panose="020B0503020204020204" pitchFamily="34" charset="-122"/>
            </a:endParaRPr>
          </a:p>
          <a:p>
            <a:pPr lvl="1"/>
            <a:endParaRPr lang="zh-CN" altLang="en-US" dirty="0">
              <a:latin typeface="微软雅黑" panose="020B0503020204020204" pitchFamily="34" charset="-122"/>
              <a:ea typeface="微软雅黑" panose="020B0503020204020204" pitchFamily="34"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2060848"/>
            <a:ext cx="6667500" cy="2190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628508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5.4 </a:t>
            </a:r>
            <a:r>
              <a:rPr lang="en-US" altLang="zh-CN" b="1" i="1" dirty="0" err="1" smtClean="0">
                <a:solidFill>
                  <a:prstClr val="black"/>
                </a:solidFill>
                <a:latin typeface="微软雅黑" pitchFamily="34" charset="-122"/>
                <a:ea typeface="微软雅黑" pitchFamily="34" charset="-122"/>
              </a:rPr>
              <a:t>config</a:t>
            </a:r>
            <a:endParaRPr lang="zh-CN" altLang="en-US" dirty="0"/>
          </a:p>
        </p:txBody>
      </p:sp>
      <p:sp>
        <p:nvSpPr>
          <p:cNvPr id="3" name="内容占位符 2"/>
          <p:cNvSpPr>
            <a:spLocks noGrp="1"/>
          </p:cNvSpPr>
          <p:nvPr>
            <p:ph idx="1"/>
          </p:nvPr>
        </p:nvSpPr>
        <p:spPr/>
        <p:txBody>
          <a:bodyPr>
            <a:normAutofit/>
          </a:bodyPr>
          <a:lstStyle/>
          <a:p>
            <a:r>
              <a:rPr lang="zh-CN" altLang="en-US" dirty="0" smtClean="0">
                <a:latin typeface="微软雅黑" panose="020B0503020204020204" pitchFamily="34" charset="-122"/>
                <a:ea typeface="微软雅黑" panose="020B0503020204020204" pitchFamily="34" charset="-122"/>
              </a:rPr>
              <a:t>配置服务器</a:t>
            </a:r>
            <a:r>
              <a:rPr lang="en-US" altLang="zh-CN" dirty="0" smtClean="0">
                <a:latin typeface="微软雅黑" panose="020B0503020204020204" pitchFamily="34" charset="-122"/>
                <a:ea typeface="微软雅黑" panose="020B0503020204020204" pitchFamily="34" charset="-122"/>
              </a:rPr>
              <a:t>(</a:t>
            </a:r>
            <a:r>
              <a:rPr lang="en-US" altLang="zh-CN" dirty="0" err="1" smtClean="0">
                <a:latin typeface="微软雅黑" panose="020B0503020204020204" pitchFamily="34" charset="-122"/>
                <a:ea typeface="微软雅黑" panose="020B0503020204020204" pitchFamily="34" charset="-122"/>
              </a:rPr>
              <a:t>config</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的作用</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保存了集群的信息</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元信息保存了集群的状态和组织结构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元信息包含每个分片保存的数据块信息以及每个数据块的范围</a:t>
            </a:r>
            <a:r>
              <a:rPr lang="en-US" altLang="zh-CN" dirty="0">
                <a:latin typeface="微软雅黑" panose="020B0503020204020204" pitchFamily="34" charset="-122"/>
                <a:ea typeface="微软雅黑" panose="020B0503020204020204" pitchFamily="34" charset="-122"/>
              </a:rPr>
              <a:t>, mongos </a:t>
            </a:r>
            <a:r>
              <a:rPr lang="zh-CN" altLang="en-US" dirty="0">
                <a:latin typeface="微软雅黑" panose="020B0503020204020204" pitchFamily="34" charset="-122"/>
                <a:ea typeface="微软雅黑" panose="020B0503020204020204" pitchFamily="34" charset="-122"/>
              </a:rPr>
              <a:t>会缓存这些信息用来做读写的路由分发</a:t>
            </a:r>
            <a:r>
              <a:rPr lang="en-US" altLang="zh-CN" dirty="0" smtClean="0">
                <a:latin typeface="微软雅黑" panose="020B0503020204020204" pitchFamily="34" charset="-122"/>
                <a:ea typeface="微软雅黑" panose="020B0503020204020204" pitchFamily="34" charset="-122"/>
              </a:rPr>
              <a:t>.</a:t>
            </a:r>
          </a:p>
          <a:p>
            <a:pPr lvl="2"/>
            <a:r>
              <a:rPr lang="en-US" altLang="zh-CN" dirty="0">
                <a:latin typeface="微软雅黑" panose="020B0503020204020204" pitchFamily="34" charset="-122"/>
                <a:ea typeface="微软雅黑" panose="020B0503020204020204" pitchFamily="34" charset="-122"/>
              </a:rPr>
              <a:t>Chunk</a:t>
            </a:r>
            <a:r>
              <a:rPr lang="zh-CN" altLang="en-US" dirty="0">
                <a:latin typeface="微软雅黑" panose="020B0503020204020204" pitchFamily="34" charset="-122"/>
                <a:ea typeface="微软雅黑" panose="020B0503020204020204" pitchFamily="34" charset="-122"/>
              </a:rPr>
              <a:t>分裂、迁移后</a:t>
            </a:r>
            <a:r>
              <a:rPr lang="zh-CN" altLang="en-US" dirty="0" smtClean="0">
                <a:latin typeface="微软雅黑" panose="020B0503020204020204" pitchFamily="34" charset="-122"/>
                <a:ea typeface="微软雅黑" panose="020B0503020204020204" pitchFamily="34" charset="-122"/>
              </a:rPr>
              <a:t>都会更新维护</a:t>
            </a:r>
            <a:r>
              <a:rPr lang="en-US" altLang="zh-CN" dirty="0" err="1">
                <a:latin typeface="微软雅黑" panose="020B0503020204020204" pitchFamily="34" charset="-122"/>
                <a:ea typeface="微软雅黑" panose="020B0503020204020204" pitchFamily="34" charset="-122"/>
              </a:rPr>
              <a:t>config</a:t>
            </a:r>
            <a:r>
              <a:rPr lang="zh-CN" altLang="en-US" dirty="0">
                <a:latin typeface="微软雅黑" panose="020B0503020204020204" pitchFamily="34" charset="-122"/>
                <a:ea typeface="微软雅黑" panose="020B0503020204020204" pitchFamily="34" charset="-122"/>
              </a:rPr>
              <a:t>上的元</a:t>
            </a:r>
            <a:r>
              <a:rPr lang="zh-CN" altLang="en-US" dirty="0" smtClean="0">
                <a:latin typeface="微软雅黑" panose="020B0503020204020204" pitchFamily="34" charset="-122"/>
                <a:ea typeface="微软雅黑" panose="020B0503020204020204" pitchFamily="34" charset="-122"/>
              </a:rPr>
              <a:t>信息</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管理分布式锁</a:t>
            </a:r>
            <a:endParaRPr lang="en-US" altLang="zh-CN" dirty="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配置服务器的可用性</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如果集群中一个或者两个配置服务器不可用</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集群的元信息将变为 可读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你还可以从分片中读写信息</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但是数据块的迁移以及数据块的分裂在所有配置服务器都恢复可用之前不能够进行</a:t>
            </a:r>
            <a:r>
              <a:rPr lang="en-US" altLang="zh-CN" dirty="0" smtClean="0">
                <a:latin typeface="微软雅黑" panose="020B0503020204020204" pitchFamily="34" charset="-122"/>
                <a:ea typeface="微软雅黑" panose="020B0503020204020204" pitchFamily="34" charset="-122"/>
              </a:rPr>
              <a:t>.</a:t>
            </a:r>
            <a:endParaRPr lang="en-US" altLang="zh-CN" sz="5200" dirty="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如果</a:t>
            </a:r>
            <a:r>
              <a:rPr lang="zh-CN" altLang="en-US" dirty="0">
                <a:latin typeface="微软雅黑" panose="020B0503020204020204" pitchFamily="34" charset="-122"/>
                <a:ea typeface="微软雅黑" panose="020B0503020204020204" pitchFamily="34" charset="-122"/>
              </a:rPr>
              <a:t>所有的三个配置服务器都不可用</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在重启 </a:t>
            </a:r>
            <a:r>
              <a:rPr lang="en-US" altLang="zh-CN" dirty="0">
                <a:latin typeface="微软雅黑" panose="020B0503020204020204" pitchFamily="34" charset="-122"/>
                <a:ea typeface="微软雅黑" panose="020B0503020204020204" pitchFamily="34" charset="-122"/>
              </a:rPr>
              <a:t>mongos </a:t>
            </a:r>
            <a:r>
              <a:rPr lang="zh-CN" altLang="en-US" dirty="0">
                <a:latin typeface="微软雅黑" panose="020B0503020204020204" pitchFamily="34" charset="-122"/>
                <a:ea typeface="微软雅黑" panose="020B0503020204020204" pitchFamily="34" charset="-122"/>
              </a:rPr>
              <a:t>之前集群依然可用</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但是一旦试图重启 </a:t>
            </a:r>
            <a:r>
              <a:rPr lang="en-US" altLang="zh-CN" dirty="0">
                <a:latin typeface="微软雅黑" panose="020B0503020204020204" pitchFamily="34" charset="-122"/>
                <a:ea typeface="微软雅黑" panose="020B0503020204020204" pitchFamily="34" charset="-122"/>
              </a:rPr>
              <a:t>mongos ,</a:t>
            </a:r>
            <a:r>
              <a:rPr lang="zh-CN" altLang="en-US" dirty="0">
                <a:latin typeface="微软雅黑" panose="020B0503020204020204" pitchFamily="34" charset="-122"/>
                <a:ea typeface="微软雅黑" panose="020B0503020204020204" pitchFamily="34" charset="-122"/>
              </a:rPr>
              <a:t>集群将不能提供任何服务</a:t>
            </a:r>
            <a:r>
              <a:rPr lang="en-US" altLang="zh-CN" dirty="0">
                <a:latin typeface="微软雅黑" panose="020B0503020204020204" pitchFamily="34" charset="-122"/>
                <a:ea typeface="微软雅黑" panose="020B0503020204020204" pitchFamily="34" charset="-122"/>
              </a:rPr>
              <a:t>.</a:t>
            </a:r>
            <a:endParaRPr lang="zh-CN" altLang="en-US" sz="6000" dirty="0">
              <a:latin typeface="微软雅黑" panose="020B0503020204020204" pitchFamily="34" charset="-122"/>
              <a:ea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endParaRPr>
          </a:p>
          <a:p>
            <a:endParaRPr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439979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5.5 mongos</a:t>
            </a:r>
            <a:endParaRPr lang="zh-CN" altLang="en-US" dirty="0"/>
          </a:p>
        </p:txBody>
      </p:sp>
      <p:sp>
        <p:nvSpPr>
          <p:cNvPr id="3" name="内容占位符 2"/>
          <p:cNvSpPr>
            <a:spLocks noGrp="1"/>
          </p:cNvSpPr>
          <p:nvPr>
            <p:ph idx="1"/>
          </p:nvPr>
        </p:nvSpPr>
        <p:spPr/>
        <p:txBody>
          <a:bodyPr/>
          <a:lstStyle/>
          <a:p>
            <a:r>
              <a:rPr lang="en-US" altLang="zh-CN" dirty="0" smtClean="0">
                <a:latin typeface="微软雅黑" panose="020B0503020204020204" pitchFamily="34" charset="-122"/>
                <a:ea typeface="微软雅黑" panose="020B0503020204020204" pitchFamily="34" charset="-122"/>
              </a:rPr>
              <a:t>mongos</a:t>
            </a:r>
            <a:r>
              <a:rPr lang="zh-CN" altLang="en-US" dirty="0" smtClean="0">
                <a:latin typeface="微软雅黑" panose="020B0503020204020204" pitchFamily="34" charset="-122"/>
                <a:ea typeface="微软雅黑" panose="020B0503020204020204" pitchFamily="34" charset="-122"/>
              </a:rPr>
              <a:t>的作用</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控制读写操作的路由分发（包括未分片集合数据）</a:t>
            </a:r>
            <a:endParaRPr lang="en-US" altLang="zh-CN" dirty="0" smtClean="0">
              <a:latin typeface="微软雅黑" panose="020B0503020204020204" pitchFamily="34" charset="-122"/>
              <a:ea typeface="微软雅黑" panose="020B0503020204020204" pitchFamily="34" charset="-122"/>
            </a:endParaRPr>
          </a:p>
          <a:p>
            <a:pPr lvl="2"/>
            <a:r>
              <a:rPr lang="zh-CN" altLang="en-US" dirty="0" smtClean="0">
                <a:latin typeface="微软雅黑" panose="020B0503020204020204" pitchFamily="34" charset="-122"/>
                <a:ea typeface="微软雅黑" panose="020B0503020204020204" pitchFamily="34" charset="-122"/>
              </a:rPr>
              <a:t>路由分发过程</a:t>
            </a:r>
            <a:endParaRPr lang="en-US" altLang="zh-CN" dirty="0" smtClean="0">
              <a:latin typeface="微软雅黑" panose="020B0503020204020204" pitchFamily="34" charset="-122"/>
              <a:ea typeface="微软雅黑" panose="020B0503020204020204" pitchFamily="34" charset="-122"/>
            </a:endParaRPr>
          </a:p>
          <a:p>
            <a:pPr lvl="3"/>
            <a:r>
              <a:rPr lang="zh-CN" altLang="en-US" dirty="0" smtClean="0">
                <a:latin typeface="微软雅黑" panose="020B0503020204020204" pitchFamily="34" charset="-122"/>
                <a:ea typeface="微软雅黑" panose="020B0503020204020204" pitchFamily="34" charset="-122"/>
              </a:rPr>
              <a:t>根据片键路由到部分分片</a:t>
            </a:r>
            <a:endParaRPr lang="en-US" altLang="zh-CN" dirty="0" smtClean="0">
              <a:latin typeface="微软雅黑" panose="020B0503020204020204" pitchFamily="34" charset="-122"/>
              <a:ea typeface="微软雅黑" panose="020B0503020204020204" pitchFamily="34" charset="-122"/>
            </a:endParaRPr>
          </a:p>
          <a:p>
            <a:pPr lvl="3"/>
            <a:r>
              <a:rPr lang="zh-CN" altLang="en-US" dirty="0" smtClean="0">
                <a:latin typeface="微软雅黑" panose="020B0503020204020204" pitchFamily="34" charset="-122"/>
                <a:ea typeface="微软雅黑" panose="020B0503020204020204" pitchFamily="34" charset="-122"/>
              </a:rPr>
              <a:t>广播所有分片</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控制</a:t>
            </a:r>
            <a:r>
              <a:rPr lang="en-US" altLang="zh-CN" dirty="0" smtClean="0">
                <a:latin typeface="微软雅黑" panose="020B0503020204020204" pitchFamily="34" charset="-122"/>
                <a:ea typeface="微软雅黑" panose="020B0503020204020204" pitchFamily="34" charset="-122"/>
              </a:rPr>
              <a:t>chunk</a:t>
            </a:r>
            <a:r>
              <a:rPr lang="zh-CN" altLang="en-US" dirty="0" smtClean="0">
                <a:latin typeface="微软雅黑" panose="020B0503020204020204" pitchFamily="34" charset="-122"/>
                <a:ea typeface="微软雅黑" panose="020B0503020204020204" pitchFamily="34" charset="-122"/>
              </a:rPr>
              <a:t>的分裂、迁移、均衡</a:t>
            </a:r>
            <a:endParaRPr lang="en-US" altLang="zh-CN" dirty="0" smtClean="0">
              <a:latin typeface="微软雅黑" panose="020B0503020204020204" pitchFamily="34" charset="-122"/>
              <a:ea typeface="微软雅黑" panose="020B0503020204020204" pitchFamily="34" charset="-122"/>
            </a:endParaRPr>
          </a:p>
          <a:p>
            <a:pPr lvl="2"/>
            <a:r>
              <a:rPr lang="zh-CN" altLang="en-US" dirty="0" smtClean="0">
                <a:latin typeface="微软雅黑" panose="020B0503020204020204" pitchFamily="34" charset="-122"/>
                <a:ea typeface="微软雅黑" panose="020B0503020204020204" pitchFamily="34" charset="-122"/>
              </a:rPr>
              <a:t>分裂（大小，限制）</a:t>
            </a:r>
            <a:endParaRPr lang="en-US" altLang="zh-CN" dirty="0" smtClean="0">
              <a:latin typeface="微软雅黑" panose="020B0503020204020204" pitchFamily="34" charset="-122"/>
              <a:ea typeface="微软雅黑" panose="020B0503020204020204" pitchFamily="34" charset="-122"/>
            </a:endParaRPr>
          </a:p>
          <a:p>
            <a:pPr lvl="2"/>
            <a:r>
              <a:rPr lang="zh-CN" altLang="en-US" dirty="0" smtClean="0">
                <a:latin typeface="微软雅黑" panose="020B0503020204020204" pitchFamily="34" charset="-122"/>
                <a:ea typeface="微软雅黑" panose="020B0503020204020204" pitchFamily="34" charset="-122"/>
              </a:rPr>
              <a:t>迁移、均衡（迁移阙值，均衡时间窗口）</a:t>
            </a:r>
            <a:endParaRPr lang="en-US" altLang="zh-CN" dirty="0" smtClean="0">
              <a:latin typeface="微软雅黑" panose="020B0503020204020204" pitchFamily="34" charset="-122"/>
              <a:ea typeface="微软雅黑" panose="020B0503020204020204" pitchFamily="34" charset="-122"/>
            </a:endParaRPr>
          </a:p>
          <a:p>
            <a:pPr lvl="1"/>
            <a:endParaRPr lang="en-US" altLang="zh-CN" dirty="0"/>
          </a:p>
          <a:p>
            <a:pPr lvl="1"/>
            <a:endParaRPr lang="en-US" altLang="zh-CN" dirty="0"/>
          </a:p>
          <a:p>
            <a:endParaRPr lang="en-US" altLang="zh-CN" dirty="0" smtClean="0"/>
          </a:p>
          <a:p>
            <a:pPr lvl="1"/>
            <a:endParaRPr lang="zh-CN" altLang="en-US" dirty="0"/>
          </a:p>
        </p:txBody>
      </p:sp>
    </p:spTree>
    <p:extLst>
      <p:ext uri="{BB962C8B-B14F-4D97-AF65-F5344CB8AC3E}">
        <p14:creationId xmlns:p14="http://schemas.microsoft.com/office/powerpoint/2010/main" val="9806296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6. </a:t>
            </a:r>
            <a:r>
              <a:rPr lang="zh-CN" altLang="en-US" b="1" i="1" dirty="0" smtClean="0">
                <a:solidFill>
                  <a:prstClr val="black"/>
                </a:solidFill>
                <a:latin typeface="微软雅黑" pitchFamily="34" charset="-122"/>
                <a:ea typeface="微软雅黑" pitchFamily="34" charset="-122"/>
              </a:rPr>
              <a:t>管理与监控</a:t>
            </a:r>
            <a:endParaRPr lang="zh-CN" altLang="en-US" dirty="0"/>
          </a:p>
        </p:txBody>
      </p:sp>
      <p:sp>
        <p:nvSpPr>
          <p:cNvPr id="3" name="内容占位符 2"/>
          <p:cNvSpPr>
            <a:spLocks noGrp="1"/>
          </p:cNvSpPr>
          <p:nvPr>
            <p:ph idx="1"/>
          </p:nvPr>
        </p:nvSpPr>
        <p:spPr>
          <a:xfrm>
            <a:off x="1835696" y="1600200"/>
            <a:ext cx="5472608" cy="4525963"/>
          </a:xfrm>
        </p:spPr>
        <p:txBody>
          <a:bodyPr/>
          <a:lstStyle/>
          <a:p>
            <a:r>
              <a:rPr lang="en-US" altLang="zh-CN" dirty="0">
                <a:latin typeface="微软雅黑" panose="020B0503020204020204" pitchFamily="34" charset="-122"/>
                <a:ea typeface="微软雅黑" panose="020B0503020204020204" pitchFamily="34" charset="-122"/>
              </a:rPr>
              <a:t>3.1 </a:t>
            </a:r>
            <a:r>
              <a:rPr lang="zh-CN" altLang="en-US" dirty="0" smtClean="0">
                <a:latin typeface="微软雅黑" panose="020B0503020204020204" pitchFamily="34" charset="-122"/>
                <a:ea typeface="微软雅黑" panose="020B0503020204020204" pitchFamily="34" charset="-122"/>
              </a:rPr>
              <a:t>备份与恢复</a:t>
            </a:r>
            <a:endParaRPr lang="en-US" altLang="zh-CN" dirty="0" smtClean="0">
              <a:latin typeface="微软雅黑" panose="020B0503020204020204" pitchFamily="34" charset="-122"/>
              <a:ea typeface="微软雅黑" panose="020B0503020204020204" pitchFamily="34" charset="-122"/>
            </a:endParaRPr>
          </a:p>
          <a:p>
            <a:pPr lvl="1"/>
            <a:r>
              <a:rPr lang="en-US" altLang="zh-CN" dirty="0" err="1" smtClean="0">
                <a:latin typeface="微软雅黑" panose="020B0503020204020204" pitchFamily="34" charset="-122"/>
                <a:ea typeface="微软雅黑" panose="020B0503020204020204" pitchFamily="34" charset="-122"/>
              </a:rPr>
              <a:t>mongodump</a:t>
            </a:r>
            <a:r>
              <a:rPr lang="en-US" altLang="zh-CN" dirty="0" smtClean="0">
                <a:latin typeface="微软雅黑" panose="020B0503020204020204" pitchFamily="34" charset="-122"/>
                <a:ea typeface="微软雅黑" panose="020B0503020204020204" pitchFamily="34" charset="-122"/>
              </a:rPr>
              <a:t>, </a:t>
            </a:r>
            <a:r>
              <a:rPr lang="en-US" altLang="zh-CN" dirty="0" err="1" smtClean="0">
                <a:latin typeface="微软雅黑" panose="020B0503020204020204" pitchFamily="34" charset="-122"/>
                <a:ea typeface="微软雅黑" panose="020B0503020204020204" pitchFamily="34" charset="-122"/>
              </a:rPr>
              <a:t>mongorestore</a:t>
            </a:r>
            <a:endParaRPr lang="en-US" altLang="zh-CN" dirty="0" smtClean="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o</a:t>
            </a:r>
            <a:r>
              <a:rPr lang="en-US" altLang="zh-CN" dirty="0" smtClean="0">
                <a:latin typeface="微软雅黑" panose="020B0503020204020204" pitchFamily="34" charset="-122"/>
                <a:ea typeface="微软雅黑" panose="020B0503020204020204" pitchFamily="34" charset="-122"/>
              </a:rPr>
              <a:t>ps manager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3.2 </a:t>
            </a:r>
            <a:r>
              <a:rPr lang="zh-CN" altLang="en-US" dirty="0">
                <a:latin typeface="微软雅黑" panose="020B0503020204020204" pitchFamily="34" charset="-122"/>
                <a:ea typeface="微软雅黑" panose="020B0503020204020204" pitchFamily="34" charset="-122"/>
              </a:rPr>
              <a:t>导</a:t>
            </a:r>
            <a:r>
              <a:rPr lang="zh-CN" altLang="en-US" dirty="0" smtClean="0">
                <a:latin typeface="微软雅黑" panose="020B0503020204020204" pitchFamily="34" charset="-122"/>
                <a:ea typeface="微软雅黑" panose="020B0503020204020204" pitchFamily="34" charset="-122"/>
              </a:rPr>
              <a:t>入与导出</a:t>
            </a:r>
            <a:endParaRPr lang="en-US" altLang="zh-CN" dirty="0" smtClean="0">
              <a:latin typeface="微软雅黑" panose="020B0503020204020204" pitchFamily="34" charset="-122"/>
              <a:ea typeface="微软雅黑" panose="020B0503020204020204" pitchFamily="34" charset="-122"/>
            </a:endParaRPr>
          </a:p>
          <a:p>
            <a:pPr lvl="1"/>
            <a:r>
              <a:rPr lang="en-US" altLang="zh-CN" dirty="0" err="1" smtClean="0">
                <a:latin typeface="微软雅黑" panose="020B0503020204020204" pitchFamily="34" charset="-122"/>
                <a:ea typeface="微软雅黑" panose="020B0503020204020204" pitchFamily="34" charset="-122"/>
              </a:rPr>
              <a:t>mongoimport</a:t>
            </a:r>
            <a:r>
              <a:rPr lang="en-US" altLang="zh-CN" dirty="0" smtClean="0">
                <a:latin typeface="微软雅黑" panose="020B0503020204020204" pitchFamily="34" charset="-122"/>
                <a:ea typeface="微软雅黑" panose="020B0503020204020204" pitchFamily="34" charset="-122"/>
              </a:rPr>
              <a:t>, </a:t>
            </a:r>
            <a:r>
              <a:rPr lang="en-US" altLang="zh-CN" dirty="0" err="1" smtClean="0">
                <a:latin typeface="微软雅黑" panose="020B0503020204020204" pitchFamily="34" charset="-122"/>
                <a:ea typeface="微软雅黑" panose="020B0503020204020204" pitchFamily="34" charset="-122"/>
              </a:rPr>
              <a:t>mongoexport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3.3 </a:t>
            </a:r>
            <a:r>
              <a:rPr lang="zh-CN" altLang="en-US" dirty="0" smtClean="0">
                <a:latin typeface="微软雅黑" panose="020B0503020204020204" pitchFamily="34" charset="-122"/>
                <a:ea typeface="微软雅黑" panose="020B0503020204020204" pitchFamily="34" charset="-122"/>
              </a:rPr>
              <a:t>安全</a:t>
            </a:r>
            <a:endParaRPr lang="en-US" altLang="zh-CN" dirty="0" smtClean="0">
              <a:latin typeface="微软雅黑" panose="020B0503020204020204" pitchFamily="34" charset="-122"/>
              <a:ea typeface="微软雅黑" panose="020B0503020204020204" pitchFamily="34" charset="-122"/>
            </a:endParaRPr>
          </a:p>
          <a:p>
            <a:pPr lvl="1"/>
            <a:r>
              <a:rPr lang="en-US" altLang="zh-CN" dirty="0" err="1" smtClean="0">
                <a:latin typeface="微软雅黑" panose="020B0503020204020204" pitchFamily="34" charset="-122"/>
                <a:ea typeface="微软雅黑" panose="020B0503020204020204" pitchFamily="34" charset="-122"/>
              </a:rPr>
              <a:t>auth</a:t>
            </a:r>
            <a:endParaRPr lang="en-US" altLang="zh-CN" dirty="0" smtClean="0">
              <a:latin typeface="微软雅黑" panose="020B0503020204020204" pitchFamily="34" charset="-122"/>
              <a:ea typeface="微软雅黑" panose="020B0503020204020204" pitchFamily="34" charset="-122"/>
            </a:endParaRPr>
          </a:p>
          <a:p>
            <a:pPr lvl="1"/>
            <a:r>
              <a:rPr lang="en-US" altLang="zh-CN" dirty="0"/>
              <a:t>--</a:t>
            </a:r>
            <a:r>
              <a:rPr lang="en-US" altLang="zh-CN" dirty="0" err="1"/>
              <a:t>noscripting</a:t>
            </a:r>
            <a:r>
              <a:rPr lang="en-US" altLang="zh-CN" dirty="0"/>
              <a:t> </a:t>
            </a:r>
            <a:r>
              <a:rPr lang="zh-CN" altLang="en-US" dirty="0"/>
              <a:t>或 </a:t>
            </a:r>
            <a:r>
              <a:rPr lang="en-US" altLang="zh-CN" dirty="0" err="1" smtClean="0"/>
              <a:t>security.javascriptEnabled</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3.4 </a:t>
            </a:r>
            <a:r>
              <a:rPr lang="zh-CN" altLang="en-US" dirty="0" smtClean="0">
                <a:latin typeface="微软雅黑" panose="020B0503020204020204" pitchFamily="34" charset="-122"/>
                <a:ea typeface="微软雅黑" panose="020B0503020204020204" pitchFamily="34" charset="-122"/>
              </a:rPr>
              <a:t>监控</a:t>
            </a:r>
            <a:endParaRPr lang="en-US" altLang="zh-CN" dirty="0" smtClean="0">
              <a:latin typeface="微软雅黑" panose="020B0503020204020204" pitchFamily="34" charset="-122"/>
              <a:ea typeface="微软雅黑" panose="020B0503020204020204" pitchFamily="34" charset="-122"/>
            </a:endParaRPr>
          </a:p>
          <a:p>
            <a:pPr lvl="1"/>
            <a:r>
              <a:rPr lang="en-US" altLang="zh-CN" dirty="0" err="1" smtClean="0">
                <a:latin typeface="微软雅黑" panose="020B0503020204020204" pitchFamily="34" charset="-122"/>
                <a:ea typeface="微软雅黑" panose="020B0503020204020204" pitchFamily="34" charset="-122"/>
              </a:rPr>
              <a:t>mongostat</a:t>
            </a:r>
            <a:r>
              <a:rPr lang="en-US" altLang="zh-CN" dirty="0" smtClean="0">
                <a:latin typeface="微软雅黑" panose="020B0503020204020204" pitchFamily="34" charset="-122"/>
                <a:ea typeface="微软雅黑" panose="020B0503020204020204" pitchFamily="34" charset="-122"/>
              </a:rPr>
              <a:t>, </a:t>
            </a:r>
            <a:r>
              <a:rPr lang="en-US" altLang="zh-CN" dirty="0" err="1" smtClean="0">
                <a:latin typeface="微软雅黑" panose="020B0503020204020204" pitchFamily="34" charset="-122"/>
                <a:ea typeface="微软雅黑" panose="020B0503020204020204" pitchFamily="34" charset="-122"/>
              </a:rPr>
              <a:t>mongotop</a:t>
            </a:r>
            <a:endParaRPr lang="en-US" altLang="zh-CN" dirty="0" smtClean="0">
              <a:latin typeface="微软雅黑" panose="020B0503020204020204" pitchFamily="34" charset="-122"/>
              <a:ea typeface="微软雅黑" panose="020B0503020204020204" pitchFamily="34" charset="-122"/>
            </a:endParaRPr>
          </a:p>
          <a:p>
            <a:pPr lvl="1"/>
            <a:r>
              <a:rPr lang="en-US" altLang="zh-CN" dirty="0" smtClean="0">
                <a:latin typeface="微软雅黑" panose="020B0503020204020204" pitchFamily="34" charset="-122"/>
                <a:ea typeface="微软雅黑" panose="020B0503020204020204" pitchFamily="34" charset="-122"/>
              </a:rPr>
              <a:t>mms</a:t>
            </a:r>
            <a:endParaRPr lang="en-US" altLang="zh-CN" dirty="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096250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7. </a:t>
            </a:r>
            <a:r>
              <a:rPr lang="zh-CN" altLang="en-US" b="1" i="1" dirty="0" smtClean="0">
                <a:solidFill>
                  <a:prstClr val="black"/>
                </a:solidFill>
                <a:latin typeface="微软雅黑" pitchFamily="34" charset="-122"/>
                <a:ea typeface="微软雅黑" pitchFamily="34" charset="-122"/>
              </a:rPr>
              <a:t>使用优化案例</a:t>
            </a:r>
            <a:endParaRPr lang="zh-CN" altLang="en-US" dirty="0"/>
          </a:p>
        </p:txBody>
      </p:sp>
      <p:sp>
        <p:nvSpPr>
          <p:cNvPr id="3" name="内容占位符 2"/>
          <p:cNvSpPr>
            <a:spLocks noGrp="1"/>
          </p:cNvSpPr>
          <p:nvPr>
            <p:ph idx="1"/>
          </p:nvPr>
        </p:nvSpPr>
        <p:spPr>
          <a:xfrm>
            <a:off x="1043608" y="1600200"/>
            <a:ext cx="7416824" cy="4525963"/>
          </a:xfrm>
        </p:spPr>
        <p:txBody>
          <a:bodyPr/>
          <a:lstStyle/>
          <a:p>
            <a:r>
              <a:rPr lang="en-US" altLang="zh-CN" dirty="0" smtClean="0">
                <a:latin typeface="微软雅黑" panose="020B0503020204020204" pitchFamily="34" charset="-122"/>
                <a:ea typeface="微软雅黑" panose="020B0503020204020204" pitchFamily="34" charset="-122"/>
              </a:rPr>
              <a:t>7.1 </a:t>
            </a:r>
            <a:r>
              <a:rPr lang="zh-CN" altLang="en-US" dirty="0" smtClean="0">
                <a:latin typeface="微软雅黑" panose="020B0503020204020204" pitchFamily="34" charset="-122"/>
                <a:ea typeface="微软雅黑" panose="020B0503020204020204" pitchFamily="34" charset="-122"/>
              </a:rPr>
              <a:t>优化索引</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7.2 </a:t>
            </a:r>
            <a:r>
              <a:rPr lang="zh-CN" altLang="en-US" dirty="0" smtClean="0">
                <a:latin typeface="微软雅黑" panose="020B0503020204020204" pitchFamily="34" charset="-122"/>
                <a:ea typeface="微软雅黑" panose="020B0503020204020204" pitchFamily="34" charset="-122"/>
              </a:rPr>
              <a:t>优化数组</a:t>
            </a:r>
            <a:r>
              <a:rPr lang="en-US" altLang="zh-CN" dirty="0" smtClean="0">
                <a:latin typeface="微软雅黑" panose="020B0503020204020204" pitchFamily="34" charset="-122"/>
                <a:ea typeface="微软雅黑" panose="020B0503020204020204" pitchFamily="34" charset="-122"/>
              </a:rPr>
              <a:t>count</a:t>
            </a:r>
          </a:p>
          <a:p>
            <a:r>
              <a:rPr lang="en-US" altLang="zh-CN" dirty="0" smtClean="0">
                <a:latin typeface="微软雅黑" panose="020B0503020204020204" pitchFamily="34" charset="-122"/>
                <a:ea typeface="微软雅黑" panose="020B0503020204020204" pitchFamily="34" charset="-122"/>
              </a:rPr>
              <a:t>7.3 </a:t>
            </a:r>
            <a:r>
              <a:rPr lang="zh-CN" altLang="en-US" dirty="0" smtClean="0">
                <a:latin typeface="微软雅黑" panose="020B0503020204020204" pitchFamily="34" charset="-122"/>
                <a:ea typeface="微软雅黑" panose="020B0503020204020204" pitchFamily="34" charset="-122"/>
              </a:rPr>
              <a:t>优化整型</a:t>
            </a:r>
            <a:r>
              <a:rPr lang="en-US" altLang="zh-CN" dirty="0" smtClean="0">
                <a:latin typeface="微软雅黑" panose="020B0503020204020204" pitchFamily="34" charset="-122"/>
                <a:ea typeface="微软雅黑" panose="020B0503020204020204" pitchFamily="34" charset="-122"/>
              </a:rPr>
              <a:t>_id</a:t>
            </a:r>
            <a:r>
              <a:rPr lang="zh-CN" altLang="en-US" dirty="0" smtClean="0">
                <a:latin typeface="微软雅黑" panose="020B0503020204020204" pitchFamily="34" charset="-122"/>
                <a:ea typeface="微软雅黑" panose="020B0503020204020204" pitchFamily="34" charset="-122"/>
              </a:rPr>
              <a:t>生成方式</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7.4 secondary</a:t>
            </a:r>
            <a:r>
              <a:rPr lang="zh-CN" altLang="en-US" dirty="0" smtClean="0">
                <a:latin typeface="微软雅黑" panose="020B0503020204020204" pitchFamily="34" charset="-122"/>
                <a:ea typeface="微软雅黑" panose="020B0503020204020204" pitchFamily="34" charset="-122"/>
              </a:rPr>
              <a:t>同步索引操作</a:t>
            </a:r>
            <a:r>
              <a:rPr lang="en-US" altLang="zh-CN" dirty="0" smtClean="0">
                <a:latin typeface="微软雅黑" panose="020B0503020204020204" pitchFamily="34" charset="-122"/>
                <a:ea typeface="微软雅黑" panose="020B0503020204020204" pitchFamily="34" charset="-122"/>
              </a:rPr>
              <a:t>bug</a:t>
            </a:r>
          </a:p>
          <a:p>
            <a:r>
              <a:rPr lang="en-US" altLang="zh-CN" dirty="0" smtClean="0">
                <a:latin typeface="微软雅黑" panose="020B0503020204020204" pitchFamily="34" charset="-122"/>
                <a:ea typeface="微软雅黑" panose="020B0503020204020204" pitchFamily="34" charset="-122"/>
              </a:rPr>
              <a:t>7.5 </a:t>
            </a:r>
            <a:r>
              <a:rPr lang="zh-CN" altLang="en-US" dirty="0" smtClean="0">
                <a:latin typeface="微软雅黑" panose="020B0503020204020204" pitchFamily="34" charset="-122"/>
                <a:ea typeface="微软雅黑" panose="020B0503020204020204" pitchFamily="34" charset="-122"/>
              </a:rPr>
              <a:t>滥用数组导致的问题</a:t>
            </a:r>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7.6 </a:t>
            </a:r>
            <a:r>
              <a:rPr lang="zh-CN" altLang="en-US" dirty="0">
                <a:latin typeface="微软雅黑" panose="020B0503020204020204" pitchFamily="34" charset="-122"/>
                <a:ea typeface="微软雅黑" panose="020B0503020204020204" pitchFamily="34" charset="-122"/>
              </a:rPr>
              <a:t>副本</a:t>
            </a:r>
            <a:r>
              <a:rPr lang="zh-CN" altLang="en-US" dirty="0" smtClean="0">
                <a:latin typeface="微软雅黑" panose="020B0503020204020204" pitchFamily="34" charset="-122"/>
                <a:ea typeface="微软雅黑" panose="020B0503020204020204" pitchFamily="34" charset="-122"/>
              </a:rPr>
              <a:t>集分布式一致性配置引发的性能问题</a:t>
            </a:r>
            <a:endParaRPr lang="zh-CN" altLang="en-US" dirty="0"/>
          </a:p>
        </p:txBody>
      </p:sp>
    </p:spTree>
    <p:extLst>
      <p:ext uri="{BB962C8B-B14F-4D97-AF65-F5344CB8AC3E}">
        <p14:creationId xmlns:p14="http://schemas.microsoft.com/office/powerpoint/2010/main" val="8358722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7.4 secondary</a:t>
            </a:r>
            <a:r>
              <a:rPr lang="zh-CN" altLang="en-US" b="1" i="1" dirty="0" smtClean="0">
                <a:solidFill>
                  <a:prstClr val="black"/>
                </a:solidFill>
                <a:latin typeface="微软雅黑" pitchFamily="34" charset="-122"/>
                <a:ea typeface="微软雅黑" pitchFamily="34" charset="-122"/>
              </a:rPr>
              <a:t>同步索引操作</a:t>
            </a:r>
            <a:r>
              <a:rPr lang="en-US" altLang="zh-CN" b="1" i="1" dirty="0" smtClean="0">
                <a:solidFill>
                  <a:prstClr val="black"/>
                </a:solidFill>
                <a:latin typeface="微软雅黑" pitchFamily="34" charset="-122"/>
                <a:ea typeface="微软雅黑" pitchFamily="34" charset="-122"/>
              </a:rPr>
              <a:t>bug</a:t>
            </a:r>
            <a:endParaRPr lang="zh-CN" altLang="en-US" dirty="0"/>
          </a:p>
        </p:txBody>
      </p:sp>
      <p:sp>
        <p:nvSpPr>
          <p:cNvPr id="3" name="内容占位符 2"/>
          <p:cNvSpPr>
            <a:spLocks noGrp="1"/>
          </p:cNvSpPr>
          <p:nvPr>
            <p:ph idx="1"/>
          </p:nvPr>
        </p:nvSpPr>
        <p:spPr/>
        <p:txBody>
          <a:bodyPr/>
          <a:lstStyle/>
          <a:p>
            <a:r>
              <a:rPr lang="zh-CN" altLang="en-US" dirty="0" smtClean="0">
                <a:latin typeface="微软雅黑" panose="020B0503020204020204" pitchFamily="34" charset="-122"/>
                <a:ea typeface="微软雅黑" panose="020B0503020204020204" pitchFamily="34" charset="-122"/>
              </a:rPr>
              <a:t>问题</a:t>
            </a:r>
            <a:endParaRPr lang="en-US" altLang="zh-CN" dirty="0" smtClean="0">
              <a:latin typeface="微软雅黑" panose="020B0503020204020204" pitchFamily="34" charset="-122"/>
              <a:ea typeface="微软雅黑" panose="020B0503020204020204" pitchFamily="34" charset="-122"/>
            </a:endParaRPr>
          </a:p>
          <a:p>
            <a:pPr lvl="1"/>
            <a:r>
              <a:rPr lang="en-US" altLang="zh-CN" dirty="0" smtClean="0">
                <a:latin typeface="微软雅黑" panose="020B0503020204020204" pitchFamily="34" charset="-122"/>
                <a:ea typeface="微软雅黑" panose="020B0503020204020204" pitchFamily="34" charset="-122"/>
              </a:rPr>
              <a:t>A</a:t>
            </a:r>
            <a:r>
              <a:rPr lang="zh-CN" altLang="en-US" dirty="0" smtClean="0">
                <a:latin typeface="微软雅黑" panose="020B0503020204020204" pitchFamily="34" charset="-122"/>
                <a:ea typeface="微软雅黑" panose="020B0503020204020204" pitchFamily="34" charset="-122"/>
              </a:rPr>
              <a:t>系统一次上线过程中，同时进行了索引优化（删除有问题的索引，新建索引）。在这个过程中，系统所在</a:t>
            </a:r>
            <a:r>
              <a:rPr lang="en-US" altLang="zh-CN" dirty="0" err="1" smtClean="0">
                <a:latin typeface="微软雅黑" panose="020B0503020204020204" pitchFamily="34" charset="-122"/>
                <a:ea typeface="微软雅黑" panose="020B0503020204020204" pitchFamily="34" charset="-122"/>
              </a:rPr>
              <a:t>mongod</a:t>
            </a:r>
            <a:r>
              <a:rPr lang="zh-CN" altLang="en-US" dirty="0" smtClean="0">
                <a:latin typeface="微软雅黑" panose="020B0503020204020204" pitchFamily="34" charset="-122"/>
                <a:ea typeface="微软雅黑" panose="020B0503020204020204" pitchFamily="34" charset="-122"/>
              </a:rPr>
              <a:t>服务器负载飙升。</a:t>
            </a:r>
            <a:endParaRPr lang="en-US" altLang="zh-CN" dirty="0" smtClean="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https://</a:t>
            </a:r>
            <a:r>
              <a:rPr lang="en-US" altLang="zh-CN" dirty="0" smtClean="0">
                <a:latin typeface="微软雅黑" panose="020B0503020204020204" pitchFamily="34" charset="-122"/>
                <a:ea typeface="微软雅黑" panose="020B0503020204020204" pitchFamily="34" charset="-122"/>
              </a:rPr>
              <a:t>jira.mongodb.org/browse/SERVER-13304</a:t>
            </a:r>
            <a:endParaRPr lang="en-US" altLang="zh-CN" dirty="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分析</a:t>
            </a:r>
            <a:endParaRPr lang="en-US" altLang="zh-CN" dirty="0">
              <a:latin typeface="微软雅黑" panose="020B0503020204020204" pitchFamily="34" charset="-122"/>
              <a:ea typeface="微软雅黑" panose="020B0503020204020204" pitchFamily="34" charset="-122"/>
            </a:endParaRPr>
          </a:p>
          <a:p>
            <a:pPr lvl="1"/>
            <a:r>
              <a:rPr lang="en-US" altLang="zh-CN" dirty="0" err="1">
                <a:latin typeface="微软雅黑" panose="020B0503020204020204" pitchFamily="34" charset="-122"/>
                <a:ea typeface="微软雅黑" panose="020B0503020204020204" pitchFamily="34" charset="-122"/>
              </a:rPr>
              <a:t>d</a:t>
            </a:r>
            <a:r>
              <a:rPr lang="en-US" altLang="zh-CN" dirty="0" err="1" smtClean="0">
                <a:latin typeface="微软雅黑" panose="020B0503020204020204" pitchFamily="34" charset="-122"/>
                <a:ea typeface="微软雅黑" panose="020B0503020204020204" pitchFamily="34" charset="-122"/>
              </a:rPr>
              <a:t>b.currentOp</a:t>
            </a:r>
            <a:r>
              <a:rPr lang="zh-CN" altLang="en-US" dirty="0" smtClean="0">
                <a:latin typeface="微软雅黑" panose="020B0503020204020204" pitchFamily="34" charset="-122"/>
                <a:ea typeface="微软雅黑" panose="020B0503020204020204" pitchFamily="34" charset="-122"/>
              </a:rPr>
              <a:t>发现很多长时间运行的读操作，未使用索引。</a:t>
            </a:r>
            <a:endParaRPr lang="en-US" altLang="zh-CN" dirty="0" smtClean="0">
              <a:latin typeface="微软雅黑" panose="020B0503020204020204" pitchFamily="34" charset="-122"/>
              <a:ea typeface="微软雅黑" panose="020B0503020204020204" pitchFamily="34" charset="-122"/>
            </a:endParaRPr>
          </a:p>
          <a:p>
            <a:pPr lvl="1"/>
            <a:r>
              <a:rPr lang="en-US" altLang="zh-CN" dirty="0" smtClean="0">
                <a:latin typeface="微软雅黑" panose="020B0503020204020204" pitchFamily="34" charset="-122"/>
                <a:ea typeface="微软雅黑" panose="020B0503020204020204" pitchFamily="34" charset="-122"/>
              </a:rPr>
              <a:t>Primary</a:t>
            </a:r>
            <a:r>
              <a:rPr lang="zh-CN" altLang="en-US" dirty="0" smtClean="0">
                <a:latin typeface="微软雅黑" panose="020B0503020204020204" pitchFamily="34" charset="-122"/>
                <a:ea typeface="微软雅黑" panose="020B0503020204020204" pitchFamily="34" charset="-122"/>
              </a:rPr>
              <a:t>上检查对应读操作执行计划，发现都走索引。</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停</a:t>
            </a:r>
            <a:r>
              <a:rPr lang="zh-CN" altLang="en-US" dirty="0" smtClean="0">
                <a:latin typeface="微软雅黑" panose="020B0503020204020204" pitchFamily="34" charset="-122"/>
                <a:ea typeface="微软雅黑" panose="020B0503020204020204" pitchFamily="34" charset="-122"/>
              </a:rPr>
              <a:t>掉</a:t>
            </a:r>
            <a:r>
              <a:rPr lang="en-US" altLang="zh-CN" dirty="0" smtClean="0">
                <a:latin typeface="微软雅黑" panose="020B0503020204020204" pitchFamily="34" charset="-122"/>
                <a:ea typeface="微软雅黑" panose="020B0503020204020204" pitchFamily="34" charset="-122"/>
              </a:rPr>
              <a:t>secondary</a:t>
            </a:r>
            <a:r>
              <a:rPr lang="zh-CN" altLang="en-US" dirty="0" smtClean="0">
                <a:latin typeface="微软雅黑" panose="020B0503020204020204" pitchFamily="34" charset="-122"/>
                <a:ea typeface="微软雅黑" panose="020B0503020204020204" pitchFamily="34" charset="-122"/>
              </a:rPr>
              <a:t>，恢复正常。检查程序，发现配置的读写分离。读操作访问的是</a:t>
            </a:r>
            <a:r>
              <a:rPr lang="en-US" altLang="zh-CN" dirty="0" smtClean="0">
                <a:latin typeface="微软雅黑" panose="020B0503020204020204" pitchFamily="34" charset="-122"/>
                <a:ea typeface="微软雅黑" panose="020B0503020204020204" pitchFamily="34" charset="-122"/>
              </a:rPr>
              <a:t>secondary</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登</a:t>
            </a:r>
            <a:r>
              <a:rPr lang="zh-CN" altLang="en-US" dirty="0" smtClean="0">
                <a:latin typeface="微软雅黑" panose="020B0503020204020204" pitchFamily="34" charset="-122"/>
                <a:ea typeface="微软雅黑" panose="020B0503020204020204" pitchFamily="34" charset="-122"/>
              </a:rPr>
              <a:t>入</a:t>
            </a:r>
            <a:r>
              <a:rPr lang="en-US" altLang="zh-CN" dirty="0" smtClean="0">
                <a:latin typeface="微软雅黑" panose="020B0503020204020204" pitchFamily="34" charset="-122"/>
                <a:ea typeface="微软雅黑" panose="020B0503020204020204" pitchFamily="34" charset="-122"/>
              </a:rPr>
              <a:t>secondary, </a:t>
            </a:r>
            <a:r>
              <a:rPr lang="zh-CN" altLang="en-US" dirty="0" smtClean="0">
                <a:latin typeface="微软雅黑" panose="020B0503020204020204" pitchFamily="34" charset="-122"/>
                <a:ea typeface="微软雅黑" panose="020B0503020204020204" pitchFamily="34" charset="-122"/>
              </a:rPr>
              <a:t>检查对应集合索引，发现在主上执行的创建索引操作并没有成功同步到</a:t>
            </a:r>
            <a:r>
              <a:rPr lang="en-US" altLang="zh-CN" dirty="0" smtClean="0">
                <a:latin typeface="微软雅黑" panose="020B0503020204020204" pitchFamily="34" charset="-122"/>
                <a:ea typeface="微软雅黑" panose="020B0503020204020204" pitchFamily="34" charset="-122"/>
              </a:rPr>
              <a:t>secondary</a:t>
            </a:r>
            <a:r>
              <a:rPr lang="zh-CN" altLang="en-US" dirty="0" smtClean="0">
                <a:latin typeface="微软雅黑" panose="020B0503020204020204" pitchFamily="34" charset="-122"/>
                <a:ea typeface="微软雅黑" panose="020B0503020204020204" pitchFamily="34" charset="-122"/>
              </a:rPr>
              <a:t>上。</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解决</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在从上手动建立对应缺失索引。</a:t>
            </a:r>
            <a:endParaRPr lang="en-US" altLang="zh-CN" dirty="0" smtClean="0">
              <a:latin typeface="微软雅黑" panose="020B0503020204020204" pitchFamily="34" charset="-122"/>
              <a:ea typeface="微软雅黑" panose="020B0503020204020204" pitchFamily="34" charset="-122"/>
            </a:endParaRPr>
          </a:p>
          <a:p>
            <a:endParaRPr lang="en-US" altLang="zh-CN" dirty="0" smtClean="0"/>
          </a:p>
          <a:p>
            <a:pPr lvl="1"/>
            <a:endParaRPr lang="en-US" altLang="zh-CN" dirty="0" smtClean="0"/>
          </a:p>
          <a:p>
            <a:pPr marL="457200" lvl="1" indent="0">
              <a:buNone/>
            </a:pPr>
            <a:endParaRPr lang="en-US" altLang="zh-CN" dirty="0" smtClean="0"/>
          </a:p>
        </p:txBody>
      </p:sp>
    </p:spTree>
    <p:extLst>
      <p:ext uri="{BB962C8B-B14F-4D97-AF65-F5344CB8AC3E}">
        <p14:creationId xmlns:p14="http://schemas.microsoft.com/office/powerpoint/2010/main" val="9385524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7.5 </a:t>
            </a:r>
            <a:r>
              <a:rPr lang="zh-CN" altLang="en-US" b="1" i="1" dirty="0" smtClean="0">
                <a:solidFill>
                  <a:prstClr val="black"/>
                </a:solidFill>
                <a:latin typeface="微软雅黑" pitchFamily="34" charset="-122"/>
                <a:ea typeface="微软雅黑" pitchFamily="34" charset="-122"/>
              </a:rPr>
              <a:t>数组</a:t>
            </a:r>
            <a:r>
              <a:rPr lang="zh-CN" altLang="en-US" b="1" i="1" dirty="0">
                <a:solidFill>
                  <a:prstClr val="black"/>
                </a:solidFill>
                <a:latin typeface="微软雅黑" pitchFamily="34" charset="-122"/>
                <a:ea typeface="微软雅黑" pitchFamily="34" charset="-122"/>
              </a:rPr>
              <a:t>使用不当导致的问题</a:t>
            </a:r>
            <a:endParaRPr lang="zh-CN" altLang="en-US" dirty="0"/>
          </a:p>
        </p:txBody>
      </p:sp>
      <p:sp>
        <p:nvSpPr>
          <p:cNvPr id="3" name="内容占位符 2"/>
          <p:cNvSpPr>
            <a:spLocks noGrp="1"/>
          </p:cNvSpPr>
          <p:nvPr>
            <p:ph idx="1"/>
          </p:nvPr>
        </p:nvSpPr>
        <p:spPr/>
        <p:txBody>
          <a:bodyPr>
            <a:normAutofit/>
          </a:bodyPr>
          <a:lstStyle/>
          <a:p>
            <a:r>
              <a:rPr lang="zh-CN" altLang="en-US" dirty="0" smtClean="0">
                <a:latin typeface="微软雅黑" panose="020B0503020204020204" pitchFamily="34" charset="-122"/>
                <a:ea typeface="微软雅黑" panose="020B0503020204020204" pitchFamily="34" charset="-122"/>
              </a:rPr>
              <a:t>问题</a:t>
            </a:r>
            <a:endParaRPr lang="en-US" altLang="zh-CN" dirty="0" smtClean="0">
              <a:latin typeface="微软雅黑" panose="020B0503020204020204" pitchFamily="34" charset="-122"/>
              <a:ea typeface="微软雅黑" panose="020B0503020204020204" pitchFamily="34" charset="-122"/>
            </a:endParaRPr>
          </a:p>
          <a:p>
            <a:pPr lvl="1"/>
            <a:r>
              <a:rPr lang="en-US" altLang="zh-CN" dirty="0" smtClean="0">
                <a:latin typeface="微软雅黑" panose="020B0503020204020204" pitchFamily="34" charset="-122"/>
                <a:ea typeface="微软雅黑" panose="020B0503020204020204" pitchFamily="34" charset="-122"/>
              </a:rPr>
              <a:t>B</a:t>
            </a:r>
            <a:r>
              <a:rPr lang="zh-CN" altLang="en-US" dirty="0" smtClean="0">
                <a:latin typeface="微软雅黑" panose="020B0503020204020204" pitchFamily="34" charset="-122"/>
                <a:ea typeface="微软雅黑" panose="020B0503020204020204" pitchFamily="34" charset="-122"/>
              </a:rPr>
              <a:t>系统关注、粉丝、喜欢相关接口性能低下。</a:t>
            </a:r>
            <a:endParaRPr lang="en-US" altLang="zh-CN" dirty="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分析</a:t>
            </a:r>
            <a:endParaRPr lang="en-US" altLang="zh-CN" dirty="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系统</a:t>
            </a:r>
            <a:r>
              <a:rPr lang="zh-CN" altLang="en-US" dirty="0">
                <a:latin typeface="微软雅黑" panose="020B0503020204020204" pitchFamily="34" charset="-122"/>
                <a:ea typeface="微软雅黑" panose="020B0503020204020204" pitchFamily="34" charset="-122"/>
              </a:rPr>
              <a:t>使用内嵌数组记录关注与粉丝列表、以及喜欢列表。</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由于关注、粉丝、喜欢的数据变化都比较大（会频繁</a:t>
            </a:r>
            <a:r>
              <a:rPr lang="en-US" altLang="zh-CN" dirty="0">
                <a:latin typeface="微软雅黑" panose="020B0503020204020204" pitchFamily="34" charset="-122"/>
                <a:ea typeface="微软雅黑" panose="020B0503020204020204" pitchFamily="34" charset="-122"/>
              </a:rPr>
              <a:t>add</a:t>
            </a:r>
            <a:r>
              <a:rPr lang="zh-CN" altLang="en-US" dirty="0">
                <a:latin typeface="微软雅黑" panose="020B0503020204020204" pitchFamily="34" charset="-122"/>
                <a:ea typeface="微软雅黑" panose="020B0503020204020204" pitchFamily="34" charset="-122"/>
              </a:rPr>
              <a:t>元素到数组），这可能导致在添加的过程中，文档预分配空间不足，需要重新分配，影响写入性能。</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关注、粉丝、喜欢数量增加将有可能超过</a:t>
            </a:r>
            <a:r>
              <a:rPr lang="en-US" altLang="zh-CN" dirty="0">
                <a:latin typeface="微软雅黑" panose="020B0503020204020204" pitchFamily="34" charset="-122"/>
                <a:ea typeface="微软雅黑" panose="020B0503020204020204" pitchFamily="34" charset="-122"/>
              </a:rPr>
              <a:t>BSON</a:t>
            </a:r>
            <a:r>
              <a:rPr lang="zh-CN" altLang="en-US" dirty="0">
                <a:latin typeface="微软雅黑" panose="020B0503020204020204" pitchFamily="34" charset="-122"/>
                <a:ea typeface="微软雅黑" panose="020B0503020204020204" pitchFamily="34" charset="-122"/>
              </a:rPr>
              <a:t>大小限制。</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关注、粉丝、</a:t>
            </a:r>
            <a:r>
              <a:rPr lang="zh-CN" altLang="en-US" dirty="0" smtClean="0">
                <a:latin typeface="微软雅黑" panose="020B0503020204020204" pitchFamily="34" charset="-122"/>
                <a:ea typeface="微软雅黑" panose="020B0503020204020204" pitchFamily="34" charset="-122"/>
              </a:rPr>
              <a:t>喜欢排序分</a:t>
            </a:r>
            <a:r>
              <a:rPr lang="zh-CN" altLang="en-US" dirty="0">
                <a:latin typeface="微软雅黑" panose="020B0503020204020204" pitchFamily="34" charset="-122"/>
                <a:ea typeface="微软雅黑" panose="020B0503020204020204" pitchFamily="34" charset="-122"/>
              </a:rPr>
              <a:t>页</a:t>
            </a:r>
            <a:r>
              <a:rPr lang="zh-CN" altLang="en-US" dirty="0" smtClean="0">
                <a:latin typeface="微软雅黑" panose="020B0503020204020204" pitchFamily="34" charset="-122"/>
                <a:ea typeface="微软雅黑" panose="020B0503020204020204" pitchFamily="34" charset="-122"/>
              </a:rPr>
              <a:t>获取，查找、删除指定元素无法</a:t>
            </a:r>
            <a:r>
              <a:rPr lang="zh-CN" altLang="en-US" dirty="0">
                <a:latin typeface="微软雅黑" panose="020B0503020204020204" pitchFamily="34" charset="-122"/>
                <a:ea typeface="微软雅黑" panose="020B0503020204020204" pitchFamily="34" charset="-122"/>
              </a:rPr>
              <a:t>高效</a:t>
            </a:r>
            <a:r>
              <a:rPr lang="zh-CN" altLang="en-US" dirty="0" smtClean="0">
                <a:latin typeface="微软雅黑" panose="020B0503020204020204" pitchFamily="34" charset="-122"/>
                <a:ea typeface="微软雅黑" panose="020B0503020204020204" pitchFamily="34" charset="-122"/>
              </a:rPr>
              <a:t>实现</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程序中使用数组的</a:t>
            </a:r>
            <a:r>
              <a:rPr lang="en-US" altLang="zh-CN" dirty="0">
                <a:latin typeface="微软雅黑" panose="020B0503020204020204" pitchFamily="34" charset="-122"/>
                <a:ea typeface="微软雅黑" panose="020B0503020204020204" pitchFamily="34" charset="-122"/>
                <a:hlinkClick r:id="rId2" action="ppaction://hlinkfile" tooltip="$addToSet"/>
              </a:rPr>
              <a:t>$</a:t>
            </a:r>
            <a:r>
              <a:rPr lang="en-US" altLang="zh-CN" dirty="0" err="1">
                <a:latin typeface="微软雅黑" panose="020B0503020204020204" pitchFamily="34" charset="-122"/>
                <a:ea typeface="微软雅黑" panose="020B0503020204020204" pitchFamily="34" charset="-122"/>
                <a:hlinkClick r:id="rId2" action="ppaction://hlinkfile" tooltip="$addToSet"/>
              </a:rPr>
              <a:t>addToSet</a:t>
            </a:r>
            <a:r>
              <a:rPr lang="zh-CN" altLang="en-US" dirty="0">
                <a:latin typeface="微软雅黑" panose="020B0503020204020204" pitchFamily="34" charset="-122"/>
                <a:ea typeface="微软雅黑" panose="020B0503020204020204" pitchFamily="34" charset="-122"/>
              </a:rPr>
              <a:t>进行排重。</a:t>
            </a:r>
            <a:endParaRPr lang="en-US" altLang="zh-CN" dirty="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解决</a:t>
            </a:r>
            <a:endParaRPr lang="en-US" altLang="zh-CN" dirty="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改变数据结构，取消内嵌数组，使用单独的表</a:t>
            </a:r>
            <a:r>
              <a:rPr lang="zh-CN" altLang="en-US" dirty="0">
                <a:latin typeface="微软雅黑" panose="020B0503020204020204" pitchFamily="34" charset="-122"/>
                <a:ea typeface="微软雅黑" panose="020B0503020204020204" pitchFamily="34" charset="-122"/>
              </a:rPr>
              <a:t>逐行</a:t>
            </a:r>
            <a:r>
              <a:rPr lang="zh-CN" altLang="en-US" dirty="0" smtClean="0">
                <a:latin typeface="微软雅黑" panose="020B0503020204020204" pitchFamily="34" charset="-122"/>
                <a:ea typeface="微软雅黑" panose="020B0503020204020204" pitchFamily="34" charset="-122"/>
              </a:rPr>
              <a:t>记录。</a:t>
            </a:r>
            <a:endParaRPr lang="en-US" altLang="zh-CN" dirty="0">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12651540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1" dirty="0" smtClean="0">
                <a:solidFill>
                  <a:prstClr val="black"/>
                </a:solidFill>
                <a:latin typeface="微软雅黑" pitchFamily="34" charset="-122"/>
                <a:ea typeface="微软雅黑" pitchFamily="34" charset="-122"/>
              </a:rPr>
              <a:t>7.6 </a:t>
            </a:r>
            <a:r>
              <a:rPr lang="zh-CN" altLang="en-US" b="1" i="1" dirty="0" smtClean="0">
                <a:solidFill>
                  <a:prstClr val="black"/>
                </a:solidFill>
                <a:latin typeface="微软雅黑" pitchFamily="34" charset="-122"/>
                <a:ea typeface="微软雅黑" pitchFamily="34" charset="-122"/>
              </a:rPr>
              <a:t>副本</a:t>
            </a:r>
            <a:r>
              <a:rPr lang="zh-CN" altLang="en-US" b="1" i="1" dirty="0">
                <a:solidFill>
                  <a:prstClr val="black"/>
                </a:solidFill>
                <a:latin typeface="微软雅黑" pitchFamily="34" charset="-122"/>
                <a:ea typeface="微软雅黑" pitchFamily="34" charset="-122"/>
              </a:rPr>
              <a:t>集分布式一致性配置引发的性能问题</a:t>
            </a:r>
          </a:p>
        </p:txBody>
      </p:sp>
      <p:sp>
        <p:nvSpPr>
          <p:cNvPr id="3" name="内容占位符 2"/>
          <p:cNvSpPr>
            <a:spLocks noGrp="1"/>
          </p:cNvSpPr>
          <p:nvPr>
            <p:ph idx="1"/>
          </p:nvPr>
        </p:nvSpPr>
        <p:spPr>
          <a:xfrm>
            <a:off x="457200" y="1600200"/>
            <a:ext cx="8229600" cy="4925144"/>
          </a:xfrm>
        </p:spPr>
        <p:txBody>
          <a:bodyPr>
            <a:normAutofit fontScale="77500" lnSpcReduction="20000"/>
          </a:bodyPr>
          <a:lstStyle/>
          <a:p>
            <a:r>
              <a:rPr lang="zh-CN" altLang="en-US" dirty="0" smtClean="0">
                <a:latin typeface="微软雅黑" panose="020B0503020204020204" pitchFamily="34" charset="-122"/>
                <a:ea typeface="微软雅黑" panose="020B0503020204020204" pitchFamily="34" charset="-122"/>
              </a:rPr>
              <a:t>问题</a:t>
            </a:r>
            <a:endParaRPr lang="en-US" altLang="zh-CN" dirty="0" smtClean="0">
              <a:latin typeface="微软雅黑" panose="020B0503020204020204" pitchFamily="34" charset="-122"/>
              <a:ea typeface="微软雅黑" panose="020B0503020204020204" pitchFamily="34" charset="-122"/>
            </a:endParaRPr>
          </a:p>
          <a:p>
            <a:pPr lvl="1"/>
            <a:r>
              <a:rPr lang="en-US" altLang="zh-CN" dirty="0" smtClean="0">
                <a:latin typeface="微软雅黑" panose="020B0503020204020204" pitchFamily="34" charset="-122"/>
                <a:ea typeface="微软雅黑" panose="020B0503020204020204" pitchFamily="34" charset="-122"/>
              </a:rPr>
              <a:t>C</a:t>
            </a:r>
            <a:r>
              <a:rPr lang="zh-CN" altLang="en-US" dirty="0" smtClean="0">
                <a:latin typeface="微软雅黑" panose="020B0503020204020204" pitchFamily="34" charset="-122"/>
                <a:ea typeface="微软雅黑" panose="020B0503020204020204" pitchFamily="34" charset="-122"/>
              </a:rPr>
              <a:t>系统</a:t>
            </a:r>
            <a:r>
              <a:rPr lang="zh-CN" altLang="en-US" dirty="0">
                <a:latin typeface="微软雅黑" panose="020B0503020204020204" pitchFamily="34" charset="-122"/>
                <a:ea typeface="微软雅黑" panose="020B0503020204020204" pitchFamily="34" charset="-122"/>
              </a:rPr>
              <a:t>写入性能不好，各接入系统</a:t>
            </a:r>
            <a:r>
              <a:rPr lang="zh-CN" altLang="en-US" dirty="0" smtClean="0">
                <a:latin typeface="微软雅黑" panose="020B0503020204020204" pitchFamily="34" charset="-122"/>
                <a:ea typeface="微软雅黑" panose="020B0503020204020204" pitchFamily="34" charset="-122"/>
              </a:rPr>
              <a:t>调用其写入接口</a:t>
            </a:r>
            <a:r>
              <a:rPr lang="zh-CN" altLang="en-US" dirty="0">
                <a:latin typeface="微软雅黑" panose="020B0503020204020204" pitchFamily="34" charset="-122"/>
                <a:ea typeface="微软雅黑" panose="020B0503020204020204" pitchFamily="34" charset="-122"/>
              </a:rPr>
              <a:t>频繁报读取超时</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系统最大表数据</a:t>
            </a:r>
            <a:r>
              <a:rPr lang="en-US" altLang="zh-CN" dirty="0" smtClean="0">
                <a:latin typeface="微软雅黑" panose="020B0503020204020204" pitchFamily="34" charset="-122"/>
                <a:ea typeface="微软雅黑" panose="020B0503020204020204" pitchFamily="34" charset="-122"/>
              </a:rPr>
              <a:t>1000</a:t>
            </a:r>
            <a:r>
              <a:rPr lang="zh-CN" altLang="en-US" dirty="0" smtClean="0">
                <a:latin typeface="微软雅黑" panose="020B0503020204020204" pitchFamily="34" charset="-122"/>
                <a:ea typeface="微软雅黑" panose="020B0503020204020204" pitchFamily="34" charset="-122"/>
              </a:rPr>
              <a:t>多万，数据文件大小几</a:t>
            </a:r>
            <a:r>
              <a:rPr lang="en-US" altLang="zh-CN" dirty="0" smtClean="0">
                <a:latin typeface="微软雅黑" panose="020B0503020204020204" pitchFamily="34" charset="-122"/>
                <a:ea typeface="微软雅黑" panose="020B0503020204020204" pitchFamily="34" charset="-122"/>
              </a:rPr>
              <a:t>GB</a:t>
            </a:r>
            <a:r>
              <a:rPr lang="zh-CN" altLang="en-US" dirty="0" smtClean="0">
                <a:latin typeface="微软雅黑" panose="020B0503020204020204" pitchFamily="34" charset="-122"/>
                <a:ea typeface="微软雅黑" panose="020B0503020204020204" pitchFamily="34" charset="-122"/>
              </a:rPr>
              <a:t>，数据量不大。</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对应副本集配置：</a:t>
            </a:r>
            <a:r>
              <a:rPr lang="en-US" altLang="zh-CN" dirty="0" smtClean="0">
                <a:latin typeface="微软雅黑" panose="020B0503020204020204" pitchFamily="34" charset="-122"/>
                <a:ea typeface="微软雅黑" panose="020B0503020204020204" pitchFamily="34" charset="-122"/>
              </a:rPr>
              <a:t>1primary + 2secondary + 1arbiter</a:t>
            </a:r>
          </a:p>
          <a:p>
            <a:pPr lvl="1"/>
            <a:r>
              <a:rPr lang="zh-CN" altLang="en-US" dirty="0" smtClean="0">
                <a:latin typeface="微软雅黑" panose="020B0503020204020204" pitchFamily="34" charset="-122"/>
                <a:ea typeface="微软雅黑" panose="020B0503020204020204" pitchFamily="34" charset="-122"/>
              </a:rPr>
              <a:t>在对应副本集上进行监控：</a:t>
            </a:r>
            <a:endParaRPr lang="en-US" altLang="zh-CN" dirty="0" smtClean="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primary</a:t>
            </a:r>
            <a:r>
              <a:rPr lang="zh-CN" altLang="en-US" dirty="0">
                <a:latin typeface="微软雅黑" panose="020B0503020204020204" pitchFamily="34" charset="-122"/>
                <a:ea typeface="微软雅黑" panose="020B0503020204020204" pitchFamily="34" charset="-122"/>
              </a:rPr>
              <a:t>上写操作并发不高</a:t>
            </a:r>
            <a:r>
              <a:rPr lang="en-US" altLang="zh-CN" dirty="0" smtClean="0">
                <a:latin typeface="微软雅黑" panose="020B0503020204020204" pitchFamily="34" charset="-122"/>
                <a:ea typeface="微软雅黑" panose="020B0503020204020204" pitchFamily="34" charset="-122"/>
              </a:rPr>
              <a:t>20-60ops</a:t>
            </a:r>
            <a:r>
              <a:rPr lang="zh-CN" altLang="en-US" dirty="0">
                <a:latin typeface="微软雅黑" panose="020B0503020204020204" pitchFamily="34" charset="-122"/>
                <a:ea typeface="微软雅黑" panose="020B0503020204020204" pitchFamily="34" charset="-122"/>
              </a:rPr>
              <a:t>，没有读取操作，无阻塞的操作</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secondary</a:t>
            </a:r>
            <a:r>
              <a:rPr lang="zh-CN" altLang="en-US" dirty="0" smtClean="0">
                <a:latin typeface="微软雅黑" panose="020B0503020204020204" pitchFamily="34" charset="-122"/>
                <a:ea typeface="微软雅黑" panose="020B0503020204020204" pitchFamily="34" charset="-122"/>
              </a:rPr>
              <a:t>上有读取量但也</a:t>
            </a:r>
            <a:r>
              <a:rPr lang="zh-CN" altLang="en-US" dirty="0">
                <a:latin typeface="微软雅黑" panose="020B0503020204020204" pitchFamily="34" charset="-122"/>
                <a:ea typeface="微软雅黑" panose="020B0503020204020204" pitchFamily="34" charset="-122"/>
              </a:rPr>
              <a:t>不高，也大概只有</a:t>
            </a:r>
            <a:r>
              <a:rPr lang="zh-CN" altLang="en-US" dirty="0" smtClean="0">
                <a:latin typeface="微软雅黑" panose="020B0503020204020204" pitchFamily="34" charset="-122"/>
                <a:ea typeface="微软雅黑" panose="020B0503020204020204" pitchFamily="34" charset="-122"/>
              </a:rPr>
              <a:t>几十</a:t>
            </a:r>
            <a:r>
              <a:rPr lang="en-US" altLang="zh-CN" dirty="0">
                <a:latin typeface="微软雅黑" panose="020B0503020204020204" pitchFamily="34" charset="-122"/>
                <a:ea typeface="微软雅黑" panose="020B0503020204020204" pitchFamily="34" charset="-122"/>
              </a:rPr>
              <a:t>o</a:t>
            </a:r>
            <a:r>
              <a:rPr lang="en-US" altLang="zh-CN" dirty="0" smtClean="0">
                <a:latin typeface="微软雅黑" panose="020B0503020204020204" pitchFamily="34" charset="-122"/>
                <a:ea typeface="微软雅黑" panose="020B0503020204020204" pitchFamily="34" charset="-122"/>
              </a:rPr>
              <a:t>ps</a:t>
            </a:r>
            <a:r>
              <a:rPr lang="zh-CN" altLang="en-US" dirty="0">
                <a:latin typeface="微软雅黑" panose="020B0503020204020204" pitchFamily="34" charset="-122"/>
                <a:ea typeface="微软雅黑" panose="020B0503020204020204" pitchFamily="34" charset="-122"/>
              </a:rPr>
              <a:t>，没有阻塞的操作</a:t>
            </a:r>
            <a:endParaRPr lang="en-US" altLang="zh-CN" dirty="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检查程序中写关注和读偏向配置：</a:t>
            </a:r>
            <a:endParaRPr lang="en-US" altLang="zh-CN" dirty="0" smtClean="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REPLICAS_SAFE + </a:t>
            </a:r>
            <a:r>
              <a:rPr lang="en-US" altLang="zh-CN" dirty="0" err="1" smtClean="0">
                <a:latin typeface="微软雅黑" panose="020B0503020204020204" pitchFamily="34" charset="-122"/>
                <a:ea typeface="微软雅黑" panose="020B0503020204020204" pitchFamily="34" charset="-122"/>
              </a:rPr>
              <a:t>secondaryPreferred</a:t>
            </a:r>
            <a:endParaRPr lang="en-US" altLang="zh-CN" dirty="0" smtClean="0">
              <a:latin typeface="微软雅黑" panose="020B0503020204020204" pitchFamily="34" charset="-122"/>
              <a:ea typeface="微软雅黑" panose="020B0503020204020204" pitchFamily="34" charset="-122"/>
            </a:endParaRPr>
          </a:p>
          <a:p>
            <a:pPr lvl="3"/>
            <a:r>
              <a:rPr lang="zh-CN" altLang="en-US" dirty="0" smtClean="0">
                <a:latin typeface="微软雅黑" panose="020B0503020204020204" pitchFamily="34" charset="-122"/>
                <a:ea typeface="微软雅黑" panose="020B0503020204020204" pitchFamily="34" charset="-122"/>
              </a:rPr>
              <a:t>写</a:t>
            </a:r>
            <a:r>
              <a:rPr lang="en-US" altLang="zh-CN" dirty="0" smtClean="0">
                <a:latin typeface="微软雅黑" panose="020B0503020204020204" pitchFamily="34" charset="-122"/>
                <a:ea typeface="微软雅黑" panose="020B0503020204020204" pitchFamily="34" charset="-122"/>
              </a:rPr>
              <a:t>primary</a:t>
            </a:r>
            <a:r>
              <a:rPr lang="zh-CN" altLang="en-US" dirty="0" smtClean="0">
                <a:latin typeface="微软雅黑" panose="020B0503020204020204" pitchFamily="34" charset="-122"/>
                <a:ea typeface="微软雅黑" panose="020B0503020204020204" pitchFamily="34" charset="-122"/>
              </a:rPr>
              <a:t>成功，并且</a:t>
            </a:r>
            <a:r>
              <a:rPr lang="en-US" altLang="zh-CN" dirty="0" smtClean="0">
                <a:latin typeface="微软雅黑" panose="020B0503020204020204" pitchFamily="34" charset="-122"/>
                <a:ea typeface="微软雅黑" panose="020B0503020204020204" pitchFamily="34" charset="-122"/>
              </a:rPr>
              <a:t>1</a:t>
            </a:r>
            <a:r>
              <a:rPr lang="zh-CN" altLang="en-US" dirty="0" smtClean="0">
                <a:latin typeface="微软雅黑" panose="020B0503020204020204" pitchFamily="34" charset="-122"/>
                <a:ea typeface="微软雅黑" panose="020B0503020204020204" pitchFamily="34" charset="-122"/>
              </a:rPr>
              <a:t>个</a:t>
            </a:r>
            <a:r>
              <a:rPr lang="en-US" altLang="zh-CN" dirty="0" smtClean="0">
                <a:latin typeface="微软雅黑" panose="020B0503020204020204" pitchFamily="34" charset="-122"/>
                <a:ea typeface="微软雅黑" panose="020B0503020204020204" pitchFamily="34" charset="-122"/>
              </a:rPr>
              <a:t>secondary</a:t>
            </a:r>
            <a:r>
              <a:rPr lang="zh-CN" altLang="en-US" dirty="0" smtClean="0">
                <a:latin typeface="微软雅黑" panose="020B0503020204020204" pitchFamily="34" charset="-122"/>
                <a:ea typeface="微软雅黑" panose="020B0503020204020204" pitchFamily="34" charset="-122"/>
              </a:rPr>
              <a:t>同步对应写操作成功，对应写请求才返回响应给客户端。</a:t>
            </a:r>
            <a:endParaRPr lang="en-US" altLang="zh-CN" dirty="0" smtClean="0">
              <a:latin typeface="微软雅黑" panose="020B0503020204020204" pitchFamily="34" charset="-122"/>
              <a:ea typeface="微软雅黑" panose="020B0503020204020204" pitchFamily="34" charset="-122"/>
            </a:endParaRPr>
          </a:p>
          <a:p>
            <a:pPr lvl="3"/>
            <a:r>
              <a:rPr lang="zh-CN" altLang="en-US" dirty="0" smtClean="0">
                <a:latin typeface="微软雅黑" panose="020B0503020204020204" pitchFamily="34" charset="-122"/>
                <a:ea typeface="微软雅黑" panose="020B0503020204020204" pitchFamily="34" charset="-122"/>
              </a:rPr>
              <a:t>读写分离。</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在</a:t>
            </a:r>
            <a:r>
              <a:rPr lang="zh-CN" altLang="en-US" dirty="0">
                <a:latin typeface="微软雅黑" panose="020B0503020204020204" pitchFamily="34" charset="-122"/>
                <a:ea typeface="微软雅黑" panose="020B0503020204020204" pitchFamily="34" charset="-122"/>
              </a:rPr>
              <a:t>高并发写的情况下，</a:t>
            </a:r>
            <a:r>
              <a:rPr lang="en-US" altLang="zh-CN" dirty="0" err="1">
                <a:latin typeface="微软雅黑" panose="020B0503020204020204" pitchFamily="34" charset="-122"/>
                <a:ea typeface="微软雅黑" panose="020B0503020204020204" pitchFamily="34" charset="-122"/>
              </a:rPr>
              <a:t>oplog</a:t>
            </a:r>
            <a:r>
              <a:rPr lang="zh-CN" altLang="en-US" dirty="0">
                <a:latin typeface="微软雅黑" panose="020B0503020204020204" pitchFamily="34" charset="-122"/>
                <a:ea typeface="微软雅黑" panose="020B0503020204020204" pitchFamily="34" charset="-122"/>
              </a:rPr>
              <a:t>增长太快，</a:t>
            </a:r>
            <a:r>
              <a:rPr lang="en-US" altLang="zh-CN" dirty="0">
                <a:latin typeface="微软雅黑" panose="020B0503020204020204" pitchFamily="34" charset="-122"/>
                <a:ea typeface="微软雅黑" panose="020B0503020204020204" pitchFamily="34" charset="-122"/>
              </a:rPr>
              <a:t>secondary</a:t>
            </a:r>
            <a:r>
              <a:rPr lang="zh-CN" altLang="en-US" dirty="0">
                <a:latin typeface="微软雅黑" panose="020B0503020204020204" pitchFamily="34" charset="-122"/>
                <a:ea typeface="微软雅黑" panose="020B0503020204020204" pitchFamily="34" charset="-122"/>
              </a:rPr>
              <a:t>无法迅速同步跟上</a:t>
            </a:r>
            <a:r>
              <a:rPr lang="en-US" altLang="zh-CN" dirty="0">
                <a:latin typeface="微软雅黑" panose="020B0503020204020204" pitchFamily="34" charset="-122"/>
                <a:ea typeface="微软雅黑" panose="020B0503020204020204" pitchFamily="34" charset="-122"/>
              </a:rPr>
              <a:t>primary</a:t>
            </a:r>
            <a:r>
              <a:rPr lang="zh-CN" altLang="en-US" dirty="0">
                <a:latin typeface="微软雅黑" panose="020B0503020204020204" pitchFamily="34" charset="-122"/>
                <a:ea typeface="微软雅黑" panose="020B0503020204020204" pitchFamily="34" charset="-122"/>
              </a:rPr>
              <a:t>，导致</a:t>
            </a:r>
            <a:r>
              <a:rPr lang="zh-CN" altLang="en-US" dirty="0" smtClean="0">
                <a:latin typeface="微软雅黑" panose="020B0503020204020204" pitchFamily="34" charset="-122"/>
                <a:ea typeface="微软雅黑" panose="020B0503020204020204" pitchFamily="34" charset="-122"/>
              </a:rPr>
              <a:t>需要花费比较长时间</a:t>
            </a:r>
            <a:r>
              <a:rPr lang="zh-CN" altLang="en-US" dirty="0">
                <a:latin typeface="微软雅黑" panose="020B0503020204020204" pitchFamily="34" charset="-122"/>
                <a:ea typeface="微软雅黑" panose="020B0503020204020204" pitchFamily="34" charset="-122"/>
              </a:rPr>
              <a:t>才能返回写操作成功</a:t>
            </a:r>
            <a:r>
              <a:rPr lang="zh-CN" altLang="en-US" dirty="0" smtClean="0">
                <a:latin typeface="微软雅黑" panose="020B0503020204020204" pitchFamily="34" charset="-122"/>
                <a:ea typeface="微软雅黑" panose="020B0503020204020204" pitchFamily="34" charset="-122"/>
              </a:rPr>
              <a:t>，影响</a:t>
            </a:r>
            <a:r>
              <a:rPr lang="zh-CN" altLang="en-US" dirty="0">
                <a:latin typeface="微软雅黑" panose="020B0503020204020204" pitchFamily="34" charset="-122"/>
                <a:ea typeface="微软雅黑" panose="020B0503020204020204" pitchFamily="34" charset="-122"/>
              </a:rPr>
              <a:t>写</a:t>
            </a:r>
            <a:r>
              <a:rPr lang="zh-CN" altLang="en-US" dirty="0" smtClean="0">
                <a:latin typeface="微软雅黑" panose="020B0503020204020204" pitchFamily="34" charset="-122"/>
                <a:ea typeface="微软雅黑" panose="020B0503020204020204" pitchFamily="34" charset="-122"/>
              </a:rPr>
              <a:t>效率。</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根据业务介绍，有冷数据处理流程，程序里可能有没有加条件的</a:t>
            </a:r>
            <a:r>
              <a:rPr lang="en-US" altLang="zh-CN" dirty="0" smtClean="0">
                <a:latin typeface="微软雅黑" panose="020B0503020204020204" pitchFamily="34" charset="-122"/>
                <a:ea typeface="微软雅黑" panose="020B0503020204020204" pitchFamily="34" charset="-122"/>
              </a:rPr>
              <a:t>update</a:t>
            </a:r>
            <a:r>
              <a:rPr lang="zh-CN" altLang="en-US" dirty="0" smtClean="0">
                <a:latin typeface="微软雅黑" panose="020B0503020204020204" pitchFamily="34" charset="-122"/>
                <a:ea typeface="微软雅黑" panose="020B0503020204020204" pitchFamily="34" charset="-122"/>
              </a:rPr>
              <a:t>或</a:t>
            </a:r>
            <a:r>
              <a:rPr lang="en-US" altLang="zh-CN" dirty="0" smtClean="0">
                <a:latin typeface="微软雅黑" panose="020B0503020204020204" pitchFamily="34" charset="-122"/>
                <a:ea typeface="微软雅黑" panose="020B0503020204020204" pitchFamily="34" charset="-122"/>
              </a:rPr>
              <a:t>remove</a:t>
            </a:r>
            <a:r>
              <a:rPr lang="zh-CN" altLang="en-US" dirty="0" smtClean="0">
                <a:latin typeface="微软雅黑" panose="020B0503020204020204" pitchFamily="34" charset="-122"/>
                <a:ea typeface="微软雅黑" panose="020B0503020204020204" pitchFamily="34" charset="-122"/>
              </a:rPr>
              <a:t>操作，由于</a:t>
            </a:r>
            <a:r>
              <a:rPr lang="en-US" altLang="zh-CN" dirty="0" err="1" smtClean="0">
                <a:latin typeface="微软雅黑" panose="020B0503020204020204" pitchFamily="34" charset="-122"/>
                <a:ea typeface="微软雅黑" panose="020B0503020204020204" pitchFamily="34" charset="-122"/>
              </a:rPr>
              <a:t>oplog</a:t>
            </a:r>
            <a:r>
              <a:rPr lang="zh-CN" altLang="en-US" dirty="0" smtClean="0">
                <a:latin typeface="微软雅黑" panose="020B0503020204020204" pitchFamily="34" charset="-122"/>
                <a:ea typeface="微软雅黑" panose="020B0503020204020204" pitchFamily="34" charset="-122"/>
              </a:rPr>
              <a:t>的幂等型处理，对应的操作可能在</a:t>
            </a:r>
            <a:r>
              <a:rPr lang="en-US" altLang="zh-CN" dirty="0" err="1" smtClean="0">
                <a:latin typeface="微软雅黑" panose="020B0503020204020204" pitchFamily="34" charset="-122"/>
                <a:ea typeface="微软雅黑" panose="020B0503020204020204" pitchFamily="34" charset="-122"/>
              </a:rPr>
              <a:t>oplog</a:t>
            </a:r>
            <a:r>
              <a:rPr lang="zh-CN" altLang="en-US" dirty="0" smtClean="0">
                <a:latin typeface="微软雅黑" panose="020B0503020204020204" pitchFamily="34" charset="-122"/>
                <a:ea typeface="微软雅黑" panose="020B0503020204020204" pitchFamily="34" charset="-122"/>
              </a:rPr>
              <a:t>中生成大量记录，这同时也加剧了上面的分析。</a:t>
            </a:r>
            <a:endParaRPr lang="en-US" altLang="zh-CN" dirty="0" smtClean="0">
              <a:latin typeface="微软雅黑" panose="020B0503020204020204" pitchFamily="34" charset="-122"/>
              <a:ea typeface="微软雅黑" panose="020B0503020204020204" pitchFamily="34" charset="-122"/>
            </a:endParaRPr>
          </a:p>
          <a:p>
            <a:pPr marL="914400" lvl="2" indent="0">
              <a:buNone/>
            </a:pP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解决</a:t>
            </a:r>
            <a:endParaRPr lang="en-US" altLang="zh-CN" dirty="0" smtClean="0">
              <a:latin typeface="微软雅黑" panose="020B0503020204020204" pitchFamily="34" charset="-122"/>
              <a:ea typeface="微软雅黑" panose="020B0503020204020204" pitchFamily="34" charset="-122"/>
            </a:endParaRPr>
          </a:p>
          <a:p>
            <a:pPr lvl="1"/>
            <a:r>
              <a:rPr lang="en-US" altLang="zh-CN" dirty="0" smtClean="0">
                <a:latin typeface="微软雅黑" panose="020B0503020204020204" pitchFamily="34" charset="-122"/>
                <a:ea typeface="微软雅黑" panose="020B0503020204020204" pitchFamily="34" charset="-122"/>
              </a:rPr>
              <a:t>ACKNOWLEDGED + </a:t>
            </a:r>
            <a:r>
              <a:rPr lang="en-US" altLang="zh-CN" dirty="0">
                <a:latin typeface="微软雅黑" panose="020B0503020204020204" pitchFamily="34" charset="-122"/>
                <a:ea typeface="微软雅黑" panose="020B0503020204020204" pitchFamily="34" charset="-122"/>
              </a:rPr>
              <a:t>primary</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修改写关注为默认的主确认，加速写操作返回。取消读写分离，读写都在主库，保证数据一致性。</a:t>
            </a:r>
            <a:endParaRPr lang="en-US" altLang="zh-CN" dirty="0" smtClean="0">
              <a:latin typeface="微软雅黑" panose="020B0503020204020204" pitchFamily="34" charset="-122"/>
              <a:ea typeface="微软雅黑" panose="020B0503020204020204" pitchFamily="34" charset="-122"/>
            </a:endParaRPr>
          </a:p>
          <a:p>
            <a:pPr lvl="1"/>
            <a:r>
              <a:rPr lang="zh-CN" altLang="en-US" dirty="0" smtClean="0">
                <a:latin typeface="微软雅黑" panose="020B0503020204020204" pitchFamily="34" charset="-122"/>
                <a:ea typeface="微软雅黑" panose="020B0503020204020204" pitchFamily="34" charset="-122"/>
              </a:rPr>
              <a:t>取消一个从节点，减少复制开销，奇数投票节点</a:t>
            </a:r>
            <a:endParaRPr lang="en-US" altLang="zh-CN" dirty="0" smtClean="0">
              <a:latin typeface="微软雅黑" panose="020B0503020204020204" pitchFamily="34" charset="-122"/>
              <a:ea typeface="微软雅黑" panose="020B0503020204020204" pitchFamily="34" charset="-122"/>
            </a:endParaRPr>
          </a:p>
          <a:p>
            <a:pPr lvl="1"/>
            <a:r>
              <a:rPr lang="en-US" altLang="zh-CN" dirty="0" err="1">
                <a:latin typeface="微软雅黑" panose="020B0503020204020204" pitchFamily="34" charset="-122"/>
                <a:ea typeface="微软雅黑" panose="020B0503020204020204" pitchFamily="34" charset="-122"/>
              </a:rPr>
              <a:t>mongodb</a:t>
            </a:r>
            <a:r>
              <a:rPr lang="en-US" altLang="zh-CN" dirty="0">
                <a:latin typeface="微软雅黑" panose="020B0503020204020204" pitchFamily="34" charset="-122"/>
                <a:ea typeface="微软雅黑" panose="020B0503020204020204" pitchFamily="34" charset="-122"/>
              </a:rPr>
              <a:t> 3.x</a:t>
            </a:r>
            <a:r>
              <a:rPr lang="zh-CN" altLang="en-US" dirty="0">
                <a:latin typeface="微软雅黑" panose="020B0503020204020204" pitchFamily="34" charset="-122"/>
                <a:ea typeface="微软雅黑" panose="020B0503020204020204" pitchFamily="34" charset="-122"/>
              </a:rPr>
              <a:t>的</a:t>
            </a:r>
            <a:r>
              <a:rPr lang="en-US" altLang="zh-CN" dirty="0" err="1">
                <a:latin typeface="微软雅黑" panose="020B0503020204020204" pitchFamily="34" charset="-122"/>
                <a:ea typeface="微软雅黑" panose="020B0503020204020204" pitchFamily="34" charset="-122"/>
              </a:rPr>
              <a:t>wiredTiger</a:t>
            </a:r>
            <a:r>
              <a:rPr lang="zh-CN" altLang="en-US" dirty="0">
                <a:latin typeface="微软雅黑" panose="020B0503020204020204" pitchFamily="34" charset="-122"/>
                <a:ea typeface="微软雅黑" panose="020B0503020204020204" pitchFamily="34" charset="-122"/>
              </a:rPr>
              <a:t>引擎，已经支持行级别的读写锁（</a:t>
            </a:r>
            <a:r>
              <a:rPr lang="en-US" altLang="zh-CN" dirty="0">
                <a:latin typeface="微软雅黑" panose="020B0503020204020204" pitchFamily="34" charset="-122"/>
                <a:ea typeface="微软雅黑" panose="020B0503020204020204" pitchFamily="34" charset="-122"/>
              </a:rPr>
              <a:t>2.6</a:t>
            </a:r>
            <a:r>
              <a:rPr lang="zh-CN" altLang="en-US" dirty="0">
                <a:latin typeface="微软雅黑" panose="020B0503020204020204" pitchFamily="34" charset="-122"/>
                <a:ea typeface="微软雅黑" panose="020B0503020204020204" pitchFamily="34" charset="-122"/>
              </a:rPr>
              <a:t>是库级别），所以即使不读写分离，</a:t>
            </a:r>
            <a:r>
              <a:rPr lang="zh-CN" altLang="en-US" dirty="0" smtClean="0">
                <a:latin typeface="微软雅黑" panose="020B0503020204020204" pitchFamily="34" charset="-122"/>
                <a:ea typeface="微软雅黑" panose="020B0503020204020204" pitchFamily="34" charset="-122"/>
              </a:rPr>
              <a:t>读写也</a:t>
            </a:r>
            <a:r>
              <a:rPr lang="zh-CN" altLang="en-US" dirty="0">
                <a:latin typeface="微软雅黑" panose="020B0503020204020204" pitchFamily="34" charset="-122"/>
                <a:ea typeface="微软雅黑" panose="020B0503020204020204" pitchFamily="34" charset="-122"/>
              </a:rPr>
              <a:t>不会相互影响</a:t>
            </a:r>
            <a:r>
              <a:rPr lang="zh-CN" altLang="en-US" dirty="0" smtClean="0">
                <a:latin typeface="微软雅黑" panose="020B0503020204020204" pitchFamily="34" charset="-122"/>
                <a:ea typeface="微软雅黑" panose="020B0503020204020204" pitchFamily="34" charset="-122"/>
              </a:rPr>
              <a:t>很大。而且</a:t>
            </a:r>
            <a:r>
              <a:rPr lang="zh-CN" altLang="en-US" dirty="0">
                <a:latin typeface="微软雅黑" panose="020B0503020204020204" pitchFamily="34" charset="-122"/>
                <a:ea typeface="微软雅黑" panose="020B0503020204020204" pitchFamily="34" charset="-122"/>
              </a:rPr>
              <a:t>高并发写情况下，</a:t>
            </a:r>
            <a:r>
              <a:rPr lang="en-US" altLang="zh-CN" dirty="0">
                <a:latin typeface="微软雅黑" panose="020B0503020204020204" pitchFamily="34" charset="-122"/>
                <a:ea typeface="微软雅黑" panose="020B0503020204020204" pitchFamily="34" charset="-122"/>
              </a:rPr>
              <a:t>secondary</a:t>
            </a:r>
            <a:r>
              <a:rPr lang="zh-CN" altLang="en-US" dirty="0">
                <a:latin typeface="微软雅黑" panose="020B0503020204020204" pitchFamily="34" charset="-122"/>
                <a:ea typeface="微软雅黑" panose="020B0503020204020204" pitchFamily="34" charset="-122"/>
              </a:rPr>
              <a:t>因为要同步</a:t>
            </a:r>
            <a:r>
              <a:rPr lang="en-US" altLang="zh-CN" dirty="0" err="1">
                <a:latin typeface="微软雅黑" panose="020B0503020204020204" pitchFamily="34" charset="-122"/>
                <a:ea typeface="微软雅黑" panose="020B0503020204020204" pitchFamily="34" charset="-122"/>
              </a:rPr>
              <a:t>oplog</a:t>
            </a:r>
            <a:r>
              <a:rPr lang="zh-CN" altLang="en-US" dirty="0">
                <a:latin typeface="微软雅黑" panose="020B0503020204020204" pitchFamily="34" charset="-122"/>
                <a:ea typeface="微软雅黑" panose="020B0503020204020204" pitchFamily="34" charset="-122"/>
              </a:rPr>
              <a:t>，其实​和</a:t>
            </a:r>
            <a:r>
              <a:rPr lang="en-US" altLang="zh-CN" dirty="0">
                <a:latin typeface="微软雅黑" panose="020B0503020204020204" pitchFamily="34" charset="-122"/>
                <a:ea typeface="微软雅黑" panose="020B0503020204020204" pitchFamily="34" charset="-122"/>
              </a:rPr>
              <a:t>primary​</a:t>
            </a:r>
            <a:r>
              <a:rPr lang="zh-CN" altLang="en-US" dirty="0">
                <a:latin typeface="微软雅黑" panose="020B0503020204020204" pitchFamily="34" charset="-122"/>
                <a:ea typeface="微软雅黑" panose="020B0503020204020204" pitchFamily="34" charset="-122"/>
              </a:rPr>
              <a:t>面临差不多的写压力，再加上读操作，压力和不读写分离区别</a:t>
            </a:r>
            <a:r>
              <a:rPr lang="zh-CN" altLang="en-US" dirty="0" smtClean="0">
                <a:latin typeface="微软雅黑" panose="020B0503020204020204" pitchFamily="34" charset="-122"/>
                <a:ea typeface="微软雅黑" panose="020B0503020204020204" pitchFamily="34" charset="-122"/>
              </a:rPr>
              <a:t>不大。</a:t>
            </a:r>
            <a:endParaRPr lang="en-US" altLang="zh-CN" dirty="0" smtClean="0">
              <a:latin typeface="微软雅黑" panose="020B0503020204020204" pitchFamily="34" charset="-122"/>
              <a:ea typeface="微软雅黑" panose="020B0503020204020204" pitchFamily="34" charset="-122"/>
            </a:endParaRPr>
          </a:p>
          <a:p>
            <a:pPr lvl="1"/>
            <a:endParaRPr lang="en-US" altLang="zh-CN" dirty="0" smtClean="0"/>
          </a:p>
          <a:p>
            <a:pPr lvl="1"/>
            <a:endParaRPr lang="zh-CN" altLang="en-US" dirty="0"/>
          </a:p>
        </p:txBody>
      </p:sp>
    </p:spTree>
    <p:extLst>
      <p:ext uri="{BB962C8B-B14F-4D97-AF65-F5344CB8AC3E}">
        <p14:creationId xmlns:p14="http://schemas.microsoft.com/office/powerpoint/2010/main" val="21821379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70584" r="70584"/>
          <a:stretch/>
        </p:blipFill>
        <p:spPr>
          <a:xfrm>
            <a:off x="-6480000" y="27950"/>
            <a:ext cx="9180512" cy="6857434"/>
          </a:xfrm>
          <a:prstGeom prst="rect">
            <a:avLst/>
          </a:prstGeom>
        </p:spPr>
      </p:pic>
      <p:sp>
        <p:nvSpPr>
          <p:cNvPr id="4" name="文本框 4"/>
          <p:cNvSpPr txBox="1"/>
          <p:nvPr/>
        </p:nvSpPr>
        <p:spPr>
          <a:xfrm>
            <a:off x="4112890" y="1861501"/>
            <a:ext cx="2924674" cy="646331"/>
          </a:xfrm>
          <a:prstGeom prst="rect">
            <a:avLst/>
          </a:prstGeom>
          <a:noFill/>
        </p:spPr>
        <p:txBody>
          <a:bodyPr wrap="none" rtlCol="0">
            <a:spAutoFit/>
          </a:bodyPr>
          <a:lstStyle/>
          <a:p>
            <a:r>
              <a:rPr kumimoji="1" lang="en-US" altLang="zh-CN" sz="3600" dirty="0" smtClean="0">
                <a:solidFill>
                  <a:srgbClr val="FF6600"/>
                </a:solidFill>
                <a:latin typeface="微软雅黑"/>
                <a:ea typeface="微软雅黑"/>
                <a:cs typeface="微软雅黑"/>
              </a:rPr>
              <a:t>THANK YOU</a:t>
            </a:r>
            <a:endParaRPr kumimoji="1" lang="zh-CN" altLang="en-US" sz="3600" dirty="0">
              <a:solidFill>
                <a:srgbClr val="FF6600"/>
              </a:solidFill>
              <a:latin typeface="微软雅黑"/>
              <a:ea typeface="微软雅黑"/>
              <a:cs typeface="微软雅黑"/>
            </a:endParaRPr>
          </a:p>
        </p:txBody>
      </p:sp>
      <p:sp>
        <p:nvSpPr>
          <p:cNvPr id="3" name="内容占位符 2"/>
          <p:cNvSpPr>
            <a:spLocks noGrp="1"/>
          </p:cNvSpPr>
          <p:nvPr>
            <p:ph idx="1"/>
          </p:nvPr>
        </p:nvSpPr>
        <p:spPr/>
        <p:txBody>
          <a:bodyPr/>
          <a:lstStyle/>
          <a:p>
            <a:endParaRPr lang="zh-CN" altLang="en-US"/>
          </a:p>
        </p:txBody>
      </p:sp>
    </p:spTree>
    <p:extLst>
      <p:ext uri="{BB962C8B-B14F-4D97-AF65-F5344CB8AC3E}">
        <p14:creationId xmlns:p14="http://schemas.microsoft.com/office/powerpoint/2010/main" val="3045758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主管人员">
  <a:themeElements>
    <a:clrScheme name="主管人员">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主管人员">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主管人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6254</TotalTime>
  <Words>4229</Words>
  <Application>Microsoft Office PowerPoint</Application>
  <PresentationFormat>全屏显示(4:3)</PresentationFormat>
  <Paragraphs>717</Paragraphs>
  <Slides>69</Slides>
  <Notes>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69</vt:i4>
      </vt:variant>
    </vt:vector>
  </HeadingPairs>
  <TitlesOfParts>
    <vt:vector size="80" baseType="lpstr">
      <vt:lpstr>宋体</vt:lpstr>
      <vt:lpstr>微软雅黑</vt:lpstr>
      <vt:lpstr>幼圆</vt:lpstr>
      <vt:lpstr>Arial</vt:lpstr>
      <vt:lpstr>Calibri</vt:lpstr>
      <vt:lpstr>Century Gothic</vt:lpstr>
      <vt:lpstr>Consolas</vt:lpstr>
      <vt:lpstr>Courier New</vt:lpstr>
      <vt:lpstr>Palatino Linotype</vt:lpstr>
      <vt:lpstr>Verdana</vt:lpstr>
      <vt:lpstr>主管人员</vt:lpstr>
      <vt:lpstr>Mongodb分享</vt:lpstr>
      <vt:lpstr>主要内容</vt:lpstr>
      <vt:lpstr>1.背景</vt:lpstr>
      <vt:lpstr>1.1 从集中式到分布式</vt:lpstr>
      <vt:lpstr>1.2 从SQL到NoSQL</vt:lpstr>
      <vt:lpstr>1.3 分布式一致性问题</vt:lpstr>
      <vt:lpstr>1.4 CAP和BASE理论</vt:lpstr>
      <vt:lpstr>2.MongoDB入门</vt:lpstr>
      <vt:lpstr>2.1 什么是MongoDB</vt:lpstr>
      <vt:lpstr>2.2 存储引擎</vt:lpstr>
      <vt:lpstr>2.2 存储引擎-MMAPv1(1)</vt:lpstr>
      <vt:lpstr>2.2 存储引擎-MMAPv1(2)</vt:lpstr>
      <vt:lpstr>2.2 存储引擎-MMAPv1(3)</vt:lpstr>
      <vt:lpstr>2.2 存储引擎-WiredTiger(1)</vt:lpstr>
      <vt:lpstr>2.2 存储引擎-WiredTiger(2)</vt:lpstr>
      <vt:lpstr>2.2 存储引擎-WiredTiger(3)</vt:lpstr>
      <vt:lpstr>2.2 存储引擎-WiredTiger(4)</vt:lpstr>
      <vt:lpstr>2.2 版本选择</vt:lpstr>
      <vt:lpstr>2.3 mongo shell</vt:lpstr>
      <vt:lpstr>2.4 mongodb数据模型</vt:lpstr>
      <vt:lpstr>2.4 mongodb数据模型</vt:lpstr>
      <vt:lpstr>2.5 数据类型–基本类型和$type</vt:lpstr>
      <vt:lpstr>2.5 数据类型–比较排序</vt:lpstr>
      <vt:lpstr>2.5 数据类型-null</vt:lpstr>
      <vt:lpstr>2.5 数据类型-内嵌文档和数组</vt:lpstr>
      <vt:lpstr>2.5 数据类型-ObjectId</vt:lpstr>
      <vt:lpstr>2.5 数据类型-自定义_id</vt:lpstr>
      <vt:lpstr>2.5 数据类型-自定义_id</vt:lpstr>
      <vt:lpstr>2.5 数据类型-自定义_id</vt:lpstr>
      <vt:lpstr>2.6 BSON</vt:lpstr>
      <vt:lpstr>2.7 GridFS</vt:lpstr>
      <vt:lpstr>2.8 模式设计-相关因素</vt:lpstr>
      <vt:lpstr>2.8 模式设计-范式与反范式</vt:lpstr>
      <vt:lpstr>2.9 CRUD</vt:lpstr>
      <vt:lpstr>2.9 CRUD</vt:lpstr>
      <vt:lpstr>3. 索引</vt:lpstr>
      <vt:lpstr>3.1 索引概述</vt:lpstr>
      <vt:lpstr>3.2 索引的类型</vt:lpstr>
      <vt:lpstr>3.3 索引的属性</vt:lpstr>
      <vt:lpstr>3.4 索引的创建、管理</vt:lpstr>
      <vt:lpstr>3.5 索引交集</vt:lpstr>
      <vt:lpstr>3.5 索引覆盖查询</vt:lpstr>
      <vt:lpstr>3.6 如何发现问题</vt:lpstr>
      <vt:lpstr>4. 复制(Replication)</vt:lpstr>
      <vt:lpstr>4.1 复制≠备份</vt:lpstr>
      <vt:lpstr>4.2 复制集基本介绍</vt:lpstr>
      <vt:lpstr>4.2 oplog</vt:lpstr>
      <vt:lpstr>4.3 复制节点 </vt:lpstr>
      <vt:lpstr>4.4 选举</vt:lpstr>
      <vt:lpstr>4.4 选举</vt:lpstr>
      <vt:lpstr>4.4 选举</vt:lpstr>
      <vt:lpstr>4.4 选举-Bully算法</vt:lpstr>
      <vt:lpstr>4.4 选举-降级</vt:lpstr>
      <vt:lpstr>4.5 Read-Preference与WriteConcern</vt:lpstr>
      <vt:lpstr>4.6 复制集数据的一致性</vt:lpstr>
      <vt:lpstr>4.7 rollback</vt:lpstr>
      <vt:lpstr>5. 分片(Sharding)</vt:lpstr>
      <vt:lpstr>5.1 分片基本介绍</vt:lpstr>
      <vt:lpstr>5.1 分片基本介绍</vt:lpstr>
      <vt:lpstr>5.2 chunk</vt:lpstr>
      <vt:lpstr>5.3 片键</vt:lpstr>
      <vt:lpstr>5.4 config</vt:lpstr>
      <vt:lpstr>5.5 mongos</vt:lpstr>
      <vt:lpstr>6. 管理与监控</vt:lpstr>
      <vt:lpstr>7. 使用优化案例</vt:lpstr>
      <vt:lpstr>7.4 secondary同步索引操作bug</vt:lpstr>
      <vt:lpstr>7.5 数组使用不当导致的问题</vt:lpstr>
      <vt:lpstr>7.6 副本集分布式一致性配置引发的性能问题</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Mongodb技术培训和分享</dc:title>
  <dc:subject>mongodb</dc:subject>
  <dc:creator>钟秋</dc:creator>
  <cp:lastModifiedBy>xatest3</cp:lastModifiedBy>
  <cp:revision>560</cp:revision>
  <dcterms:created xsi:type="dcterms:W3CDTF">2015-01-02T14:17:00Z</dcterms:created>
  <dcterms:modified xsi:type="dcterms:W3CDTF">2017-09-21T02:55:13Z</dcterms:modified>
  <cp:version>v1.0</cp:version>
</cp:coreProperties>
</file>