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9"/>
  </p:notesMasterIdLst>
  <p:sldIdLst>
    <p:sldId id="778" r:id="rId2"/>
    <p:sldId id="801" r:id="rId3"/>
    <p:sldId id="806" r:id="rId4"/>
    <p:sldId id="811" r:id="rId5"/>
    <p:sldId id="813" r:id="rId6"/>
    <p:sldId id="815" r:id="rId7"/>
    <p:sldId id="814" r:id="rId8"/>
    <p:sldId id="808" r:id="rId9"/>
    <p:sldId id="810" r:id="rId10"/>
    <p:sldId id="817" r:id="rId11"/>
    <p:sldId id="818" r:id="rId12"/>
    <p:sldId id="809" r:id="rId13"/>
    <p:sldId id="822" r:id="rId14"/>
    <p:sldId id="821" r:id="rId15"/>
    <p:sldId id="802" r:id="rId16"/>
    <p:sldId id="819" r:id="rId17"/>
    <p:sldId id="823" r:id="rId18"/>
    <p:sldId id="824" r:id="rId19"/>
    <p:sldId id="825" r:id="rId20"/>
    <p:sldId id="828" r:id="rId21"/>
    <p:sldId id="829" r:id="rId22"/>
    <p:sldId id="830" r:id="rId23"/>
    <p:sldId id="831" r:id="rId24"/>
    <p:sldId id="832" r:id="rId25"/>
    <p:sldId id="804" r:id="rId26"/>
    <p:sldId id="834" r:id="rId27"/>
    <p:sldId id="833" r:id="rId28"/>
    <p:sldId id="835" r:id="rId29"/>
    <p:sldId id="836" r:id="rId30"/>
    <p:sldId id="837" r:id="rId31"/>
    <p:sldId id="805" r:id="rId32"/>
    <p:sldId id="803" r:id="rId33"/>
    <p:sldId id="838" r:id="rId34"/>
    <p:sldId id="839" r:id="rId35"/>
    <p:sldId id="840" r:id="rId36"/>
    <p:sldId id="841" r:id="rId37"/>
    <p:sldId id="800" r:id="rId38"/>
  </p:sldIdLst>
  <p:sldSz cx="9144000" cy="5143500" type="screen16x9"/>
  <p:notesSz cx="9866313" cy="6754813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44">
          <p15:clr>
            <a:srgbClr val="A4A3A4"/>
          </p15:clr>
        </p15:guide>
        <p15:guide id="2" pos="29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8C1E00"/>
    <a:srgbClr val="0E1180"/>
    <a:srgbClr val="FF9900"/>
    <a:srgbClr val="C67900"/>
    <a:srgbClr val="0F5B9B"/>
    <a:srgbClr val="A62300"/>
    <a:srgbClr val="0D42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5" d="100"/>
          <a:sy n="145" d="100"/>
        </p:scale>
        <p:origin x="624" y="102"/>
      </p:cViewPr>
      <p:guideLst>
        <p:guide orient="horz" pos="1544"/>
        <p:guide pos="295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5138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8000" y="0"/>
            <a:ext cx="427672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2682875" y="506413"/>
            <a:ext cx="4502150" cy="2533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7425" y="3208338"/>
            <a:ext cx="7893050" cy="3040062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15088"/>
            <a:ext cx="4275138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8000" y="6415088"/>
            <a:ext cx="4276725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AD8E835A-82A5-4343-8E2F-A74BFBDB7E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1842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682875" y="506413"/>
            <a:ext cx="4502150" cy="2533650"/>
          </a:xfrm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mtClean="0">
                <a:latin typeface="Arial" charset="0"/>
              </a:rPr>
              <a:t>视频流量活动</a:t>
            </a:r>
          </a:p>
        </p:txBody>
      </p:sp>
    </p:spTree>
    <p:extLst>
      <p:ext uri="{BB962C8B-B14F-4D97-AF65-F5344CB8AC3E}">
        <p14:creationId xmlns:p14="http://schemas.microsoft.com/office/powerpoint/2010/main" val="1294356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8E835A-82A5-4343-8E2F-A74BFBDB7EF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476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750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42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4572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50826" y="914400"/>
            <a:ext cx="4244975" cy="3833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14400"/>
            <a:ext cx="4244975" cy="3833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126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882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175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106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3639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58944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968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94489" y="86916"/>
            <a:ext cx="2198687" cy="466129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3664" y="86916"/>
            <a:ext cx="6448425" cy="466129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9670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14400"/>
            <a:ext cx="8642350" cy="3833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</p:txBody>
      </p:sp>
      <p:sp>
        <p:nvSpPr>
          <p:cNvPr id="1027" name="AutoShape 5"/>
          <p:cNvSpPr>
            <a:spLocks noChangeArrowheads="1"/>
          </p:cNvSpPr>
          <p:nvPr/>
        </p:nvSpPr>
        <p:spPr bwMode="auto">
          <a:xfrm>
            <a:off x="247650" y="4857750"/>
            <a:ext cx="438150" cy="1905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 anchor="ctr"/>
          <a:lstStyle/>
          <a:p>
            <a:pPr algn="ctr" eaLnBrk="0" hangingPunct="0"/>
            <a:r>
              <a:rPr lang="en-GB" altLang="en-US" sz="1200" b="1">
                <a:ea typeface="黑体" pitchFamily="2" charset="-122"/>
              </a:rPr>
              <a:t>-</a:t>
            </a:r>
            <a:fld id="{DBC2E62B-2FBF-4B59-A44E-BC342C36F386}" type="slidenum">
              <a:rPr lang="en-GB" altLang="en-US" sz="1200" b="1">
                <a:ea typeface="黑体" pitchFamily="2" charset="-122"/>
              </a:rPr>
              <a:pPr algn="ctr" eaLnBrk="0" hangingPunct="0"/>
              <a:t>‹#›</a:t>
            </a:fld>
            <a:r>
              <a:rPr lang="en-GB" altLang="en-US" sz="1200" b="1">
                <a:ea typeface="黑体" pitchFamily="2" charset="-122"/>
              </a:rPr>
              <a:t>-</a:t>
            </a:r>
            <a:endParaRPr lang="en-US" altLang="zh-CN" sz="1200" b="1">
              <a:ea typeface="黑体" pitchFamily="2" charset="-122"/>
            </a:endParaRPr>
          </a:p>
        </p:txBody>
      </p:sp>
      <p:pic>
        <p:nvPicPr>
          <p:cNvPr id="1028" name="Picture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740650" cy="627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93663" y="86916"/>
            <a:ext cx="7573962" cy="432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pic>
        <p:nvPicPr>
          <p:cNvPr id="1030" name="Picture 8" descr="武汉天喻LOGO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1" y="134541"/>
            <a:ext cx="771525" cy="436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 New Roman" pitchFamily="18" charset="0"/>
          <a:ea typeface="华文细黑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 New Roman" pitchFamily="18" charset="0"/>
          <a:ea typeface="华文细黑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 New Roman" pitchFamily="18" charset="0"/>
          <a:ea typeface="华文细黑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 New Roman" pitchFamily="18" charset="0"/>
          <a:ea typeface="华文细黑" pitchFamily="2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 New Roman" pitchFamily="18" charset="0"/>
          <a:ea typeface="华文细黑" pitchFamily="2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 New Roman" pitchFamily="18" charset="0"/>
          <a:ea typeface="华文细黑" pitchFamily="2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 New Roman" pitchFamily="18" charset="0"/>
          <a:ea typeface="华文细黑" pitchFamily="2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Times New Roman" pitchFamily="18" charset="0"/>
          <a:ea typeface="华文细黑" pitchFamily="2" charset="-122"/>
        </a:defRPr>
      </a:lvl9pPr>
    </p:titleStyle>
    <p:bodyStyle>
      <a:lvl1pPr marL="182563" indent="-182563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Font typeface="Wingdings" pitchFamily="2" charset="2"/>
        <a:buChar char="²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534988" indent="-173038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Font typeface="Arial" charset="0"/>
        <a:buChar char="−"/>
        <a:defRPr sz="2000" b="1">
          <a:solidFill>
            <a:schemeClr val="tx1"/>
          </a:solidFill>
          <a:latin typeface="+mn-lt"/>
          <a:ea typeface="+mn-ea"/>
        </a:defRPr>
      </a:lvl2pPr>
      <a:lvl3pPr marL="901700" indent="-182563" algn="l" rtl="0" eaLnBrk="0" fontAlgn="base" hangingPunct="0">
        <a:lnSpc>
          <a:spcPct val="125000"/>
        </a:lnSpc>
        <a:spcBef>
          <a:spcPct val="20000"/>
        </a:spcBef>
        <a:spcAft>
          <a:spcPct val="0"/>
        </a:spcAft>
        <a:buChar char="•"/>
        <a:defRPr sz="1600" b="1">
          <a:solidFill>
            <a:schemeClr val="tx1"/>
          </a:solidFill>
          <a:latin typeface="+mn-lt"/>
          <a:ea typeface="+mn-ea"/>
        </a:defRPr>
      </a:lvl3pPr>
      <a:lvl4pPr marL="1633538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Verdana" pitchFamily="34" charset="0"/>
          <a:ea typeface="宋体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34" charset="0"/>
          <a:ea typeface="宋体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34" charset="0"/>
          <a:ea typeface="宋体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34" charset="0"/>
          <a:ea typeface="宋体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34" charset="0"/>
          <a:ea typeface="宋体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Verdana" pitchFamily="34" charset="0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7" Type="http://schemas.openxmlformats.org/officeDocument/2006/relationships/image" Target="../media/image10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gif"/><Relationship Id="rId5" Type="http://schemas.openxmlformats.org/officeDocument/2006/relationships/image" Target="../media/image8.gif"/><Relationship Id="rId4" Type="http://schemas.openxmlformats.org/officeDocument/2006/relationships/image" Target="../media/image7.g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cn2.php.net/manual/en/book.mongo.php" TargetMode="Externa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ongodb.org/display/DOCS/Geospatial+Indexing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://baike.baidu.com/view/1499209.htm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cn2.php.net/manual/en/book.mongo.php" TargetMode="External"/><Relationship Id="rId2" Type="http://schemas.openxmlformats.org/officeDocument/2006/relationships/hyperlink" Target="http://www.mongodb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oschina.net/news/29715/mongodb-2-0-6" TargetMode="External"/><Relationship Id="rId4" Type="http://schemas.openxmlformats.org/officeDocument/2006/relationships/hyperlink" Target="http://www.10ge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ChangeArrowheads="1"/>
          </p:cNvSpPr>
          <p:nvPr/>
        </p:nvSpPr>
        <p:spPr bwMode="auto">
          <a:xfrm>
            <a:off x="1470025" y="4000500"/>
            <a:ext cx="64008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lnSpc>
                <a:spcPct val="125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zh-CN" altLang="en-US" b="1" dirty="0">
                <a:solidFill>
                  <a:schemeClr val="bg2"/>
                </a:solidFill>
                <a:latin typeface="华文细黑" pitchFamily="2" charset="-122"/>
                <a:ea typeface="华文细黑" pitchFamily="2" charset="-122"/>
              </a:rPr>
              <a:t>武汉天喻通讯技术</a:t>
            </a:r>
            <a:r>
              <a:rPr lang="zh-CN" altLang="en-US" b="1" dirty="0" smtClean="0">
                <a:solidFill>
                  <a:schemeClr val="bg2"/>
                </a:solidFill>
                <a:latin typeface="华文细黑" pitchFamily="2" charset="-122"/>
                <a:ea typeface="华文细黑" pitchFamily="2" charset="-122"/>
              </a:rPr>
              <a:t>有限公司  李文祥</a:t>
            </a:r>
            <a:endParaRPr lang="zh-CN" altLang="en-US" b="1" dirty="0">
              <a:solidFill>
                <a:schemeClr val="bg2"/>
              </a:solidFill>
              <a:latin typeface="华文细黑" pitchFamily="2" charset="-122"/>
              <a:ea typeface="华文细黑" pitchFamily="2" charset="-122"/>
            </a:endParaRPr>
          </a:p>
          <a:p>
            <a:pPr algn="ctr">
              <a:lnSpc>
                <a:spcPct val="125000"/>
              </a:lnSpc>
              <a:spcBef>
                <a:spcPct val="20000"/>
              </a:spcBef>
              <a:buFont typeface="Wingdings" pitchFamily="2" charset="2"/>
              <a:buNone/>
            </a:pPr>
            <a:r>
              <a:rPr lang="en-US" altLang="zh-CN" b="1" dirty="0" smtClean="0">
                <a:solidFill>
                  <a:schemeClr val="bg2"/>
                </a:solidFill>
                <a:latin typeface="华文细黑" pitchFamily="2" charset="-122"/>
                <a:ea typeface="华文细黑" pitchFamily="2" charset="-122"/>
              </a:rPr>
              <a:t>2012</a:t>
            </a:r>
            <a:r>
              <a:rPr lang="zh-CN" altLang="en-US" b="1" dirty="0" smtClean="0">
                <a:solidFill>
                  <a:schemeClr val="bg2"/>
                </a:solidFill>
                <a:latin typeface="华文细黑" pitchFamily="2" charset="-122"/>
                <a:ea typeface="华文细黑" pitchFamily="2" charset="-122"/>
              </a:rPr>
              <a:t>年</a:t>
            </a:r>
            <a:r>
              <a:rPr lang="en-US" altLang="zh-CN" b="1" dirty="0" smtClean="0">
                <a:solidFill>
                  <a:schemeClr val="bg2"/>
                </a:solidFill>
                <a:latin typeface="华文细黑" pitchFamily="2" charset="-122"/>
                <a:ea typeface="华文细黑" pitchFamily="2" charset="-122"/>
              </a:rPr>
              <a:t>6</a:t>
            </a:r>
            <a:r>
              <a:rPr lang="zh-CN" altLang="en-US" b="1" dirty="0" smtClean="0">
                <a:solidFill>
                  <a:schemeClr val="bg2"/>
                </a:solidFill>
                <a:latin typeface="华文细黑" pitchFamily="2" charset="-122"/>
                <a:ea typeface="华文细黑" pitchFamily="2" charset="-122"/>
              </a:rPr>
              <a:t>月</a:t>
            </a:r>
            <a:endParaRPr lang="zh-CN" altLang="en-US" b="1" dirty="0">
              <a:solidFill>
                <a:schemeClr val="bg2"/>
              </a:solidFill>
              <a:latin typeface="华文细黑" pitchFamily="2" charset="-122"/>
              <a:ea typeface="华文细黑" pitchFamily="2" charset="-122"/>
            </a:endParaRPr>
          </a:p>
        </p:txBody>
      </p:sp>
      <p:sp>
        <p:nvSpPr>
          <p:cNvPr id="2051" name="Text Box 8"/>
          <p:cNvSpPr txBox="1">
            <a:spLocks noChangeArrowheads="1"/>
          </p:cNvSpPr>
          <p:nvPr/>
        </p:nvSpPr>
        <p:spPr bwMode="auto">
          <a:xfrm>
            <a:off x="3254943" y="2162961"/>
            <a:ext cx="5867246" cy="58477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007A5C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ctr" eaLnBrk="1" hangingPunct="1"/>
            <a:r>
              <a:rPr lang="zh-CN" altLang="en-US" sz="32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华文细黑" pitchFamily="2" charset="-122"/>
              </a:rPr>
              <a:t>初  识</a:t>
            </a:r>
            <a:endParaRPr lang="zh-CN" altLang="en-US" sz="3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华文细黑" pitchFamily="2" charset="-122"/>
            </a:endParaRPr>
          </a:p>
        </p:txBody>
      </p:sp>
      <p:pic>
        <p:nvPicPr>
          <p:cNvPr id="2052" name="Picture 1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534" y="228054"/>
            <a:ext cx="1905000" cy="877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 descr="http://pic002.cnblogs.com/img/dudu/201003/201003081736444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98" y="1449379"/>
            <a:ext cx="4273550" cy="142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3200" dirty="0">
                <a:solidFill>
                  <a:srgbClr val="0070C0"/>
                </a:solidFill>
              </a:rPr>
              <a:t>第</a:t>
            </a:r>
            <a:r>
              <a:rPr lang="zh-CN" altLang="en-US" sz="3200" dirty="0" smtClean="0">
                <a:solidFill>
                  <a:srgbClr val="0070C0"/>
                </a:solidFill>
              </a:rPr>
              <a:t>一部分  </a:t>
            </a:r>
            <a:r>
              <a:rPr lang="en-US" altLang="zh-CN" sz="3200" dirty="0" err="1" smtClean="0">
                <a:solidFill>
                  <a:srgbClr val="0070C0"/>
                </a:solidFill>
              </a:rPr>
              <a:t>MongoDB</a:t>
            </a:r>
            <a:r>
              <a:rPr lang="zh-CN" altLang="en-US" sz="3200" dirty="0" smtClean="0">
                <a:solidFill>
                  <a:srgbClr val="0070C0"/>
                </a:solidFill>
              </a:rPr>
              <a:t>简介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23811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What’s </a:t>
            </a: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MongoDB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?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altLang="zh-CN" dirty="0" err="1" smtClean="0"/>
              <a:t>MongoDB</a:t>
            </a:r>
            <a:r>
              <a:rPr lang="en-US" altLang="zh-CN" dirty="0" smtClean="0"/>
              <a:t>  is a </a:t>
            </a:r>
            <a:r>
              <a:rPr lang="en-US" altLang="zh-CN" dirty="0" smtClean="0">
                <a:solidFill>
                  <a:srgbClr val="00B050"/>
                </a:solidFill>
              </a:rPr>
              <a:t>scalable</a:t>
            </a:r>
            <a:r>
              <a:rPr lang="en-US" altLang="zh-CN" dirty="0" smtClean="0"/>
              <a:t>, </a:t>
            </a:r>
            <a:r>
              <a:rPr lang="en-US" altLang="zh-CN" dirty="0" smtClean="0">
                <a:solidFill>
                  <a:srgbClr val="C00000"/>
                </a:solidFill>
              </a:rPr>
              <a:t>high-performance</a:t>
            </a:r>
            <a:r>
              <a:rPr lang="en-US" altLang="zh-CN" dirty="0" smtClean="0"/>
              <a:t>, </a:t>
            </a:r>
            <a:r>
              <a:rPr lang="en-US" altLang="zh-CN" dirty="0" smtClean="0">
                <a:solidFill>
                  <a:srgbClr val="00B0F0"/>
                </a:solidFill>
              </a:rPr>
              <a:t>open source</a:t>
            </a:r>
            <a:r>
              <a:rPr lang="en-US" altLang="zh-CN" dirty="0" smtClean="0"/>
              <a:t> </a:t>
            </a:r>
            <a:r>
              <a:rPr lang="en-US" altLang="zh-CN" dirty="0" err="1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NoSQL</a:t>
            </a:r>
            <a:r>
              <a:rPr lang="en-US" altLang="zh-CN" dirty="0" smtClean="0"/>
              <a:t> database. Written in </a:t>
            </a:r>
            <a:r>
              <a:rPr lang="en-US" altLang="zh-CN" dirty="0" smtClean="0">
                <a:solidFill>
                  <a:srgbClr val="7030A0"/>
                </a:solidFill>
              </a:rPr>
              <a:t>C++</a:t>
            </a:r>
          </a:p>
          <a:p>
            <a:pPr marL="0" indent="0">
              <a:lnSpc>
                <a:spcPct val="150000"/>
              </a:lnSpc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9071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 bwMode="auto">
          <a:xfrm>
            <a:off x="489937" y="2419354"/>
            <a:ext cx="8153186" cy="205734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itchFamily="34" charset="0"/>
                <a:ea typeface="宋体" pitchFamily="2" charset="-122"/>
              </a:rPr>
              <a:t>应用场景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489939" y="895394"/>
            <a:ext cx="8153186" cy="12191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itchFamily="34" charset="0"/>
                <a:ea typeface="宋体" pitchFamily="2" charset="-122"/>
              </a:rPr>
              <a:t>特性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NoSQL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(Not Only </a:t>
            </a: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矩形 3"/>
          <p:cNvSpPr/>
          <p:nvPr/>
        </p:nvSpPr>
        <p:spPr>
          <a:xfrm>
            <a:off x="6515049" y="1324149"/>
            <a:ext cx="1752554" cy="461665"/>
          </a:xfrm>
          <a:prstGeom prst="rect">
            <a:avLst/>
          </a:prstGeom>
          <a:solidFill>
            <a:srgbClr val="FF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dirty="0" smtClean="0"/>
              <a:t>水平可扩展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048040" y="1332501"/>
            <a:ext cx="892561" cy="461665"/>
          </a:xfrm>
          <a:prstGeom prst="rect">
            <a:avLst/>
          </a:prstGeom>
          <a:solidFill>
            <a:srgbClr val="339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dirty="0" smtClean="0"/>
              <a:t>开源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648198" y="1332500"/>
            <a:ext cx="1295358" cy="461665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dirty="0" smtClean="0"/>
              <a:t>分布式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919940" y="1332502"/>
            <a:ext cx="1447762" cy="461665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81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dirty="0" smtClean="0"/>
              <a:t>非关系型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409783" y="3777214"/>
            <a:ext cx="1447762" cy="461665"/>
          </a:xfrm>
          <a:prstGeom prst="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81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dirty="0" smtClean="0"/>
              <a:t>模式自由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985391" y="3031176"/>
            <a:ext cx="2073595" cy="461665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dirty="0"/>
              <a:t>支持简易复制</a:t>
            </a:r>
          </a:p>
        </p:txBody>
      </p:sp>
      <p:sp>
        <p:nvSpPr>
          <p:cNvPr id="14" name="矩形 13"/>
          <p:cNvSpPr/>
          <p:nvPr/>
        </p:nvSpPr>
        <p:spPr>
          <a:xfrm>
            <a:off x="4191006" y="3777213"/>
            <a:ext cx="1752550" cy="461665"/>
          </a:xfrm>
          <a:prstGeom prst="rect">
            <a:avLst/>
          </a:prstGeom>
          <a:solidFill>
            <a:srgbClr val="0E118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dirty="0" smtClean="0"/>
              <a:t>简单的</a:t>
            </a:r>
            <a:r>
              <a:rPr lang="en-US" altLang="zh-CN" dirty="0" smtClean="0"/>
              <a:t>API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515049" y="2724145"/>
            <a:ext cx="2041029" cy="830997"/>
          </a:xfrm>
          <a:prstGeom prst="rect">
            <a:avLst/>
          </a:prstGeom>
          <a:solidFill>
            <a:srgbClr val="339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dirty="0"/>
              <a:t>最终的一致性（非</a:t>
            </a:r>
            <a:r>
              <a:rPr lang="en-US" altLang="zh-CN" dirty="0"/>
              <a:t>ACID</a:t>
            </a:r>
            <a:r>
              <a:rPr lang="zh-CN" altLang="en-US" dirty="0"/>
              <a:t>）</a:t>
            </a:r>
          </a:p>
        </p:txBody>
      </p:sp>
      <p:sp>
        <p:nvSpPr>
          <p:cNvPr id="16" name="矩形 15"/>
          <p:cNvSpPr/>
          <p:nvPr/>
        </p:nvSpPr>
        <p:spPr>
          <a:xfrm>
            <a:off x="3789872" y="2800344"/>
            <a:ext cx="1723549" cy="461665"/>
          </a:xfrm>
          <a:prstGeom prst="rect">
            <a:avLst/>
          </a:prstGeom>
          <a:solidFill>
            <a:srgbClr val="FF9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dirty="0"/>
              <a:t>大容量数据</a:t>
            </a:r>
          </a:p>
        </p:txBody>
      </p:sp>
    </p:spTree>
    <p:extLst>
      <p:ext uri="{BB962C8B-B14F-4D97-AF65-F5344CB8AC3E}">
        <p14:creationId xmlns:p14="http://schemas.microsoft.com/office/powerpoint/2010/main" val="398217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4" grpId="0" animBg="1"/>
      <p:bldP spid="5" grpId="0" animBg="1"/>
      <p:bldP spid="6" grpId="0" animBg="1"/>
      <p:bldP spid="7" grpId="0" animBg="1"/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常见的 </a:t>
            </a: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NoSQL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150" name="Picture 6" descr="http://www.oschina.net/uploads/img/200906/22101526_NcI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603" y="1336201"/>
            <a:ext cx="2563812" cy="939801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pic>
      <p:pic>
        <p:nvPicPr>
          <p:cNvPr id="6152" name="Picture 8" descr="http://www.oschina.net/img/logo/memcached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24" y="2893398"/>
            <a:ext cx="768350" cy="768350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pic>
      <p:grpSp>
        <p:nvGrpSpPr>
          <p:cNvPr id="17" name="组合 16"/>
          <p:cNvGrpSpPr/>
          <p:nvPr/>
        </p:nvGrpSpPr>
        <p:grpSpPr>
          <a:xfrm>
            <a:off x="5207671" y="1242857"/>
            <a:ext cx="1066772" cy="1126488"/>
            <a:chOff x="4952990" y="1064272"/>
            <a:chExt cx="1066772" cy="1126488"/>
          </a:xfrm>
        </p:grpSpPr>
        <p:pic>
          <p:nvPicPr>
            <p:cNvPr id="6154" name="Picture 10" descr="http://www.oschina.net/img/logo/cassandra.gif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1813" y="1064272"/>
              <a:ext cx="768350" cy="768350"/>
            </a:xfrm>
            <a:prstGeom prst="rect">
              <a:avLst/>
            </a:prstGeom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</p:pic>
        <p:sp>
          <p:nvSpPr>
            <p:cNvPr id="3" name="TextBox 2"/>
            <p:cNvSpPr txBox="1"/>
            <p:nvPr/>
          </p:nvSpPr>
          <p:spPr>
            <a:xfrm>
              <a:off x="4952990" y="1913761"/>
              <a:ext cx="10667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Cassandra</a:t>
              </a:r>
              <a:endParaRPr lang="en-US" altLang="zh-CN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pic>
        <p:nvPicPr>
          <p:cNvPr id="6156" name="Picture 12" descr="http://www.oschina.net/img/logo/couchd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030" y="1909421"/>
            <a:ext cx="967078" cy="967078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</p:pic>
      <p:pic>
        <p:nvPicPr>
          <p:cNvPr id="6158" name="Picture 14" descr="http://www.oschina.net/img/logo/redis.gif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5129" y="3784548"/>
            <a:ext cx="768350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0" name="Picture 16" descr="http://www.oschina.net/img/logo/mongodb.gi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9109" y="2921183"/>
            <a:ext cx="768350" cy="76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矩形 12"/>
          <p:cNvSpPr/>
          <p:nvPr/>
        </p:nvSpPr>
        <p:spPr>
          <a:xfrm>
            <a:off x="6451763" y="3707058"/>
            <a:ext cx="1013419" cy="707886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r>
              <a:rPr lang="en-US" altLang="zh-CN" sz="40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Tair</a:t>
            </a:r>
            <a:endParaRPr lang="en-US" altLang="zh-CN" sz="4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0164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318" y="57216"/>
            <a:ext cx="8229600" cy="537019"/>
          </a:xfrm>
        </p:spPr>
        <p:txBody>
          <a:bodyPr/>
          <a:lstStyle/>
          <a:p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应用为什么用 </a:t>
            </a: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NoSQL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</p:nvPr>
        </p:nvSpPr>
        <p:spPr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需求三高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half" idx="2"/>
          </p:nvPr>
        </p:nvSpPr>
        <p:spPr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>
            <a:normAutofit lnSpcReduction="10000"/>
          </a:bodyPr>
          <a:lstStyle/>
          <a:p>
            <a:r>
              <a:rPr lang="en-US" altLang="zh-CN" dirty="0" smtClean="0"/>
              <a:t>High </a:t>
            </a:r>
            <a:r>
              <a:rPr lang="en-US" altLang="zh-CN" dirty="0"/>
              <a:t>performance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1400" dirty="0"/>
              <a:t> </a:t>
            </a:r>
            <a:r>
              <a:rPr lang="en-US" altLang="zh-CN" sz="1400" dirty="0" smtClean="0"/>
              <a:t>      </a:t>
            </a:r>
            <a:r>
              <a:rPr lang="zh-CN" altLang="en-US" sz="1400" dirty="0" smtClean="0"/>
              <a:t>对</a:t>
            </a:r>
            <a:r>
              <a:rPr lang="zh-CN" altLang="en-US" sz="1400" dirty="0"/>
              <a:t>数据库高并发读写的</a:t>
            </a:r>
            <a:r>
              <a:rPr lang="zh-CN" altLang="en-US" sz="1400" dirty="0" smtClean="0"/>
              <a:t>需求</a:t>
            </a:r>
            <a:endParaRPr lang="en-US" altLang="zh-CN" sz="1400" dirty="0" smtClean="0"/>
          </a:p>
          <a:p>
            <a:r>
              <a:rPr lang="en-US" altLang="zh-CN" dirty="0" smtClean="0"/>
              <a:t>Huge Storage</a:t>
            </a:r>
          </a:p>
          <a:p>
            <a:pPr marL="0" indent="0">
              <a:buNone/>
            </a:pPr>
            <a:r>
              <a:rPr lang="en-US" altLang="zh-CN" sz="1200" dirty="0" smtClean="0"/>
              <a:t>        </a:t>
            </a:r>
            <a:r>
              <a:rPr lang="zh-CN" altLang="en-US" sz="1400" dirty="0" smtClean="0"/>
              <a:t>对</a:t>
            </a:r>
            <a:r>
              <a:rPr lang="zh-CN" altLang="en-US" sz="1400" dirty="0"/>
              <a:t>海量数据的高效率存储和访问的</a:t>
            </a:r>
            <a:r>
              <a:rPr lang="zh-CN" altLang="en-US" sz="1400" dirty="0" smtClean="0"/>
              <a:t>需求</a:t>
            </a:r>
            <a:endParaRPr lang="en-US" altLang="zh-CN" sz="1400" dirty="0" smtClean="0"/>
          </a:p>
          <a:p>
            <a:r>
              <a:rPr lang="en-US" altLang="zh-CN" dirty="0" smtClean="0"/>
              <a:t>High </a:t>
            </a:r>
            <a:r>
              <a:rPr lang="en-US" altLang="zh-CN" dirty="0"/>
              <a:t>Scalability &amp;&amp; High Availability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sz="1500" dirty="0" smtClean="0"/>
              <a:t> </a:t>
            </a:r>
            <a:r>
              <a:rPr lang="zh-CN" altLang="en-US" sz="1500" dirty="0"/>
              <a:t>对数据库的高可扩展性和高可用性的需求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3"/>
          </p:nvPr>
        </p:nvSpPr>
        <p:spPr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RDBMS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部分特性无用武之地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sz="quarter" idx="4"/>
          </p:nvPr>
        </p:nvSpPr>
        <p:spPr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r>
              <a:rPr lang="zh-CN" altLang="en-US" dirty="0" smtClean="0"/>
              <a:t>数据库</a:t>
            </a:r>
            <a:r>
              <a:rPr lang="zh-CN" altLang="en-US" dirty="0"/>
              <a:t>事务</a:t>
            </a:r>
            <a:r>
              <a:rPr lang="zh-CN" altLang="en-US" dirty="0" smtClean="0"/>
              <a:t>一致性需求</a:t>
            </a:r>
            <a:endParaRPr lang="en-US" altLang="zh-CN" dirty="0" smtClean="0"/>
          </a:p>
          <a:p>
            <a:r>
              <a:rPr lang="zh-CN" altLang="en-US" dirty="0" smtClean="0"/>
              <a:t>数据库</a:t>
            </a:r>
            <a:r>
              <a:rPr lang="zh-CN" altLang="en-US" dirty="0"/>
              <a:t>的写实时性和读实时性</a:t>
            </a:r>
            <a:r>
              <a:rPr lang="zh-CN" altLang="en-US" dirty="0" smtClean="0"/>
              <a:t>需求</a:t>
            </a:r>
            <a:endParaRPr lang="en-US" altLang="zh-CN" dirty="0" smtClean="0"/>
          </a:p>
          <a:p>
            <a:r>
              <a:rPr lang="zh-CN" altLang="en-US" dirty="0" smtClean="0"/>
              <a:t>对</a:t>
            </a:r>
            <a:r>
              <a:rPr lang="zh-CN" altLang="en-US" dirty="0"/>
              <a:t>复杂的</a:t>
            </a:r>
            <a:r>
              <a:rPr lang="en-US" altLang="zh-CN" dirty="0" smtClean="0"/>
              <a:t>SQL </a:t>
            </a:r>
            <a:r>
              <a:rPr lang="zh-CN" altLang="en-US" dirty="0" smtClean="0"/>
              <a:t>查询，特别是</a:t>
            </a:r>
            <a:r>
              <a:rPr lang="zh-CN" altLang="en-US" dirty="0"/>
              <a:t>多表关联查询的需求</a:t>
            </a:r>
          </a:p>
        </p:txBody>
      </p:sp>
    </p:spTree>
    <p:extLst>
      <p:ext uri="{BB962C8B-B14F-4D97-AF65-F5344CB8AC3E}">
        <p14:creationId xmlns:p14="http://schemas.microsoft.com/office/powerpoint/2010/main" val="308031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NoSQL</a:t>
            </a:r>
            <a:r>
              <a:rPr lang="zh-CN" altLang="en-US" dirty="0" smtClean="0"/>
              <a:t>特点总结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zh-CN" altLang="en-US" dirty="0" smtClean="0"/>
              <a:t>超大量的数据的处理</a:t>
            </a:r>
            <a:endParaRPr lang="en-US" altLang="zh-CN" dirty="0" smtClean="0"/>
          </a:p>
          <a:p>
            <a:r>
              <a:rPr lang="zh-CN" altLang="en-US" dirty="0" smtClean="0"/>
              <a:t>服务器硬件从专用服务器向</a:t>
            </a:r>
            <a:r>
              <a:rPr lang="en-US" altLang="zh-CN" dirty="0" smtClean="0"/>
              <a:t>PC</a:t>
            </a:r>
            <a:r>
              <a:rPr lang="zh-CN" altLang="en-US" dirty="0" smtClean="0"/>
              <a:t>平民化</a:t>
            </a:r>
            <a:endParaRPr lang="en-US" altLang="zh-CN" dirty="0" smtClean="0"/>
          </a:p>
          <a:p>
            <a:r>
              <a:rPr lang="zh-CN" altLang="en-US" dirty="0" smtClean="0"/>
              <a:t>解决了性能瓶颈</a:t>
            </a:r>
            <a:endParaRPr lang="en-US" altLang="zh-CN" dirty="0" smtClean="0"/>
          </a:p>
          <a:p>
            <a:r>
              <a:rPr lang="zh-CN" altLang="en-US" dirty="0" smtClean="0"/>
              <a:t>简单的操作</a:t>
            </a:r>
            <a:endParaRPr lang="en-US" altLang="zh-CN" dirty="0" smtClean="0"/>
          </a:p>
          <a:p>
            <a:r>
              <a:rPr lang="zh-CN" altLang="en-US" dirty="0" smtClean="0"/>
              <a:t>活跃的开源社区支持者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4076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MongoDB’s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Features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txBody>
          <a:bodyPr anchor="ctr"/>
          <a:lstStyle/>
          <a:p>
            <a:r>
              <a:rPr lang="zh-CN" altLang="en-US" b="0" dirty="0"/>
              <a:t>面向文档</a:t>
            </a:r>
            <a:r>
              <a:rPr lang="zh-CN" altLang="en-US" b="0" dirty="0" smtClean="0"/>
              <a:t>存储</a:t>
            </a:r>
            <a:endParaRPr lang="en-US" altLang="zh-CN" b="0" dirty="0" smtClean="0"/>
          </a:p>
          <a:p>
            <a:r>
              <a:rPr lang="zh-CN" altLang="en-US" b="0" dirty="0"/>
              <a:t>完整的索引</a:t>
            </a:r>
            <a:r>
              <a:rPr lang="zh-CN" altLang="en-US" b="0" dirty="0" smtClean="0"/>
              <a:t>支持</a:t>
            </a:r>
            <a:endParaRPr lang="en-US" altLang="zh-CN" dirty="0" smtClean="0"/>
          </a:p>
          <a:p>
            <a:r>
              <a:rPr lang="zh-CN" altLang="en-US" b="0" dirty="0"/>
              <a:t>支持复制和故障</a:t>
            </a:r>
            <a:r>
              <a:rPr lang="zh-CN" altLang="en-US" b="0" dirty="0" smtClean="0"/>
              <a:t>恢复</a:t>
            </a:r>
            <a:endParaRPr lang="en-US" altLang="zh-CN" b="0" dirty="0" smtClean="0"/>
          </a:p>
          <a:p>
            <a:r>
              <a:rPr lang="zh-CN" altLang="en-US" b="0" dirty="0" smtClean="0"/>
              <a:t>易扩展</a:t>
            </a:r>
            <a:endParaRPr lang="zh-CN" altLang="en-US" b="0" dirty="0"/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r>
              <a:rPr lang="zh-CN" altLang="en-US" b="0" dirty="0" smtClean="0"/>
              <a:t>模式自由</a:t>
            </a:r>
            <a:endParaRPr lang="en-US" altLang="zh-CN" b="0" dirty="0" smtClean="0"/>
          </a:p>
          <a:p>
            <a:r>
              <a:rPr lang="zh-CN" altLang="en-US" b="0" dirty="0" smtClean="0"/>
              <a:t>可自由更新数据结构</a:t>
            </a:r>
            <a:endParaRPr lang="en-US" altLang="zh-CN" b="0" dirty="0" smtClean="0"/>
          </a:p>
          <a:p>
            <a:r>
              <a:rPr lang="zh-CN" altLang="en-US" b="0" dirty="0" smtClean="0"/>
              <a:t>支持</a:t>
            </a:r>
            <a:r>
              <a:rPr lang="en-US" altLang="zh-CN" b="0" dirty="0" smtClean="0"/>
              <a:t>Map </a:t>
            </a:r>
            <a:r>
              <a:rPr lang="en-US" altLang="zh-CN" b="0" dirty="0"/>
              <a:t>/ </a:t>
            </a:r>
            <a:r>
              <a:rPr lang="en-US" altLang="zh-CN" b="0" dirty="0" smtClean="0"/>
              <a:t>Reduce</a:t>
            </a:r>
          </a:p>
          <a:p>
            <a:r>
              <a:rPr lang="en-US" altLang="zh-CN" b="0" dirty="0" err="1" smtClean="0"/>
              <a:t>GridFS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575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关于</a:t>
            </a: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MongoDB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的一些概念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dirty="0" smtClean="0"/>
              <a:t>模式自由</a:t>
            </a:r>
            <a:r>
              <a:rPr lang="zh-CN" altLang="en-US" sz="2400" dirty="0"/>
              <a:t>（</a:t>
            </a:r>
            <a:r>
              <a:rPr lang="en-US" altLang="zh-CN" sz="2400" dirty="0" smtClean="0"/>
              <a:t>schema-free</a:t>
            </a:r>
            <a:r>
              <a:rPr lang="en-US" altLang="zh-CN" sz="2400" dirty="0"/>
              <a:t>) </a:t>
            </a:r>
            <a:endParaRPr lang="en-US" altLang="zh-CN" sz="2400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2400" dirty="0" smtClean="0"/>
              <a:t>面向文档</a:t>
            </a:r>
            <a:endParaRPr lang="en-US" altLang="zh-CN" sz="2400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 smtClean="0"/>
              <a:t>Key/Value</a:t>
            </a:r>
            <a:r>
              <a:rPr lang="zh-CN" altLang="en-US" sz="1600" dirty="0" smtClean="0"/>
              <a:t>集合</a:t>
            </a:r>
            <a:endParaRPr lang="en-US" altLang="zh-CN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en-US" altLang="zh-CN" sz="1600" dirty="0" smtClean="0"/>
              <a:t>JSON</a:t>
            </a:r>
            <a:r>
              <a:rPr lang="zh-CN" altLang="en-US" sz="1600" dirty="0" smtClean="0"/>
              <a:t>格式的扩展“</a:t>
            </a:r>
            <a:r>
              <a:rPr lang="en-US" altLang="zh-CN" sz="1600" dirty="0" smtClean="0"/>
              <a:t>BSON”</a:t>
            </a:r>
          </a:p>
          <a:p>
            <a:pPr marL="0" indent="0">
              <a:buNone/>
            </a:pPr>
            <a:r>
              <a:rPr lang="zh-CN" altLang="en-US" sz="1600" dirty="0" smtClean="0"/>
              <a:t> </a:t>
            </a:r>
            <a:r>
              <a:rPr lang="en-US" altLang="zh-CN" sz="1600" dirty="0" smtClean="0"/>
              <a:t>Binary </a:t>
            </a:r>
            <a:r>
              <a:rPr lang="en-US" altLang="zh-CN" sz="1600" dirty="0"/>
              <a:t>Serialized </a:t>
            </a:r>
            <a:r>
              <a:rPr lang="en-US" altLang="zh-CN" sz="1600" dirty="0" smtClean="0"/>
              <a:t>Document  Notation</a:t>
            </a:r>
            <a:endParaRPr lang="zh-CN" altLang="en-US" sz="1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912" y="1809770"/>
            <a:ext cx="2427287" cy="573087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022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Box 9"/>
          <p:cNvSpPr txBox="1">
            <a:spLocks noChangeArrowheads="1"/>
          </p:cNvSpPr>
          <p:nvPr/>
        </p:nvSpPr>
        <p:spPr bwMode="auto">
          <a:xfrm>
            <a:off x="457200" y="949325"/>
            <a:ext cx="8208963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54013" indent="-354013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9pPr>
          </a:lstStyle>
          <a:p>
            <a:endParaRPr lang="en-US" altLang="zh-CN" sz="1600"/>
          </a:p>
          <a:p>
            <a:r>
              <a:rPr lang="en-US" altLang="zh-CN" sz="1600"/>
              <a:t>   </a:t>
            </a:r>
            <a:endParaRPr lang="zh-CN" altLang="en-US" sz="1600"/>
          </a:p>
          <a:p>
            <a:endParaRPr lang="en-US" altLang="zh-CN" sz="1600"/>
          </a:p>
          <a:p>
            <a:endParaRPr lang="zh-CN" altLang="en-US" sz="1600"/>
          </a:p>
          <a:p>
            <a:endParaRPr lang="zh-CN" altLang="en-US" sz="1600"/>
          </a:p>
          <a:p>
            <a:pPr eaLnBrk="1" hangingPunct="1">
              <a:lnSpc>
                <a:spcPct val="110000"/>
              </a:lnSpc>
              <a:buFont typeface="Arial" charset="0"/>
              <a:buChar char="&gt;"/>
            </a:pPr>
            <a:endParaRPr lang="en-US" altLang="zh-CN" sz="1600">
              <a:latin typeface="微软雅黑" pitchFamily="34" charset="-122"/>
            </a:endParaRPr>
          </a:p>
        </p:txBody>
      </p:sp>
      <p:sp>
        <p:nvSpPr>
          <p:cNvPr id="5124" name="Rectangle 7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MongoDB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工作方式</a:t>
            </a:r>
          </a:p>
        </p:txBody>
      </p:sp>
      <p:sp>
        <p:nvSpPr>
          <p:cNvPr id="5" name="矩形 4"/>
          <p:cNvSpPr/>
          <p:nvPr/>
        </p:nvSpPr>
        <p:spPr>
          <a:xfrm>
            <a:off x="209550" y="958850"/>
            <a:ext cx="8739188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600" dirty="0">
                <a:latin typeface="微软雅黑" pitchFamily="34" charset="-122"/>
              </a:rPr>
              <a:t>传统的关系数据库一般由数据库</a:t>
            </a:r>
            <a:r>
              <a:rPr lang="en-US" altLang="zh-CN" sz="1600" dirty="0">
                <a:latin typeface="微软雅黑" pitchFamily="34" charset="-122"/>
              </a:rPr>
              <a:t>(database)</a:t>
            </a:r>
            <a:r>
              <a:rPr lang="zh-CN" altLang="en-US" sz="1600" dirty="0">
                <a:latin typeface="微软雅黑" pitchFamily="34" charset="-122"/>
              </a:rPr>
              <a:t>、表</a:t>
            </a:r>
            <a:r>
              <a:rPr lang="en-US" altLang="zh-CN" sz="1600" dirty="0">
                <a:latin typeface="微软雅黑" pitchFamily="34" charset="-122"/>
              </a:rPr>
              <a:t>(table)</a:t>
            </a:r>
            <a:r>
              <a:rPr lang="zh-CN" altLang="en-US" sz="1600" dirty="0">
                <a:latin typeface="微软雅黑" pitchFamily="34" charset="-122"/>
              </a:rPr>
              <a:t>、记录</a:t>
            </a:r>
            <a:r>
              <a:rPr lang="en-US" altLang="zh-CN" sz="1600" dirty="0">
                <a:latin typeface="微软雅黑" pitchFamily="34" charset="-122"/>
              </a:rPr>
              <a:t>(record)</a:t>
            </a:r>
            <a:r>
              <a:rPr lang="zh-CN" altLang="en-US" sz="1600" dirty="0">
                <a:latin typeface="微软雅黑" pitchFamily="34" charset="-122"/>
              </a:rPr>
              <a:t>三个层次概念组成，</a:t>
            </a:r>
            <a:r>
              <a:rPr lang="en-US" altLang="zh-CN" sz="1600" dirty="0">
                <a:latin typeface="微软雅黑" pitchFamily="34" charset="-122"/>
              </a:rPr>
              <a:t>MongoDB</a:t>
            </a:r>
            <a:r>
              <a:rPr lang="zh-CN" altLang="en-US" sz="1600" dirty="0">
                <a:latin typeface="微软雅黑" pitchFamily="34" charset="-122"/>
              </a:rPr>
              <a:t>同样也是由数据库</a:t>
            </a:r>
            <a:r>
              <a:rPr lang="en-US" altLang="zh-CN" sz="1600" dirty="0">
                <a:latin typeface="微软雅黑" pitchFamily="34" charset="-122"/>
              </a:rPr>
              <a:t>(database) </a:t>
            </a:r>
            <a:r>
              <a:rPr lang="zh-CN" altLang="en-US" sz="1600" dirty="0">
                <a:latin typeface="微软雅黑" pitchFamily="34" charset="-122"/>
              </a:rPr>
              <a:t>、集合</a:t>
            </a:r>
            <a:r>
              <a:rPr lang="en-US" altLang="zh-CN" sz="1600" dirty="0">
                <a:latin typeface="微软雅黑" pitchFamily="34" charset="-122"/>
              </a:rPr>
              <a:t>(collection)</a:t>
            </a:r>
            <a:r>
              <a:rPr lang="zh-CN" altLang="en-US" sz="1600" dirty="0">
                <a:latin typeface="微软雅黑" pitchFamily="34" charset="-122"/>
              </a:rPr>
              <a:t>、文档对象</a:t>
            </a:r>
            <a:r>
              <a:rPr lang="en-US" altLang="zh-CN" sz="1600" dirty="0">
                <a:latin typeface="微软雅黑" pitchFamily="34" charset="-122"/>
              </a:rPr>
              <a:t>(document)</a:t>
            </a:r>
            <a:r>
              <a:rPr lang="zh-CN" altLang="en-US" sz="1600" dirty="0">
                <a:latin typeface="微软雅黑" pitchFamily="34" charset="-122"/>
              </a:rPr>
              <a:t>三个层次组成。 </a:t>
            </a:r>
            <a:endParaRPr lang="en-US" altLang="zh-CN" sz="1600" dirty="0">
              <a:latin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en-US" altLang="zh-CN" sz="1600" dirty="0">
              <a:latin typeface="微软雅黑" pitchFamily="34" charset="-122"/>
            </a:endParaRPr>
          </a:p>
          <a:p>
            <a:pPr marL="354013" indent="-354013" eaLnBrk="0" hangingPunct="0">
              <a:lnSpc>
                <a:spcPct val="150000"/>
              </a:lnSpc>
              <a:defRPr/>
            </a:pPr>
            <a:r>
              <a:rPr lang="zh-CN" altLang="en-US" sz="1600" dirty="0">
                <a:latin typeface="微软雅黑" pitchFamily="34" charset="-122"/>
              </a:rPr>
              <a:t>文档  类似于</a:t>
            </a:r>
            <a:r>
              <a:rPr lang="en-US" altLang="zh-CN" sz="1600" dirty="0" err="1">
                <a:latin typeface="微软雅黑" pitchFamily="34" charset="-122"/>
              </a:rPr>
              <a:t>json</a:t>
            </a:r>
            <a:r>
              <a:rPr lang="zh-CN" altLang="en-US" sz="1600" dirty="0">
                <a:latin typeface="微软雅黑" pitchFamily="34" charset="-122"/>
              </a:rPr>
              <a:t>的键值对。</a:t>
            </a:r>
            <a:r>
              <a:rPr lang="en-US" altLang="zh-CN" sz="1600" dirty="0">
                <a:latin typeface="微软雅黑" pitchFamily="34" charset="-122"/>
              </a:rPr>
              <a:t>{“name”: ”</a:t>
            </a:r>
            <a:r>
              <a:rPr lang="en-US" altLang="zh-CN" sz="1600" dirty="0" err="1">
                <a:latin typeface="微软雅黑" pitchFamily="34" charset="-122"/>
              </a:rPr>
              <a:t>jone</a:t>
            </a:r>
            <a:r>
              <a:rPr lang="en-US" altLang="zh-CN" sz="1600" dirty="0">
                <a:latin typeface="微软雅黑" pitchFamily="34" charset="-122"/>
              </a:rPr>
              <a:t>”</a:t>
            </a:r>
            <a:r>
              <a:rPr lang="zh-CN" altLang="en-US" sz="1600" dirty="0">
                <a:latin typeface="微软雅黑" pitchFamily="34" charset="-122"/>
              </a:rPr>
              <a:t>，</a:t>
            </a:r>
            <a:r>
              <a:rPr lang="en-US" altLang="zh-CN" sz="1600" dirty="0">
                <a:latin typeface="微软雅黑" pitchFamily="34" charset="-122"/>
              </a:rPr>
              <a:t>”age”: 13}</a:t>
            </a:r>
          </a:p>
          <a:p>
            <a:pPr marL="354013" indent="-354013" eaLnBrk="0" hangingPunct="0">
              <a:lnSpc>
                <a:spcPct val="150000"/>
              </a:lnSpc>
              <a:defRPr/>
            </a:pPr>
            <a:r>
              <a:rPr lang="zh-CN" altLang="en-US" sz="1600" dirty="0">
                <a:latin typeface="微软雅黑" pitchFamily="34" charset="-122"/>
              </a:rPr>
              <a:t>集合  一组文档的集合。一个集合下的稳定无模式限制。</a:t>
            </a:r>
            <a:endParaRPr lang="en-US" altLang="zh-CN" sz="1600" dirty="0">
              <a:latin typeface="微软雅黑" pitchFamily="34" charset="-122"/>
            </a:endParaRPr>
          </a:p>
          <a:p>
            <a:pPr marL="354013" indent="-354013" eaLnBrk="0" hangingPunct="0">
              <a:lnSpc>
                <a:spcPct val="150000"/>
              </a:lnSpc>
              <a:defRPr/>
            </a:pPr>
            <a:endParaRPr lang="en-US" altLang="zh-CN" sz="1600" dirty="0">
              <a:latin typeface="微软雅黑" pitchFamily="34" charset="-122"/>
            </a:endParaRPr>
          </a:p>
          <a:p>
            <a:pPr marL="354013" indent="-354013" eaLnBrk="0" hangingPunct="0">
              <a:lnSpc>
                <a:spcPct val="150000"/>
              </a:lnSpc>
              <a:defRPr/>
            </a:pPr>
            <a:r>
              <a:rPr lang="zh-CN" altLang="en-US" sz="1600" b="1" dirty="0">
                <a:latin typeface="微软雅黑" pitchFamily="34" charset="-122"/>
              </a:rPr>
              <a:t>注意</a:t>
            </a:r>
            <a:r>
              <a:rPr lang="zh-CN" altLang="en-US" sz="1600" dirty="0">
                <a:latin typeface="微软雅黑" pitchFamily="34" charset="-122"/>
              </a:rPr>
              <a:t>：集合命名 不能为空，</a:t>
            </a:r>
            <a:r>
              <a:rPr lang="en-US" altLang="zh-CN" sz="1600" dirty="0">
                <a:latin typeface="微软雅黑" pitchFamily="34" charset="-122"/>
              </a:rPr>
              <a:t>\0</a:t>
            </a:r>
            <a:r>
              <a:rPr lang="zh-CN" altLang="en-US" sz="1600" dirty="0">
                <a:latin typeface="微软雅黑" pitchFamily="34" charset="-122"/>
              </a:rPr>
              <a:t>，不能以</a:t>
            </a:r>
            <a:r>
              <a:rPr lang="en-US" altLang="zh-CN" sz="1600" dirty="0">
                <a:latin typeface="微软雅黑" pitchFamily="34" charset="-122"/>
              </a:rPr>
              <a:t>system.</a:t>
            </a:r>
            <a:r>
              <a:rPr lang="zh-CN" altLang="en-US" sz="1600" dirty="0">
                <a:latin typeface="微软雅黑" pitchFamily="34" charset="-122"/>
              </a:rPr>
              <a:t>开头，不能含有 </a:t>
            </a:r>
            <a:r>
              <a:rPr lang="en-US" altLang="zh-CN" sz="1600" dirty="0">
                <a:latin typeface="微软雅黑" pitchFamily="34" charset="-122"/>
              </a:rPr>
              <a:t>$</a:t>
            </a:r>
          </a:p>
          <a:p>
            <a:pPr marL="354013" indent="-354013" eaLnBrk="0" hangingPunct="0">
              <a:lnSpc>
                <a:spcPct val="150000"/>
              </a:lnSpc>
              <a:defRPr/>
            </a:pPr>
            <a:r>
              <a:rPr lang="zh-CN" altLang="en-US" sz="1600" dirty="0">
                <a:latin typeface="微软雅黑" pitchFamily="34" charset="-122"/>
              </a:rPr>
              <a:t>           数据库命名 小写 不能含有 空格，</a:t>
            </a:r>
            <a:r>
              <a:rPr lang="en-US" altLang="zh-CN" sz="1600" dirty="0">
                <a:latin typeface="微软雅黑" pitchFamily="34" charset="-122"/>
              </a:rPr>
              <a:t>$ \ / \0</a:t>
            </a:r>
            <a:r>
              <a:rPr lang="zh-CN" altLang="en-US" sz="1600" dirty="0">
                <a:latin typeface="微软雅黑" pitchFamily="34" charset="-122"/>
              </a:rPr>
              <a:t>等</a:t>
            </a:r>
            <a:endParaRPr lang="en-US" altLang="zh-CN" sz="1600" dirty="0">
              <a:latin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7217879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Box 9"/>
          <p:cNvSpPr txBox="1">
            <a:spLocks noChangeArrowheads="1"/>
          </p:cNvSpPr>
          <p:nvPr/>
        </p:nvSpPr>
        <p:spPr bwMode="auto">
          <a:xfrm>
            <a:off x="225425" y="1019175"/>
            <a:ext cx="8918575" cy="3077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54013" indent="-354013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9pPr>
          </a:lstStyle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zh-CN" altLang="en-US" sz="1600" dirty="0">
                <a:latin typeface="微软雅黑" pitchFamily="34" charset="-122"/>
              </a:rPr>
              <a:t>在</a:t>
            </a:r>
            <a:r>
              <a:rPr lang="en-US" altLang="zh-CN" sz="1600" dirty="0">
                <a:latin typeface="微软雅黑" pitchFamily="34" charset="-122"/>
              </a:rPr>
              <a:t>32</a:t>
            </a:r>
            <a:r>
              <a:rPr lang="zh-CN" altLang="en-US" sz="1600" dirty="0">
                <a:latin typeface="微软雅黑" pitchFamily="34" charset="-122"/>
              </a:rPr>
              <a:t>位系统上，不支持大于</a:t>
            </a:r>
            <a:r>
              <a:rPr lang="en-US" altLang="zh-CN" sz="1600" dirty="0">
                <a:latin typeface="微软雅黑" pitchFamily="34" charset="-122"/>
              </a:rPr>
              <a:t>2.5G</a:t>
            </a:r>
            <a:r>
              <a:rPr lang="zh-CN" altLang="en-US" sz="1600" dirty="0">
                <a:latin typeface="微软雅黑" pitchFamily="34" charset="-122"/>
              </a:rPr>
              <a:t>的数据。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zh-CN" altLang="en-US" sz="1600" dirty="0">
                <a:latin typeface="微软雅黑" pitchFamily="34" charset="-122"/>
              </a:rPr>
              <a:t>单个文档大小限制为 </a:t>
            </a:r>
            <a:r>
              <a:rPr lang="en-US" altLang="zh-CN" sz="1600" dirty="0">
                <a:latin typeface="微软雅黑" pitchFamily="34" charset="-122"/>
              </a:rPr>
              <a:t>16 M</a:t>
            </a:r>
            <a:endParaRPr lang="zh-CN" altLang="en-US" sz="1600" dirty="0">
              <a:latin typeface="微软雅黑" pitchFamily="34" charset="-122"/>
            </a:endParaRP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zh-CN" altLang="en-US" sz="1600" dirty="0">
                <a:latin typeface="微软雅黑" pitchFamily="34" charset="-122"/>
              </a:rPr>
              <a:t>锁粒度太粗，</a:t>
            </a:r>
            <a:r>
              <a:rPr lang="en-US" altLang="zh-CN" sz="1600" dirty="0" err="1">
                <a:latin typeface="微软雅黑" pitchFamily="34" charset="-122"/>
              </a:rPr>
              <a:t>MongoDB</a:t>
            </a:r>
            <a:r>
              <a:rPr lang="zh-CN" altLang="en-US" sz="1600" dirty="0">
                <a:latin typeface="微软雅黑" pitchFamily="34" charset="-122"/>
              </a:rPr>
              <a:t>使用的是一把全局的读</a:t>
            </a:r>
            <a:r>
              <a:rPr lang="zh-CN" altLang="en-US" sz="1600" dirty="0" smtClean="0">
                <a:latin typeface="微软雅黑" pitchFamily="34" charset="-122"/>
              </a:rPr>
              <a:t>写锁</a:t>
            </a:r>
            <a:endParaRPr lang="en-US" altLang="zh-CN" sz="1600" dirty="0">
              <a:latin typeface="微软雅黑" pitchFamily="34" charset="-122"/>
            </a:endParaRP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zh-CN" altLang="en-US" sz="1600" dirty="0" smtClean="0">
                <a:latin typeface="微软雅黑" pitchFamily="34" charset="-122"/>
              </a:rPr>
              <a:t>不</a:t>
            </a:r>
            <a:r>
              <a:rPr lang="zh-CN" altLang="en-US" sz="1600" dirty="0">
                <a:latin typeface="微软雅黑" pitchFamily="34" charset="-122"/>
              </a:rPr>
              <a:t>支持</a:t>
            </a:r>
            <a:r>
              <a:rPr lang="en-US" altLang="zh-CN" sz="1600" dirty="0">
                <a:latin typeface="微软雅黑" pitchFamily="34" charset="-122"/>
              </a:rPr>
              <a:t>join</a:t>
            </a:r>
            <a:r>
              <a:rPr lang="zh-CN" altLang="en-US" sz="1600" dirty="0">
                <a:latin typeface="微软雅黑" pitchFamily="34" charset="-122"/>
              </a:rPr>
              <a:t>操作和事务机制，这个确实是非</a:t>
            </a:r>
            <a:r>
              <a:rPr lang="en-US" altLang="zh-CN" sz="1600" dirty="0" err="1">
                <a:latin typeface="微软雅黑" pitchFamily="34" charset="-122"/>
              </a:rPr>
              <a:t>MongoDB</a:t>
            </a:r>
            <a:r>
              <a:rPr lang="zh-CN" altLang="en-US" sz="1600" dirty="0">
                <a:latin typeface="微软雅黑" pitchFamily="34" charset="-122"/>
              </a:rPr>
              <a:t>要做的领域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zh-CN" altLang="en-US" sz="1600" dirty="0">
                <a:latin typeface="微软雅黑" pitchFamily="34" charset="-122"/>
              </a:rPr>
              <a:t>对内存要求比较大，至少要保证热数据（索引，数据及系统其它开销）都能装进内存</a:t>
            </a: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zh-CN" altLang="en-US" sz="1600" dirty="0">
                <a:latin typeface="微软雅黑" pitchFamily="34" charset="-122"/>
              </a:rPr>
              <a:t>用户权限方面比较弱，将机器部署在安全的内网环境中，尽量不要用</a:t>
            </a:r>
            <a:r>
              <a:rPr lang="zh-CN" altLang="en-US" sz="1600" dirty="0" smtClean="0">
                <a:latin typeface="微软雅黑" pitchFamily="34" charset="-122"/>
              </a:rPr>
              <a:t>权限，</a:t>
            </a:r>
            <a:r>
              <a:rPr lang="en-US" altLang="zh-CN" sz="1600" dirty="0" smtClean="0">
                <a:latin typeface="微软雅黑" pitchFamily="34" charset="-122"/>
              </a:rPr>
              <a:t>2.0</a:t>
            </a:r>
            <a:r>
              <a:rPr lang="zh-CN" altLang="en-US" sz="1600" dirty="0" smtClean="0">
                <a:latin typeface="微软雅黑" pitchFamily="34" charset="-122"/>
              </a:rPr>
              <a:t>后有改进</a:t>
            </a:r>
            <a:endParaRPr lang="zh-CN" altLang="en-US" sz="1600" dirty="0">
              <a:latin typeface="微软雅黑" pitchFamily="34" charset="-122"/>
            </a:endParaRPr>
          </a:p>
          <a:p>
            <a:pPr>
              <a:lnSpc>
                <a:spcPct val="150000"/>
              </a:lnSpc>
              <a:buFont typeface="Arial" charset="0"/>
              <a:buChar char="•"/>
            </a:pPr>
            <a:r>
              <a:rPr lang="zh-CN" altLang="en-US" sz="1600" dirty="0" smtClean="0">
                <a:latin typeface="微软雅黑" pitchFamily="34" charset="-122"/>
              </a:rPr>
              <a:t>对于</a:t>
            </a:r>
            <a:r>
              <a:rPr lang="zh-CN" altLang="en-US" sz="1600" dirty="0">
                <a:latin typeface="微软雅黑" pitchFamily="34" charset="-122"/>
              </a:rPr>
              <a:t>数组型的数据操作不够丰富</a:t>
            </a:r>
            <a:endParaRPr lang="en-US" altLang="zh-CN" sz="1600" b="1" dirty="0"/>
          </a:p>
          <a:p>
            <a:r>
              <a:rPr lang="en-US" altLang="zh-CN" sz="1600" b="1" dirty="0"/>
              <a:t>	</a:t>
            </a:r>
            <a:endParaRPr lang="en-US" altLang="zh-CN" sz="1600" dirty="0"/>
          </a:p>
          <a:p>
            <a:r>
              <a:rPr lang="en-US" altLang="zh-CN" sz="1600" dirty="0"/>
              <a:t>	</a:t>
            </a:r>
            <a:endParaRPr lang="en-US" altLang="zh-CN" sz="1600" dirty="0">
              <a:latin typeface="微软雅黑" pitchFamily="34" charset="-122"/>
            </a:endParaRPr>
          </a:p>
        </p:txBody>
      </p:sp>
      <p:sp>
        <p:nvSpPr>
          <p:cNvPr id="6148" name="Rectangle 7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MongoDB</a:t>
            </a:r>
            <a:r>
              <a:rPr lang="zh-CN" alt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的局限与不足</a:t>
            </a:r>
          </a:p>
        </p:txBody>
      </p:sp>
    </p:spTree>
    <p:extLst>
      <p:ext uri="{BB962C8B-B14F-4D97-AF65-F5344CB8AC3E}">
        <p14:creationId xmlns:p14="http://schemas.microsoft.com/office/powerpoint/2010/main" val="3875802318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MongoDB</a:t>
            </a:r>
            <a:r>
              <a:rPr lang="en-GB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适用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-122"/>
              </a:rPr>
              <a:t>场景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41313" indent="-341313">
              <a:spcBef>
                <a:spcPts val="450"/>
              </a:spcBef>
              <a:buFont typeface="Times New Roman" pitchFamily="16" charset="0"/>
              <a:buAutoNum type="arabi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zh-CN" dirty="0" err="1" smtClean="0">
                <a:latin typeface="宋体" charset="-122"/>
              </a:rPr>
              <a:t>网站数据：</a:t>
            </a:r>
            <a:r>
              <a:rPr lang="en-GB" altLang="zh-CN" b="0" dirty="0" err="1" smtClean="0">
                <a:latin typeface="宋体" charset="-122"/>
              </a:rPr>
              <a:t>Mongo</a:t>
            </a:r>
            <a:r>
              <a:rPr lang="en-US" altLang="zh-CN" b="0" dirty="0" smtClean="0">
                <a:latin typeface="宋体" charset="-122"/>
              </a:rPr>
              <a:t>DB</a:t>
            </a:r>
            <a:r>
              <a:rPr lang="en-GB" altLang="zh-CN" b="0" dirty="0" err="1" smtClean="0">
                <a:latin typeface="宋体" charset="-122"/>
              </a:rPr>
              <a:t>非常适合实时的插入，更新与查询，并具备网站实时数据存储所需的复制及高度伸缩性</a:t>
            </a:r>
            <a:r>
              <a:rPr lang="zh-CN" altLang="en-US" b="0" dirty="0" smtClean="0">
                <a:latin typeface="宋体" charset="-122"/>
              </a:rPr>
              <a:t>；</a:t>
            </a:r>
            <a:endParaRPr lang="en-GB" altLang="zh-CN" b="0" dirty="0" smtClean="0">
              <a:latin typeface="宋体" charset="-122"/>
            </a:endParaRPr>
          </a:p>
          <a:p>
            <a:pPr marL="341313" indent="-341313">
              <a:spcBef>
                <a:spcPts val="450"/>
              </a:spcBef>
              <a:buFont typeface="Times New Roman" pitchFamily="16" charset="0"/>
              <a:buAutoNum type="arabi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zh-CN" dirty="0" err="1" smtClean="0">
                <a:latin typeface="宋体" charset="-122"/>
              </a:rPr>
              <a:t>缓存：</a:t>
            </a:r>
            <a:r>
              <a:rPr lang="en-GB" altLang="zh-CN" b="0" dirty="0" err="1" smtClean="0">
                <a:latin typeface="宋体" charset="-122"/>
              </a:rPr>
              <a:t>由于性能很高，Mongo</a:t>
            </a:r>
            <a:r>
              <a:rPr lang="en-US" altLang="zh-CN" b="0" dirty="0" smtClean="0">
                <a:latin typeface="宋体" charset="-122"/>
              </a:rPr>
              <a:t>DB</a:t>
            </a:r>
            <a:r>
              <a:rPr lang="en-GB" altLang="zh-CN" b="0" dirty="0" err="1" smtClean="0">
                <a:latin typeface="宋体" charset="-122"/>
              </a:rPr>
              <a:t>也适合作为信息基础设施的缓存层。在系统重启之后，由Mongo</a:t>
            </a:r>
            <a:r>
              <a:rPr lang="en-US" altLang="zh-CN" b="0" dirty="0" smtClean="0">
                <a:latin typeface="宋体" charset="-122"/>
              </a:rPr>
              <a:t>DB</a:t>
            </a:r>
            <a:r>
              <a:rPr lang="en-GB" altLang="zh-CN" b="0" dirty="0" err="1" smtClean="0">
                <a:latin typeface="宋体" charset="-122"/>
              </a:rPr>
              <a:t>搭建的持久化缓存层可以避免下层的数据源</a:t>
            </a:r>
            <a:r>
              <a:rPr lang="en-GB" altLang="zh-CN" b="0" dirty="0" smtClean="0">
                <a:latin typeface="宋体" charset="-122"/>
              </a:rPr>
              <a:t> </a:t>
            </a:r>
            <a:r>
              <a:rPr lang="en-GB" altLang="zh-CN" b="0" dirty="0" err="1" smtClean="0">
                <a:latin typeface="宋体" charset="-122"/>
              </a:rPr>
              <a:t>过载</a:t>
            </a:r>
            <a:r>
              <a:rPr lang="zh-CN" altLang="en-US" b="0" dirty="0" smtClean="0">
                <a:latin typeface="宋体" charset="-122"/>
              </a:rPr>
              <a:t>；</a:t>
            </a:r>
            <a:endParaRPr lang="en-GB" altLang="zh-CN" b="0" dirty="0" smtClean="0">
              <a:latin typeface="宋体" charset="-122"/>
            </a:endParaRPr>
          </a:p>
          <a:p>
            <a:pPr marL="341313" indent="-341313">
              <a:spcBef>
                <a:spcPts val="450"/>
              </a:spcBef>
              <a:buFont typeface="Times New Roman" pitchFamily="16" charset="0"/>
              <a:buAutoNum type="arabi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zh-CN" dirty="0" err="1" smtClean="0">
                <a:latin typeface="宋体" charset="-122"/>
              </a:rPr>
              <a:t>大尺寸，低价值的数据：</a:t>
            </a:r>
            <a:r>
              <a:rPr lang="en-GB" altLang="zh-CN" b="0" dirty="0" err="1" smtClean="0">
                <a:latin typeface="宋体" charset="-122"/>
              </a:rPr>
              <a:t>使用传统的关系型数据库存储一些数据时可能会比较昂贵，在此之前，很多时候程序员往往会选择传统的文件进行存储</a:t>
            </a:r>
            <a:r>
              <a:rPr lang="zh-CN" altLang="en-US" b="0" dirty="0" smtClean="0">
                <a:latin typeface="宋体" charset="-122"/>
              </a:rPr>
              <a:t>；</a:t>
            </a:r>
            <a:endParaRPr lang="en-GB" altLang="zh-CN" b="0" dirty="0" smtClean="0">
              <a:latin typeface="宋体" charset="-122"/>
            </a:endParaRPr>
          </a:p>
          <a:p>
            <a:pPr marL="341313" indent="-341313">
              <a:spcBef>
                <a:spcPts val="450"/>
              </a:spcBef>
              <a:buFont typeface="Times New Roman" pitchFamily="16" charset="0"/>
              <a:buAutoNum type="arabi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zh-CN" dirty="0" err="1" smtClean="0">
                <a:latin typeface="宋体" charset="-122"/>
              </a:rPr>
              <a:t>高伸缩性的场景：</a:t>
            </a:r>
            <a:r>
              <a:rPr lang="en-GB" altLang="zh-CN" b="0" dirty="0" err="1" smtClean="0">
                <a:latin typeface="宋体" charset="-122"/>
              </a:rPr>
              <a:t>Mongo</a:t>
            </a:r>
            <a:r>
              <a:rPr lang="en-US" altLang="zh-CN" b="0" dirty="0" smtClean="0">
                <a:latin typeface="宋体" charset="-122"/>
              </a:rPr>
              <a:t>DB</a:t>
            </a:r>
            <a:r>
              <a:rPr lang="en-GB" altLang="zh-CN" b="0" dirty="0" err="1" smtClean="0">
                <a:latin typeface="宋体" charset="-122"/>
              </a:rPr>
              <a:t>非常适合由数十或数百台服务器组成的数据库。Mongo</a:t>
            </a:r>
            <a:r>
              <a:rPr lang="en-US" altLang="zh-CN" b="0" dirty="0" smtClean="0">
                <a:latin typeface="宋体" charset="-122"/>
              </a:rPr>
              <a:t>DB</a:t>
            </a:r>
            <a:r>
              <a:rPr lang="en-GB" altLang="zh-CN" b="0" dirty="0" err="1" smtClean="0">
                <a:latin typeface="宋体" charset="-122"/>
              </a:rPr>
              <a:t>对MapReduce引擎的内置支持</a:t>
            </a:r>
            <a:r>
              <a:rPr lang="zh-CN" altLang="en-US" b="0" dirty="0" smtClean="0">
                <a:latin typeface="宋体" charset="-122"/>
              </a:rPr>
              <a:t>；</a:t>
            </a:r>
            <a:endParaRPr lang="en-GB" altLang="zh-CN" b="0" dirty="0" smtClean="0">
              <a:latin typeface="宋体" charset="-122"/>
            </a:endParaRPr>
          </a:p>
          <a:p>
            <a:pPr marL="341313" indent="-341313">
              <a:spcBef>
                <a:spcPts val="450"/>
              </a:spcBef>
              <a:buFont typeface="Times New Roman" pitchFamily="16" charset="0"/>
              <a:buAutoNum type="arabicPeriod"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zh-CN" dirty="0" err="1" smtClean="0">
                <a:latin typeface="宋体" charset="-122"/>
              </a:rPr>
              <a:t>用于对象及JSON数据的存储：</a:t>
            </a:r>
            <a:r>
              <a:rPr lang="en-GB" altLang="zh-CN" b="0" dirty="0" err="1" smtClean="0">
                <a:latin typeface="宋体" charset="-122"/>
              </a:rPr>
              <a:t>Mongo</a:t>
            </a:r>
            <a:r>
              <a:rPr lang="en-US" altLang="zh-CN" b="0" dirty="0" smtClean="0">
                <a:latin typeface="宋体" charset="-122"/>
              </a:rPr>
              <a:t>DB</a:t>
            </a:r>
            <a:r>
              <a:rPr lang="en-GB" altLang="zh-CN" b="0" dirty="0" err="1" smtClean="0">
                <a:latin typeface="宋体" charset="-122"/>
              </a:rPr>
              <a:t>的BSON数据格式非常适合文档化格式的存储及查询</a:t>
            </a:r>
            <a:r>
              <a:rPr lang="zh-CN" altLang="en-US" b="0" dirty="0" smtClean="0">
                <a:latin typeface="宋体" charset="-122"/>
              </a:rPr>
              <a:t>；</a:t>
            </a:r>
            <a:endParaRPr lang="en-GB" altLang="zh-CN" b="0" dirty="0" smtClean="0">
              <a:latin typeface="宋体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03557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MongoDB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数据类型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null  </a:t>
            </a:r>
            <a:r>
              <a:rPr lang="en-US" altLang="zh-CN" dirty="0" smtClean="0"/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布尔</a:t>
            </a:r>
            <a:r>
              <a:rPr lang="zh-CN" altLang="en-US" dirty="0" smtClean="0"/>
              <a:t>         </a:t>
            </a:r>
            <a:r>
              <a:rPr lang="en-US" altLang="zh-CN" dirty="0" err="1" smtClean="0"/>
              <a:t>ture|false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/>
              <a:t>整数</a:t>
            </a:r>
            <a:r>
              <a:rPr lang="zh-CN" altLang="en-US" dirty="0" smtClean="0"/>
              <a:t>        </a:t>
            </a:r>
            <a:r>
              <a:rPr lang="en-US" altLang="zh-CN" dirty="0" smtClean="0"/>
              <a:t>123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浮点</a:t>
            </a:r>
            <a:r>
              <a:rPr lang="zh-CN" altLang="en-US" dirty="0" smtClean="0"/>
              <a:t>        </a:t>
            </a:r>
            <a:r>
              <a:rPr lang="en-US" altLang="zh-CN" dirty="0" smtClean="0"/>
              <a:t>12.3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字符串</a:t>
            </a:r>
            <a:r>
              <a:rPr lang="zh-CN" altLang="en-US" dirty="0" smtClean="0"/>
              <a:t>    </a:t>
            </a:r>
            <a:r>
              <a:rPr lang="en-US" altLang="zh-CN" dirty="0" smtClean="0"/>
              <a:t>“hello world”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对象</a:t>
            </a:r>
            <a:r>
              <a:rPr lang="en-US" altLang="zh-CN" dirty="0"/>
              <a:t>ID</a:t>
            </a:r>
            <a:r>
              <a:rPr lang="zh-CN" altLang="en-US" dirty="0"/>
              <a:t>     </a:t>
            </a:r>
            <a:r>
              <a:rPr lang="zh-CN" altLang="en-US" dirty="0" smtClean="0"/>
              <a:t>用 </a:t>
            </a:r>
            <a:r>
              <a:rPr lang="en-US" altLang="zh-CN" dirty="0" smtClean="0"/>
              <a:t>new </a:t>
            </a:r>
            <a:r>
              <a:rPr lang="en-US" altLang="zh-CN" dirty="0" err="1" smtClean="0"/>
              <a:t>ObjectId</a:t>
            </a:r>
            <a:r>
              <a:rPr lang="zh-CN" altLang="en-US" dirty="0" smtClean="0"/>
              <a:t>（）来申明。 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/>
              <a:t>日期</a:t>
            </a:r>
            <a:r>
              <a:rPr lang="zh-CN" altLang="en-US" dirty="0" smtClean="0"/>
              <a:t>        用 </a:t>
            </a:r>
            <a:r>
              <a:rPr lang="en-US" altLang="zh-CN" dirty="0" smtClean="0"/>
              <a:t>new Date</a:t>
            </a:r>
            <a:r>
              <a:rPr lang="zh-CN" altLang="en-US" dirty="0" smtClean="0"/>
              <a:t>（）来申明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en-US" dirty="0"/>
              <a:t>时间戳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数组</a:t>
            </a:r>
            <a:r>
              <a:rPr lang="zh-CN" altLang="en-US" dirty="0" smtClean="0"/>
              <a:t>        </a:t>
            </a:r>
            <a:r>
              <a:rPr lang="en-US" altLang="zh-CN" dirty="0" smtClean="0"/>
              <a:t>[“apple”,”</a:t>
            </a:r>
            <a:r>
              <a:rPr lang="en-US" altLang="zh-CN" dirty="0" err="1" smtClean="0"/>
              <a:t>blanan</a:t>
            </a:r>
            <a:r>
              <a:rPr lang="en-US" altLang="zh-CN" dirty="0" smtClean="0"/>
              <a:t>”,”pear”]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内嵌文档    </a:t>
            </a:r>
            <a:r>
              <a:rPr lang="en-US" altLang="zh-CN" dirty="0" smtClean="0"/>
              <a:t>{“username” : “</a:t>
            </a:r>
            <a:r>
              <a:rPr lang="en-US" altLang="zh-CN" dirty="0" err="1" smtClean="0"/>
              <a:t>jone</a:t>
            </a:r>
            <a:r>
              <a:rPr lang="en-US" altLang="zh-CN" dirty="0" smtClean="0"/>
              <a:t>”, “age”: 13, “contact” : {“home”:”123”,”moblie”:”456”}}</a:t>
            </a:r>
          </a:p>
          <a:p>
            <a:pPr>
              <a:lnSpc>
                <a:spcPct val="150000"/>
              </a:lnSpc>
            </a:pPr>
            <a:r>
              <a:rPr lang="en-US" altLang="zh-CN" dirty="0" err="1"/>
              <a:t>RegExp</a:t>
            </a:r>
            <a:r>
              <a:rPr lang="en-US" altLang="zh-CN" dirty="0" smtClean="0"/>
              <a:t>   </a:t>
            </a:r>
            <a:r>
              <a:rPr lang="zh-CN" altLang="en-US" dirty="0" smtClean="0"/>
              <a:t>正则表达式  </a:t>
            </a:r>
            <a:r>
              <a:rPr lang="en-US" altLang="zh-CN" dirty="0" smtClean="0"/>
              <a:t>/[a-z]/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6226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extBox 9"/>
          <p:cNvSpPr txBox="1">
            <a:spLocks noChangeArrowheads="1"/>
          </p:cNvSpPr>
          <p:nvPr/>
        </p:nvSpPr>
        <p:spPr bwMode="auto">
          <a:xfrm>
            <a:off x="457200" y="949325"/>
            <a:ext cx="8208963" cy="2468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354013" indent="-354013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微软雅黑" pitchFamily="34" charset="-122"/>
              </a:defRPr>
            </a:lvl9pPr>
          </a:lstStyle>
          <a:p>
            <a:endParaRPr lang="en-US" altLang="zh-CN" sz="1600"/>
          </a:p>
          <a:p>
            <a:r>
              <a:rPr lang="en-US" altLang="zh-CN" sz="1600"/>
              <a:t>	</a:t>
            </a:r>
          </a:p>
          <a:p>
            <a:endParaRPr lang="en-US" altLang="zh-CN" sz="1600"/>
          </a:p>
          <a:p>
            <a:endParaRPr lang="zh-CN" altLang="en-US" sz="1600" b="1"/>
          </a:p>
          <a:p>
            <a:endParaRPr lang="en-US" altLang="zh-CN" sz="1600"/>
          </a:p>
          <a:p>
            <a:r>
              <a:rPr lang="en-US" altLang="zh-CN" sz="1600"/>
              <a:t>   </a:t>
            </a:r>
            <a:endParaRPr lang="zh-CN" altLang="en-US" sz="1600"/>
          </a:p>
          <a:p>
            <a:endParaRPr lang="en-US" altLang="zh-CN" sz="1600"/>
          </a:p>
          <a:p>
            <a:endParaRPr lang="zh-CN" altLang="en-US" sz="1600"/>
          </a:p>
          <a:p>
            <a:endParaRPr lang="zh-CN" altLang="en-US" sz="1600"/>
          </a:p>
          <a:p>
            <a:pPr eaLnBrk="1" hangingPunct="1">
              <a:lnSpc>
                <a:spcPct val="110000"/>
              </a:lnSpc>
              <a:buFont typeface="Arial" charset="0"/>
              <a:buChar char="&gt;"/>
            </a:pPr>
            <a:endParaRPr lang="en-US" altLang="zh-CN" sz="1600">
              <a:latin typeface="微软雅黑" pitchFamily="34" charset="-122"/>
            </a:endParaRPr>
          </a:p>
        </p:txBody>
      </p:sp>
      <p:sp>
        <p:nvSpPr>
          <p:cNvPr id="10244" name="Rectangle 7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MongoDB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</a:t>
            </a: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ObjectId</a:t>
            </a:r>
            <a:endParaRPr lang="zh-CN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647" y="1442381"/>
            <a:ext cx="8584068" cy="2290763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bg2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339916"/>
      </p:ext>
    </p:extLst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3200" dirty="0" smtClean="0">
                <a:solidFill>
                  <a:srgbClr val="0070C0"/>
                </a:solidFill>
              </a:rPr>
              <a:t>第二部分 </a:t>
            </a:r>
            <a:r>
              <a:rPr lang="en-US" altLang="zh-CN" sz="3200" dirty="0" err="1" smtClean="0">
                <a:solidFill>
                  <a:srgbClr val="0070C0"/>
                </a:solidFill>
              </a:rPr>
              <a:t>MongoDB</a:t>
            </a:r>
            <a:r>
              <a:rPr lang="zh-CN" altLang="en-US" sz="3200" dirty="0" smtClean="0">
                <a:solidFill>
                  <a:srgbClr val="0070C0"/>
                </a:solidFill>
              </a:rPr>
              <a:t>的基本操作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83223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697" y="2783"/>
            <a:ext cx="8229600" cy="664017"/>
          </a:xfrm>
        </p:spPr>
        <p:txBody>
          <a:bodyPr/>
          <a:lstStyle/>
          <a:p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MongoDB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的基本操作与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语句对比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SQL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zh-CN" sz="1400" dirty="0" smtClean="0">
                <a:latin typeface="宋体" charset="-122"/>
              </a:rPr>
              <a:t>SELECT </a:t>
            </a:r>
            <a:r>
              <a:rPr lang="en-GB" altLang="zh-CN" sz="1400" dirty="0">
                <a:latin typeface="宋体" charset="-122"/>
              </a:rPr>
              <a:t>* FROM things WHERE name="</a:t>
            </a:r>
            <a:r>
              <a:rPr lang="en-GB" altLang="zh-CN" sz="1400" dirty="0" smtClean="0">
                <a:latin typeface="宋体" charset="-122"/>
              </a:rPr>
              <a:t>mongo“</a:t>
            </a:r>
          </a:p>
          <a:p>
            <a:pPr marL="0" indent="0">
              <a:buNone/>
            </a:pPr>
            <a:endParaRPr lang="en-GB" altLang="zh-CN" sz="1400" dirty="0">
              <a:latin typeface="宋体" charset="-122"/>
            </a:endParaRPr>
          </a:p>
          <a:p>
            <a:pPr marL="0" indent="0">
              <a:buNone/>
            </a:pPr>
            <a:endParaRPr lang="en-GB" altLang="zh-CN" sz="1400" dirty="0" smtClean="0">
              <a:latin typeface="宋体" charset="-122"/>
            </a:endParaRPr>
          </a:p>
          <a:p>
            <a:pPr marL="0" indent="0">
              <a:buNone/>
            </a:pPr>
            <a:endParaRPr lang="en-GB" altLang="zh-CN" sz="1400" dirty="0">
              <a:latin typeface="宋体" charset="-122"/>
            </a:endParaRPr>
          </a:p>
          <a:p>
            <a:pPr marL="0" indent="0">
              <a:buNone/>
            </a:pPr>
            <a:endParaRPr lang="en-GB" altLang="zh-CN" sz="1400" dirty="0" smtClean="0">
              <a:latin typeface="宋体" charset="-122"/>
            </a:endParaRPr>
          </a:p>
          <a:p>
            <a:pPr marL="0" indent="0">
              <a:buNone/>
            </a:pPr>
            <a:r>
              <a:rPr lang="en-GB" altLang="zh-CN" sz="1400" dirty="0" smtClean="0">
                <a:latin typeface="宋体" charset="-122"/>
              </a:rPr>
              <a:t>SELECT </a:t>
            </a:r>
            <a:r>
              <a:rPr lang="en-GB" altLang="zh-CN" sz="1400" dirty="0">
                <a:latin typeface="宋体" charset="-122"/>
              </a:rPr>
              <a:t>j FROM things WHERE x=4</a:t>
            </a:r>
          </a:p>
          <a:p>
            <a:pPr marL="0" indent="0">
              <a:buNone/>
            </a:pPr>
            <a:endParaRPr lang="en-GB" altLang="zh-CN" sz="1400" dirty="0">
              <a:latin typeface="宋体" charset="-122"/>
            </a:endParaRPr>
          </a:p>
          <a:p>
            <a:endParaRPr lang="zh-CN" altLang="en-US" sz="1400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err="1" smtClean="0"/>
              <a:t>MongoDB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altLang="zh-CN" sz="1400" dirty="0" smtClean="0">
                <a:latin typeface="宋体" charset="-122"/>
              </a:rPr>
              <a:t>&gt;</a:t>
            </a:r>
            <a:r>
              <a:rPr lang="en-GB" altLang="zh-CN" sz="1400" dirty="0" err="1" smtClean="0">
                <a:latin typeface="宋体" charset="-122"/>
              </a:rPr>
              <a:t>db.things.find</a:t>
            </a:r>
            <a:r>
              <a:rPr lang="en-GB" altLang="zh-CN" sz="1400" dirty="0">
                <a:latin typeface="宋体" charset="-122"/>
              </a:rPr>
              <a:t>({</a:t>
            </a:r>
            <a:r>
              <a:rPr lang="en-GB" altLang="zh-CN" sz="1400" dirty="0" err="1">
                <a:latin typeface="宋体" charset="-122"/>
              </a:rPr>
              <a:t>name:"mongo</a:t>
            </a:r>
            <a:r>
              <a:rPr lang="en-GB" altLang="zh-CN" sz="1400" dirty="0">
                <a:latin typeface="宋体" charset="-122"/>
              </a:rPr>
              <a:t>"}).</a:t>
            </a:r>
            <a:r>
              <a:rPr lang="en-GB" altLang="zh-CN" sz="1400" dirty="0" err="1">
                <a:latin typeface="宋体" charset="-122"/>
              </a:rPr>
              <a:t>forEach</a:t>
            </a:r>
            <a:r>
              <a:rPr lang="en-GB" altLang="zh-CN" sz="1400" dirty="0" smtClean="0">
                <a:latin typeface="宋体" charset="-122"/>
              </a:rPr>
              <a:t>(</a:t>
            </a:r>
          </a:p>
          <a:p>
            <a:pPr marL="0" indent="0">
              <a:buNone/>
            </a:pPr>
            <a:r>
              <a:rPr lang="en-GB" altLang="zh-CN" sz="1400" dirty="0" smtClean="0">
                <a:latin typeface="宋体" charset="-122"/>
              </a:rPr>
              <a:t>function(x</a:t>
            </a:r>
            <a:r>
              <a:rPr lang="en-GB" altLang="zh-CN" sz="1400" dirty="0">
                <a:latin typeface="宋体" charset="-122"/>
              </a:rPr>
              <a:t>) { print(</a:t>
            </a:r>
            <a:r>
              <a:rPr lang="en-GB" altLang="zh-CN" sz="1400" dirty="0" err="1">
                <a:latin typeface="宋体" charset="-122"/>
              </a:rPr>
              <a:t>tojson</a:t>
            </a:r>
            <a:r>
              <a:rPr lang="en-GB" altLang="zh-CN" sz="1400" dirty="0">
                <a:latin typeface="宋体" charset="-122"/>
              </a:rPr>
              <a:t>(x</a:t>
            </a:r>
            <a:r>
              <a:rPr lang="en-GB" altLang="zh-CN" sz="1400" dirty="0" smtClean="0">
                <a:latin typeface="宋体" charset="-122"/>
              </a:rPr>
              <a:t>));}</a:t>
            </a:r>
          </a:p>
          <a:p>
            <a:pPr marL="0" indent="0">
              <a:buNone/>
            </a:pPr>
            <a:r>
              <a:rPr lang="en-GB" altLang="zh-CN" sz="1400" dirty="0" smtClean="0">
                <a:latin typeface="宋体" charset="-122"/>
              </a:rPr>
              <a:t>);</a:t>
            </a:r>
            <a:endParaRPr lang="en-GB" altLang="zh-CN" sz="1400" dirty="0">
              <a:latin typeface="宋体" charset="-122"/>
            </a:endParaRPr>
          </a:p>
          <a:p>
            <a:pPr marL="0" indent="0">
              <a:buNone/>
            </a:pPr>
            <a:endParaRPr lang="en-US" altLang="zh-CN" sz="1400" dirty="0" smtClean="0"/>
          </a:p>
          <a:p>
            <a:pPr marL="0" indent="0">
              <a:buNone/>
            </a:pPr>
            <a:endParaRPr lang="en-US" altLang="zh-CN" sz="1400" dirty="0"/>
          </a:p>
          <a:p>
            <a:pPr marL="0" indent="0">
              <a:buNone/>
            </a:pPr>
            <a:r>
              <a:rPr lang="en-GB" altLang="zh-CN" sz="1400" dirty="0" err="1">
                <a:latin typeface="宋体" charset="-122"/>
              </a:rPr>
              <a:t>db.things.find</a:t>
            </a:r>
            <a:r>
              <a:rPr lang="en-GB" altLang="zh-CN" sz="1400" dirty="0">
                <a:latin typeface="宋体" charset="-122"/>
              </a:rPr>
              <a:t>({x:4}, </a:t>
            </a:r>
            <a:r>
              <a:rPr lang="en-GB" altLang="zh-CN" sz="1400" dirty="0" smtClean="0">
                <a:latin typeface="宋体" charset="-122"/>
              </a:rPr>
              <a:t>{</a:t>
            </a:r>
            <a:r>
              <a:rPr lang="en-GB" altLang="zh-CN" sz="1400" dirty="0" err="1" smtClean="0">
                <a:latin typeface="宋体" charset="-122"/>
              </a:rPr>
              <a:t>j:true</a:t>
            </a:r>
            <a:r>
              <a:rPr lang="en-GB" altLang="zh-CN" sz="1400" dirty="0">
                <a:latin typeface="宋体" charset="-122"/>
              </a:rPr>
              <a:t>}).</a:t>
            </a:r>
            <a:r>
              <a:rPr lang="en-GB" altLang="zh-CN" sz="1400" dirty="0" err="1">
                <a:latin typeface="宋体" charset="-122"/>
              </a:rPr>
              <a:t>forEach</a:t>
            </a:r>
            <a:r>
              <a:rPr lang="en-GB" altLang="zh-CN" sz="1400" dirty="0" smtClean="0">
                <a:latin typeface="宋体" charset="-122"/>
              </a:rPr>
              <a:t>(</a:t>
            </a:r>
          </a:p>
          <a:p>
            <a:pPr marL="0" indent="0">
              <a:buNone/>
            </a:pPr>
            <a:r>
              <a:rPr lang="en-GB" altLang="zh-CN" sz="1400" dirty="0" smtClean="0">
                <a:latin typeface="宋体" charset="-122"/>
              </a:rPr>
              <a:t>function(x</a:t>
            </a:r>
            <a:r>
              <a:rPr lang="en-GB" altLang="zh-CN" sz="1400" dirty="0">
                <a:latin typeface="宋体" charset="-122"/>
              </a:rPr>
              <a:t>) { print(</a:t>
            </a:r>
            <a:r>
              <a:rPr lang="en-GB" altLang="zh-CN" sz="1400" dirty="0" err="1">
                <a:latin typeface="宋体" charset="-122"/>
              </a:rPr>
              <a:t>tojson</a:t>
            </a:r>
            <a:r>
              <a:rPr lang="en-GB" altLang="zh-CN" sz="1400" dirty="0">
                <a:latin typeface="宋体" charset="-122"/>
              </a:rPr>
              <a:t>(x</a:t>
            </a:r>
            <a:r>
              <a:rPr lang="en-GB" altLang="zh-CN" sz="1400" dirty="0" smtClean="0">
                <a:latin typeface="宋体" charset="-122"/>
              </a:rPr>
              <a:t>));}</a:t>
            </a:r>
          </a:p>
          <a:p>
            <a:pPr marL="0" indent="0">
              <a:buNone/>
            </a:pPr>
            <a:r>
              <a:rPr lang="en-GB" altLang="zh-CN" sz="1400" dirty="0" smtClean="0">
                <a:latin typeface="宋体" charset="-122"/>
              </a:rPr>
              <a:t>);</a:t>
            </a:r>
            <a:endParaRPr lang="en-GB" altLang="zh-CN" sz="1400" dirty="0">
              <a:latin typeface="宋体" charset="-122"/>
            </a:endParaRPr>
          </a:p>
          <a:p>
            <a:pPr marL="0" indent="0">
              <a:buNone/>
            </a:pP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016679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32697" y="2783"/>
            <a:ext cx="8229600" cy="664017"/>
          </a:xfrm>
        </p:spPr>
        <p:txBody>
          <a:bodyPr/>
          <a:lstStyle/>
          <a:p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MongoDB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的基本操作与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SQL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语句对比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SQL</a:t>
            </a:r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400" dirty="0" smtClean="0">
                <a:latin typeface="宋体" charset="-122"/>
              </a:rPr>
              <a:t>select </a:t>
            </a:r>
            <a:r>
              <a:rPr lang="en-US" altLang="zh-CN" sz="1400" dirty="0">
                <a:latin typeface="宋体" charset="-122"/>
              </a:rPr>
              <a:t>* from things where 'economy' in tags order by </a:t>
            </a:r>
            <a:r>
              <a:rPr lang="en-US" altLang="zh-CN" sz="1400" dirty="0" err="1">
                <a:latin typeface="宋体" charset="-122"/>
              </a:rPr>
              <a:t>ts</a:t>
            </a:r>
            <a:r>
              <a:rPr lang="en-US" altLang="zh-CN" sz="1400" dirty="0">
                <a:latin typeface="宋体" charset="-122"/>
              </a:rPr>
              <a:t> DESC limit 10</a:t>
            </a:r>
          </a:p>
          <a:p>
            <a:pPr marL="0" indent="0">
              <a:buNone/>
            </a:pPr>
            <a:endParaRPr lang="en-GB" altLang="zh-CN" sz="1400" dirty="0">
              <a:latin typeface="宋体" charset="-122"/>
            </a:endParaRPr>
          </a:p>
          <a:p>
            <a:pPr marL="0" indent="0">
              <a:buNone/>
            </a:pPr>
            <a:endParaRPr lang="en-GB" altLang="zh-CN" sz="1400" dirty="0">
              <a:latin typeface="宋体" charset="-122"/>
            </a:endParaRPr>
          </a:p>
          <a:p>
            <a:endParaRPr lang="zh-CN" altLang="en-US" sz="1400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 err="1" smtClean="0"/>
              <a:t>MongoDB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spcBef>
                <a:spcPts val="450"/>
              </a:spcBef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zh-CN" sz="1400" dirty="0" smtClean="0">
                <a:latin typeface="宋体" charset="-122"/>
              </a:rPr>
              <a:t>&gt;</a:t>
            </a:r>
            <a:r>
              <a:rPr lang="en-GB" altLang="zh-CN" sz="1400" dirty="0" err="1">
                <a:latin typeface="宋体" charset="-122"/>
              </a:rPr>
              <a:t>db.things.find</a:t>
            </a:r>
            <a:r>
              <a:rPr lang="en-GB" altLang="zh-CN" sz="1400" dirty="0" smtClean="0">
                <a:latin typeface="宋体" charset="-122"/>
              </a:rPr>
              <a:t>({tags </a:t>
            </a:r>
            <a:r>
              <a:rPr lang="en-GB" altLang="zh-CN" sz="1400" dirty="0">
                <a:latin typeface="宋体" charset="-122"/>
              </a:rPr>
              <a:t>:'economy</a:t>
            </a:r>
            <a:r>
              <a:rPr lang="en-GB" altLang="zh-CN" sz="1400" dirty="0" smtClean="0">
                <a:latin typeface="宋体" charset="-122"/>
              </a:rPr>
              <a:t>'})</a:t>
            </a:r>
          </a:p>
          <a:p>
            <a:pPr marL="0" indent="0">
              <a:spcBef>
                <a:spcPts val="450"/>
              </a:spcBef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altLang="zh-CN" sz="1400" dirty="0" smtClean="0">
                <a:latin typeface="宋体" charset="-122"/>
              </a:rPr>
              <a:t>.sort</a:t>
            </a:r>
            <a:r>
              <a:rPr lang="en-GB" altLang="zh-CN" sz="1400" dirty="0">
                <a:latin typeface="宋体" charset="-122"/>
              </a:rPr>
              <a:t>({</a:t>
            </a:r>
            <a:r>
              <a:rPr lang="en-GB" altLang="zh-CN" sz="1400" dirty="0" err="1">
                <a:latin typeface="宋体" charset="-122"/>
              </a:rPr>
              <a:t>ts</a:t>
            </a:r>
            <a:r>
              <a:rPr lang="en-GB" altLang="zh-CN" sz="1400" dirty="0">
                <a:latin typeface="宋体" charset="-122"/>
              </a:rPr>
              <a:t>:-1}).limit(10</a:t>
            </a:r>
            <a:r>
              <a:rPr lang="en-GB" altLang="zh-CN" sz="1400" dirty="0" smtClean="0">
                <a:latin typeface="宋体" charset="-122"/>
              </a:rPr>
              <a:t>);</a:t>
            </a:r>
            <a:endParaRPr lang="en-US" altLang="zh-CN" sz="1400" dirty="0" smtClean="0"/>
          </a:p>
          <a:p>
            <a:pPr marL="0" indent="0">
              <a:buNone/>
            </a:pPr>
            <a:endParaRPr lang="en-US" altLang="zh-CN" sz="1400" dirty="0" smtClean="0"/>
          </a:p>
          <a:p>
            <a:pPr marL="0" indent="0">
              <a:buNone/>
            </a:pPr>
            <a:endParaRPr lang="en-US" altLang="zh-CN" sz="1400" dirty="0"/>
          </a:p>
          <a:p>
            <a:pPr marL="0" indent="0">
              <a:spcBef>
                <a:spcPts val="450"/>
              </a:spcBef>
              <a:buNone/>
              <a:tabLst>
                <a:tab pos="34290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altLang="zh-CN" sz="1400" dirty="0">
              <a:latin typeface="宋体" charset="-122"/>
            </a:endParaRPr>
          </a:p>
          <a:p>
            <a:pPr marL="0" indent="0">
              <a:buNone/>
            </a:pPr>
            <a:endParaRPr lang="zh-CN" altLang="en-US" sz="1400" b="0" dirty="0"/>
          </a:p>
        </p:txBody>
      </p:sp>
    </p:spTree>
    <p:extLst>
      <p:ext uri="{BB962C8B-B14F-4D97-AF65-F5344CB8AC3E}">
        <p14:creationId xmlns:p14="http://schemas.microsoft.com/office/powerpoint/2010/main" val="1516236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662" y="86916"/>
            <a:ext cx="7831049" cy="432197"/>
          </a:xfrm>
        </p:spPr>
        <p:txBody>
          <a:bodyPr/>
          <a:lstStyle/>
          <a:p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基于</a:t>
            </a: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Mongo_db|MoTools|MongoModel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开发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8" name="矩形 7"/>
          <p:cNvSpPr/>
          <p:nvPr/>
        </p:nvSpPr>
        <p:spPr bwMode="auto">
          <a:xfrm>
            <a:off x="381110" y="819196"/>
            <a:ext cx="8153186" cy="12191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class </a:t>
            </a:r>
            <a:r>
              <a:rPr lang="en-US" altLang="zh-CN" sz="1600" dirty="0" err="1" smtClean="0"/>
              <a:t>Mongo_db</a:t>
            </a:r>
            <a:r>
              <a:rPr lang="en-US" altLang="zh-CN" sz="1600" dirty="0" smtClean="0"/>
              <a:t>{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itchFamily="34" charset="0"/>
                <a:ea typeface="宋体" pitchFamily="2" charset="-122"/>
              </a:rPr>
              <a:t>……</a:t>
            </a:r>
            <a:r>
              <a:rPr lang="en-US" altLang="zh-CN" sz="16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}</a:t>
            </a:r>
          </a:p>
          <a:p>
            <a:r>
              <a:rPr lang="en-US" altLang="zh-CN" sz="1600" dirty="0" err="1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MongoDB</a:t>
            </a:r>
            <a:r>
              <a:rPr lang="zh-CN" altLang="en-US" sz="1600" dirty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连接</a:t>
            </a:r>
            <a:r>
              <a:rPr lang="zh-CN" altLang="en-US" sz="16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类</a:t>
            </a:r>
            <a:endParaRPr lang="en-US" altLang="zh-CN" sz="1600" dirty="0" smtClean="0">
              <a:solidFill>
                <a:schemeClr val="accent3">
                  <a:lumMod val="50000"/>
                </a:schemeClr>
              </a:solidFill>
              <a:latin typeface="Arial" pitchFamily="34" charset="0"/>
              <a:ea typeface="宋体" pitchFamily="2" charset="-122"/>
            </a:endParaRPr>
          </a:p>
          <a:p>
            <a:r>
              <a:rPr lang="zh-CN" altLang="en-US" sz="12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负责与</a:t>
            </a:r>
            <a:r>
              <a:rPr lang="en-US" altLang="zh-CN" sz="1200" dirty="0" err="1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MongoDB</a:t>
            </a:r>
            <a:r>
              <a:rPr lang="zh-CN" altLang="en-US" sz="1200" dirty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通信</a:t>
            </a:r>
            <a:endParaRPr lang="en-US" altLang="zh-CN" sz="1200" dirty="0">
              <a:solidFill>
                <a:schemeClr val="accent3">
                  <a:lumMod val="50000"/>
                </a:schemeClr>
              </a:solidFill>
              <a:latin typeface="Arial" pitchFamily="34" charset="0"/>
              <a:ea typeface="宋体" pitchFamily="2" charset="-122"/>
            </a:endParaRPr>
          </a:p>
          <a:p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867367" y="971592"/>
            <a:ext cx="2057345" cy="914376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endParaRPr lang="zh-CN" altLang="en-US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2165"/>
              </p:ext>
            </p:extLst>
          </p:nvPr>
        </p:nvGraphicFramePr>
        <p:xfrm>
          <a:off x="6121322" y="1047790"/>
          <a:ext cx="14224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包装程序外壳对象" showAsIcon="1" r:id="rId3" imgW="1422720" imgH="711360" progId="Package">
                  <p:embed/>
                </p:oleObj>
              </mc:Choice>
              <mc:Fallback>
                <p:oleObj name="包装程序外壳对象" showAsIcon="1" r:id="rId3" imgW="1422720" imgH="711360" progId="Package">
                  <p:embed/>
                  <p:pic>
                    <p:nvPicPr>
                      <p:cNvPr id="0" name="Picture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1322" y="1047790"/>
                        <a:ext cx="14224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 bwMode="auto">
          <a:xfrm>
            <a:off x="412739" y="2190760"/>
            <a:ext cx="8153186" cy="12191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class </a:t>
            </a:r>
            <a:r>
              <a:rPr lang="en-US" altLang="zh-CN" sz="1600" dirty="0" err="1"/>
              <a:t>MoTools</a:t>
            </a:r>
            <a:r>
              <a:rPr lang="en-US" altLang="zh-CN" sz="1600" dirty="0"/>
              <a:t> </a:t>
            </a:r>
            <a:r>
              <a:rPr lang="en-US" altLang="zh-CN" sz="1600" dirty="0" smtClean="0"/>
              <a:t>{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itchFamily="34" charset="0"/>
                <a:ea typeface="宋体" pitchFamily="2" charset="-122"/>
              </a:rPr>
              <a:t>……</a:t>
            </a:r>
            <a:r>
              <a:rPr lang="en-US" altLang="zh-CN" sz="16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}</a:t>
            </a:r>
          </a:p>
          <a:p>
            <a:r>
              <a:rPr lang="en-US" altLang="zh-CN" sz="1600" dirty="0" err="1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MongoDB</a:t>
            </a:r>
            <a:r>
              <a:rPr lang="zh-CN" altLang="en-US" sz="1600" dirty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操作语法生成工具</a:t>
            </a:r>
            <a:r>
              <a:rPr lang="zh-CN" altLang="en-US" sz="16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类</a:t>
            </a:r>
            <a:endParaRPr lang="en-US" altLang="zh-CN" sz="1600" dirty="0" smtClean="0">
              <a:solidFill>
                <a:schemeClr val="accent3">
                  <a:lumMod val="50000"/>
                </a:schemeClr>
              </a:solidFill>
              <a:latin typeface="Arial" pitchFamily="34" charset="0"/>
              <a:ea typeface="宋体" pitchFamily="2" charset="-122"/>
            </a:endParaRPr>
          </a:p>
          <a:p>
            <a:r>
              <a:rPr lang="zh-CN" altLang="en-US" sz="12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可以便捷的生成符合</a:t>
            </a:r>
            <a:r>
              <a:rPr lang="en-US" altLang="zh-CN" sz="12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PHP </a:t>
            </a:r>
            <a:r>
              <a:rPr lang="en-US" altLang="zh-CN" sz="1200" dirty="0" err="1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MongoDB</a:t>
            </a:r>
            <a:r>
              <a:rPr lang="zh-CN" altLang="en-US" sz="12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驱动语法的常用的查询更新语法</a:t>
            </a:r>
            <a:endParaRPr lang="en-US" altLang="zh-CN" sz="1200" dirty="0">
              <a:solidFill>
                <a:schemeClr val="accent3">
                  <a:lumMod val="50000"/>
                </a:schemeClr>
              </a:solidFill>
              <a:latin typeface="Arial" pitchFamily="34" charset="0"/>
              <a:ea typeface="宋体" pitchFamily="2" charset="-122"/>
            </a:endParaRPr>
          </a:p>
          <a:p>
            <a:endParaRPr kumimoji="0" lang="zh-CN" altLang="en-US" sz="1200" b="0" i="0" u="none" strike="noStrike" cap="none" normalizeH="0" baseline="0" dirty="0" smtClean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898996" y="2343156"/>
            <a:ext cx="2057345" cy="914376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endParaRPr lang="zh-CN" altLang="en-US" dirty="0"/>
          </a:p>
        </p:txBody>
      </p:sp>
      <p:sp>
        <p:nvSpPr>
          <p:cNvPr id="16" name="矩形 15"/>
          <p:cNvSpPr/>
          <p:nvPr/>
        </p:nvSpPr>
        <p:spPr bwMode="auto">
          <a:xfrm>
            <a:off x="414636" y="3638522"/>
            <a:ext cx="8153186" cy="1219168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16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class </a:t>
            </a:r>
            <a:r>
              <a:rPr lang="en-US" altLang="zh-CN" sz="1600" dirty="0" err="1" smtClean="0"/>
              <a:t>MongoModel</a:t>
            </a:r>
            <a:r>
              <a:rPr lang="en-US" altLang="zh-CN" sz="1600" dirty="0" smtClean="0"/>
              <a:t>{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chemeClr val="accent3">
                    <a:lumMod val="50000"/>
                  </a:schemeClr>
                </a:solidFill>
                <a:effectLst/>
                <a:latin typeface="Arial" pitchFamily="34" charset="0"/>
                <a:ea typeface="宋体" pitchFamily="2" charset="-122"/>
              </a:rPr>
              <a:t>……</a:t>
            </a:r>
            <a:r>
              <a:rPr lang="en-US" altLang="zh-CN" sz="16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}</a:t>
            </a:r>
          </a:p>
          <a:p>
            <a:r>
              <a:rPr lang="zh-CN" altLang="en-US" sz="1600" dirty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基于</a:t>
            </a:r>
            <a:r>
              <a:rPr lang="en-US" altLang="zh-CN" sz="1600" dirty="0" err="1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MongoDB</a:t>
            </a:r>
            <a:r>
              <a:rPr lang="zh-CN" altLang="en-US" sz="1600" dirty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的数据模型的基</a:t>
            </a:r>
            <a:r>
              <a:rPr lang="zh-CN" altLang="en-US" sz="16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类</a:t>
            </a:r>
            <a:endParaRPr lang="en-US" altLang="zh-CN" sz="1600" dirty="0" smtClean="0">
              <a:solidFill>
                <a:schemeClr val="accent3">
                  <a:lumMod val="50000"/>
                </a:schemeClr>
              </a:solidFill>
              <a:latin typeface="Arial" pitchFamily="34" charset="0"/>
              <a:ea typeface="宋体" pitchFamily="2" charset="-122"/>
            </a:endParaRPr>
          </a:p>
          <a:p>
            <a:r>
              <a:rPr lang="zh-CN" altLang="en-US" sz="12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程序中的数据模型都继承自此类，此类中已定义了数据模型通用的方法</a:t>
            </a:r>
            <a:r>
              <a:rPr lang="en-US" altLang="zh-CN" sz="12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,</a:t>
            </a:r>
          </a:p>
          <a:p>
            <a:r>
              <a:rPr lang="zh-CN" altLang="en-US" sz="1000" dirty="0" smtClean="0">
                <a:solidFill>
                  <a:schemeClr val="accent3">
                    <a:lumMod val="50000"/>
                  </a:schemeClr>
                </a:solidFill>
                <a:latin typeface="Arial" pitchFamily="34" charset="0"/>
                <a:ea typeface="宋体" pitchFamily="2" charset="-122"/>
              </a:rPr>
              <a:t>如：</a:t>
            </a:r>
            <a:r>
              <a:rPr lang="en-US" altLang="zh-CN" sz="1000" dirty="0" err="1" smtClean="0"/>
              <a:t>getAll</a:t>
            </a:r>
            <a:r>
              <a:rPr lang="zh-CN" altLang="en-US" sz="1000" dirty="0" smtClean="0"/>
              <a:t>、</a:t>
            </a:r>
            <a:r>
              <a:rPr lang="en-US" altLang="zh-CN" sz="1000" dirty="0" err="1" smtClean="0"/>
              <a:t>getOne</a:t>
            </a:r>
            <a:r>
              <a:rPr lang="zh-CN" altLang="en-US" sz="1000" dirty="0" smtClean="0"/>
              <a:t>、</a:t>
            </a:r>
            <a:r>
              <a:rPr lang="en-US" altLang="zh-CN" sz="1000" dirty="0" smtClean="0"/>
              <a:t>delete</a:t>
            </a:r>
            <a:r>
              <a:rPr lang="zh-CN" altLang="en-US" sz="1000" dirty="0" smtClean="0"/>
              <a:t>、</a:t>
            </a:r>
            <a:r>
              <a:rPr lang="en-US" altLang="zh-CN" sz="1000" dirty="0" err="1" smtClean="0"/>
              <a:t>deleteAll</a:t>
            </a:r>
            <a:r>
              <a:rPr lang="zh-CN" altLang="en-US" sz="1000" dirty="0" smtClean="0"/>
              <a:t>、</a:t>
            </a:r>
            <a:r>
              <a:rPr lang="en-US" altLang="zh-CN" sz="1000" dirty="0" err="1" smtClean="0"/>
              <a:t>get_info</a:t>
            </a:r>
            <a:r>
              <a:rPr lang="en-US" altLang="zh-CN" sz="1000" dirty="0" err="1"/>
              <a:t>|</a:t>
            </a:r>
            <a:r>
              <a:rPr lang="en-US" altLang="zh-CN" sz="1000" dirty="0" err="1" smtClean="0"/>
              <a:t>loadById</a:t>
            </a:r>
            <a:r>
              <a:rPr lang="zh-CN" altLang="en-US" sz="1000" dirty="0" smtClean="0"/>
              <a:t>、</a:t>
            </a:r>
            <a:r>
              <a:rPr lang="en-US" altLang="zh-CN" sz="1000" dirty="0" err="1" smtClean="0"/>
              <a:t>add</a:t>
            </a:r>
            <a:r>
              <a:rPr lang="en-US" altLang="zh-CN" sz="1000" dirty="0" err="1"/>
              <a:t>|</a:t>
            </a:r>
            <a:r>
              <a:rPr lang="en-US" altLang="zh-CN" sz="1000" dirty="0" err="1" smtClean="0"/>
              <a:t>insert</a:t>
            </a:r>
            <a:r>
              <a:rPr lang="zh-CN" altLang="en-US" sz="1000" dirty="0" smtClean="0"/>
              <a:t>、</a:t>
            </a:r>
            <a:r>
              <a:rPr lang="en-US" altLang="zh-CN" sz="1000" dirty="0" err="1" smtClean="0"/>
              <a:t>batchInsert</a:t>
            </a:r>
            <a:r>
              <a:rPr lang="zh-CN" altLang="en-US" sz="1000" dirty="0" smtClean="0"/>
              <a:t>、</a:t>
            </a:r>
            <a:endParaRPr lang="en-US" altLang="zh-CN" sz="1000" dirty="0" smtClean="0"/>
          </a:p>
          <a:p>
            <a:r>
              <a:rPr lang="en-US" altLang="zh-CN" sz="1000" dirty="0" smtClean="0"/>
              <a:t>edit</a:t>
            </a:r>
            <a:r>
              <a:rPr lang="zh-CN" altLang="en-US" sz="1000" dirty="0" smtClean="0"/>
              <a:t>、</a:t>
            </a:r>
            <a:r>
              <a:rPr lang="en-US" altLang="zh-CN" sz="1000" dirty="0" err="1"/>
              <a:t>geoNear</a:t>
            </a:r>
            <a:r>
              <a:rPr lang="zh-CN" altLang="en-US" sz="1000" dirty="0" smtClean="0"/>
              <a:t>、以及数据验证方法</a:t>
            </a:r>
            <a:r>
              <a:rPr lang="en-US" altLang="zh-CN" sz="1000" dirty="0"/>
              <a:t>_</a:t>
            </a:r>
            <a:r>
              <a:rPr lang="en-US" altLang="zh-CN" sz="1000" dirty="0" smtClean="0"/>
              <a:t>valid</a:t>
            </a:r>
            <a:r>
              <a:rPr lang="zh-CN" altLang="en-US" sz="1000" dirty="0" smtClean="0"/>
              <a:t>、</a:t>
            </a:r>
            <a:r>
              <a:rPr lang="en-US" altLang="zh-CN" sz="1000" dirty="0" err="1" smtClean="0"/>
              <a:t>getRequiredFields</a:t>
            </a:r>
            <a:r>
              <a:rPr lang="zh-CN" altLang="en-US" sz="1000" dirty="0" smtClean="0"/>
              <a:t>、</a:t>
            </a:r>
            <a:r>
              <a:rPr lang="en-US" altLang="zh-CN" sz="1000" dirty="0"/>
              <a:t>_</a:t>
            </a:r>
            <a:r>
              <a:rPr lang="en-US" altLang="zh-CN" sz="1000" dirty="0" err="1" smtClean="0"/>
              <a:t>dataEnough</a:t>
            </a:r>
            <a:r>
              <a:rPr lang="zh-CN" altLang="en-US" sz="1000" dirty="0" smtClean="0"/>
              <a:t>、</a:t>
            </a:r>
            <a:endParaRPr lang="en-US" altLang="zh-CN" sz="1000" dirty="0">
              <a:solidFill>
                <a:schemeClr val="accent3">
                  <a:lumMod val="50000"/>
                </a:schemeClr>
              </a:solidFill>
              <a:latin typeface="Arial" pitchFamily="34" charset="0"/>
              <a:ea typeface="宋体" pitchFamily="2" charset="-122"/>
            </a:endParaRPr>
          </a:p>
          <a:p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chemeClr val="accent3">
                  <a:lumMod val="50000"/>
                </a:schemeClr>
              </a:solidFill>
              <a:effectLst/>
              <a:latin typeface="Arial" pitchFamily="34" charset="0"/>
              <a:ea typeface="宋体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900893" y="3790918"/>
            <a:ext cx="2057345" cy="914376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568232"/>
              </p:ext>
            </p:extLst>
          </p:nvPr>
        </p:nvGraphicFramePr>
        <p:xfrm>
          <a:off x="6083239" y="2444744"/>
          <a:ext cx="16256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包装程序外壳对象" showAsIcon="1" r:id="rId5" imgW="1626120" imgH="711360" progId="Package">
                  <p:embed/>
                </p:oleObj>
              </mc:Choice>
              <mc:Fallback>
                <p:oleObj name="包装程序外壳对象" showAsIcon="1" r:id="rId5" imgW="1626120" imgH="711360" progId="Package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239" y="2444744"/>
                        <a:ext cx="16256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635232"/>
              </p:ext>
            </p:extLst>
          </p:nvPr>
        </p:nvGraphicFramePr>
        <p:xfrm>
          <a:off x="6135815" y="3892506"/>
          <a:ext cx="1587500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包装程序外壳对象" showAsIcon="1" r:id="rId7" imgW="1587960" imgH="711360" progId="Package">
                  <p:embed/>
                </p:oleObj>
              </mc:Choice>
              <mc:Fallback>
                <p:oleObj name="包装程序外壳对象" showAsIcon="1" r:id="rId7" imgW="1587960" imgH="711360" progId="Package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5815" y="3892506"/>
                        <a:ext cx="1587500" cy="71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9832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662" y="86916"/>
            <a:ext cx="7831049" cy="432197"/>
          </a:xfrm>
        </p:spPr>
        <p:txBody>
          <a:bodyPr/>
          <a:lstStyle/>
          <a:p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MongoModel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介绍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67" y="745709"/>
            <a:ext cx="6238875" cy="27717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80" y="669549"/>
            <a:ext cx="6857820" cy="43486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75" y="575200"/>
            <a:ext cx="6476830" cy="44239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19603131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MongoModel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介绍</a:t>
            </a:r>
          </a:p>
        </p:txBody>
      </p:sp>
      <p:sp>
        <p:nvSpPr>
          <p:cNvPr id="4" name="文本占位符 3"/>
          <p:cNvSpPr txBox="1">
            <a:spLocks/>
          </p:cNvSpPr>
          <p:nvPr/>
        </p:nvSpPr>
        <p:spPr bwMode="auto">
          <a:xfrm>
            <a:off x="457200" y="1151335"/>
            <a:ext cx="4040188" cy="4798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²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3038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−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01700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3353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新增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457200" y="1631156"/>
            <a:ext cx="4040188" cy="2963466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 marL="182563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²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3038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−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01700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3353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dirty="0" smtClean="0"/>
              <a:t>add(array </a:t>
            </a:r>
            <a:r>
              <a:rPr lang="en-US" altLang="zh-CN" dirty="0"/>
              <a:t>$data)</a:t>
            </a:r>
            <a:r>
              <a:rPr lang="en-US" altLang="zh-CN" sz="1400" dirty="0" smtClean="0"/>
              <a:t>       </a:t>
            </a:r>
          </a:p>
          <a:p>
            <a:pPr marL="0" indent="0">
              <a:buNone/>
            </a:pPr>
            <a:r>
              <a:rPr lang="zh-CN" altLang="en-US" sz="1400" dirty="0" smtClean="0"/>
              <a:t>      添加</a:t>
            </a:r>
            <a:r>
              <a:rPr lang="zh-CN" altLang="en-US" sz="1400" dirty="0"/>
              <a:t>一条记录</a:t>
            </a:r>
            <a:endParaRPr lang="en-US" altLang="zh-CN" sz="1400" dirty="0" smtClean="0"/>
          </a:p>
          <a:p>
            <a:r>
              <a:rPr lang="en-US" altLang="zh-CN" dirty="0" smtClean="0"/>
              <a:t>insert(array </a:t>
            </a:r>
            <a:r>
              <a:rPr lang="en-US" altLang="zh-CN" u="sng" dirty="0" smtClean="0"/>
              <a:t>$data)</a:t>
            </a:r>
          </a:p>
          <a:p>
            <a:pPr marL="0" indent="0">
              <a:buNone/>
            </a:pPr>
            <a:r>
              <a:rPr lang="zh-CN" altLang="en-US" sz="1400" dirty="0" smtClean="0"/>
              <a:t>     插入</a:t>
            </a:r>
            <a:r>
              <a:rPr lang="zh-CN" altLang="en-US" sz="1400" dirty="0"/>
              <a:t>一条数据 </a:t>
            </a:r>
            <a:r>
              <a:rPr lang="en-US" altLang="zh-CN" sz="1400" dirty="0"/>
              <a:t>see $this-&gt;add($data);</a:t>
            </a:r>
            <a:endParaRPr lang="en-US" altLang="zh-CN" sz="1400" dirty="0" smtClean="0"/>
          </a:p>
          <a:p>
            <a:r>
              <a:rPr lang="en-US" altLang="zh-CN" sz="2000" dirty="0" err="1"/>
              <a:t>batchInsert</a:t>
            </a:r>
            <a:r>
              <a:rPr lang="en-US" altLang="zh-CN" sz="2000" dirty="0"/>
              <a:t>(array </a:t>
            </a:r>
            <a:r>
              <a:rPr lang="en-US" altLang="zh-CN" sz="2000" u="sng" dirty="0"/>
              <a:t>$data</a:t>
            </a:r>
            <a:r>
              <a:rPr lang="en-US" altLang="zh-CN" sz="2000" u="sng" dirty="0" smtClean="0"/>
              <a:t>)</a:t>
            </a:r>
          </a:p>
          <a:p>
            <a:pPr marL="0" indent="0">
              <a:buNone/>
            </a:pPr>
            <a:r>
              <a:rPr lang="zh-CN" altLang="en-US" sz="1600" dirty="0" smtClean="0"/>
              <a:t>   批量</a:t>
            </a:r>
            <a:r>
              <a:rPr lang="zh-CN" altLang="en-US" sz="1600" dirty="0"/>
              <a:t>插入数据</a:t>
            </a:r>
            <a:endParaRPr lang="zh-CN" altLang="en-US" sz="1500" dirty="0"/>
          </a:p>
        </p:txBody>
      </p:sp>
      <p:sp>
        <p:nvSpPr>
          <p:cNvPr id="6" name="文本占位符 5"/>
          <p:cNvSpPr txBox="1">
            <a:spLocks/>
          </p:cNvSpPr>
          <p:nvPr/>
        </p:nvSpPr>
        <p:spPr>
          <a:xfrm>
            <a:off x="4645026" y="1151335"/>
            <a:ext cx="4041775" cy="4798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182563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²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3038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−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01700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3353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删除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内容占位符 6"/>
          <p:cNvSpPr txBox="1">
            <a:spLocks/>
          </p:cNvSpPr>
          <p:nvPr/>
        </p:nvSpPr>
        <p:spPr>
          <a:xfrm>
            <a:off x="4645026" y="1631156"/>
            <a:ext cx="4041775" cy="2963466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 marL="182563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²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3038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−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01700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3353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sz="2000" dirty="0"/>
              <a:t>delete(</a:t>
            </a:r>
            <a:r>
              <a:rPr lang="en-US" altLang="zh-CN" sz="2000" u="sng" dirty="0"/>
              <a:t>$where = array())</a:t>
            </a:r>
            <a:endParaRPr lang="en-US" altLang="zh-CN" sz="2000" dirty="0" smtClean="0"/>
          </a:p>
          <a:p>
            <a:r>
              <a:rPr lang="en-US" altLang="zh-CN" sz="2000" dirty="0" err="1"/>
              <a:t>deleteAll</a:t>
            </a:r>
            <a:r>
              <a:rPr lang="en-US" altLang="zh-CN" sz="2000" dirty="0"/>
              <a:t>(</a:t>
            </a:r>
            <a:r>
              <a:rPr lang="en-US" altLang="zh-CN" sz="2000" u="sng" dirty="0"/>
              <a:t>$where = array</a:t>
            </a:r>
            <a:r>
              <a:rPr lang="en-US" altLang="zh-CN" sz="2000" u="sng" dirty="0" smtClean="0"/>
              <a:t>())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90747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MongoModel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介绍</a:t>
            </a:r>
          </a:p>
        </p:txBody>
      </p:sp>
      <p:sp>
        <p:nvSpPr>
          <p:cNvPr id="4" name="文本占位符 3"/>
          <p:cNvSpPr txBox="1">
            <a:spLocks/>
          </p:cNvSpPr>
          <p:nvPr/>
        </p:nvSpPr>
        <p:spPr bwMode="auto">
          <a:xfrm>
            <a:off x="457200" y="1151335"/>
            <a:ext cx="4040188" cy="4798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82563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²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3038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−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01700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3353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更新</a:t>
            </a:r>
          </a:p>
        </p:txBody>
      </p:sp>
      <p:sp>
        <p:nvSpPr>
          <p:cNvPr id="5" name="内容占位符 4"/>
          <p:cNvSpPr txBox="1">
            <a:spLocks/>
          </p:cNvSpPr>
          <p:nvPr/>
        </p:nvSpPr>
        <p:spPr>
          <a:xfrm>
            <a:off x="457200" y="1631156"/>
            <a:ext cx="4040188" cy="2963466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>
            <a:lvl1pPr marL="182563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²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3038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−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01700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3353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dirty="0"/>
              <a:t>edit(</a:t>
            </a:r>
            <a:r>
              <a:rPr lang="en-US" altLang="zh-CN" u="sng" dirty="0"/>
              <a:t>$id, array $data</a:t>
            </a:r>
            <a:r>
              <a:rPr lang="en-US" altLang="zh-CN" u="sng" dirty="0" smtClean="0"/>
              <a:t>)</a:t>
            </a:r>
            <a:endParaRPr lang="en-US" altLang="zh-CN" sz="1400" dirty="0" smtClean="0"/>
          </a:p>
        </p:txBody>
      </p:sp>
      <p:sp>
        <p:nvSpPr>
          <p:cNvPr id="6" name="文本占位符 5"/>
          <p:cNvSpPr txBox="1">
            <a:spLocks/>
          </p:cNvSpPr>
          <p:nvPr/>
        </p:nvSpPr>
        <p:spPr>
          <a:xfrm>
            <a:off x="4645026" y="1151335"/>
            <a:ext cx="4041775" cy="4798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 marL="182563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²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3038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−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01700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3353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查询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内容占位符 6"/>
          <p:cNvSpPr txBox="1">
            <a:spLocks/>
          </p:cNvSpPr>
          <p:nvPr/>
        </p:nvSpPr>
        <p:spPr>
          <a:xfrm>
            <a:off x="4645026" y="1631156"/>
            <a:ext cx="4041775" cy="2963466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>
            <a:normAutofit fontScale="77500" lnSpcReduction="20000"/>
          </a:bodyPr>
          <a:lstStyle>
            <a:lvl1pPr marL="182563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²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4988" indent="-173038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Font typeface="Arial" charset="0"/>
              <a:buChar char="−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901700" indent="-182563" algn="l" rtl="0" eaLnBrk="0" fontAlgn="base" hangingPunct="0">
              <a:lnSpc>
                <a:spcPct val="125000"/>
              </a:lnSpc>
              <a:spcBef>
                <a:spcPct val="20000"/>
              </a:spcBef>
              <a:spcAft>
                <a:spcPct val="0"/>
              </a:spcAft>
              <a:buChar char="•"/>
              <a:defRPr sz="16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33538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r>
              <a:rPr lang="en-US" altLang="zh-CN" dirty="0" err="1"/>
              <a:t>get_info</a:t>
            </a:r>
            <a:r>
              <a:rPr lang="en-US" altLang="zh-CN" dirty="0"/>
              <a:t>(</a:t>
            </a:r>
            <a:r>
              <a:rPr lang="en-US" altLang="zh-CN" u="sng" dirty="0"/>
              <a:t>$id</a:t>
            </a:r>
            <a:r>
              <a:rPr lang="en-US" altLang="zh-CN" u="sng" dirty="0" smtClean="0"/>
              <a:t>)</a:t>
            </a:r>
          </a:p>
          <a:p>
            <a:r>
              <a:rPr lang="en-US" altLang="zh-CN" sz="1200" dirty="0" err="1"/>
              <a:t>loadById</a:t>
            </a:r>
            <a:r>
              <a:rPr lang="en-US" altLang="zh-CN" sz="1200" dirty="0"/>
              <a:t>(</a:t>
            </a:r>
            <a:r>
              <a:rPr lang="en-US" altLang="zh-CN" sz="1200" u="sng" dirty="0"/>
              <a:t>$id, $fields = array(),$excludes = array</a:t>
            </a:r>
            <a:r>
              <a:rPr lang="en-US" altLang="zh-CN" sz="1200" u="sng" dirty="0" smtClean="0"/>
              <a:t>())</a:t>
            </a:r>
          </a:p>
          <a:p>
            <a:r>
              <a:rPr lang="en-US" altLang="zh-CN" sz="1200" dirty="0" err="1"/>
              <a:t>getOne</a:t>
            </a:r>
            <a:r>
              <a:rPr lang="en-US" altLang="zh-CN" sz="1200" dirty="0"/>
              <a:t>(</a:t>
            </a:r>
            <a:r>
              <a:rPr lang="en-US" altLang="zh-CN" sz="1200" u="sng" dirty="0"/>
              <a:t>$select = array(),array $where = array</a:t>
            </a:r>
            <a:r>
              <a:rPr lang="en-US" altLang="zh-CN" sz="1200" u="sng" dirty="0" smtClean="0"/>
              <a:t>())</a:t>
            </a:r>
          </a:p>
          <a:p>
            <a:r>
              <a:rPr lang="en-US" altLang="zh-CN" sz="1200" dirty="0" err="1"/>
              <a:t>getAll</a:t>
            </a:r>
            <a:r>
              <a:rPr lang="en-US" altLang="zh-CN" sz="1200" dirty="0"/>
              <a:t>(</a:t>
            </a:r>
            <a:r>
              <a:rPr lang="en-US" altLang="zh-CN" sz="1200" u="sng" dirty="0"/>
              <a:t>$select = array(),array $where = array(),$order = array(),$count = 20, $offset = 0</a:t>
            </a:r>
            <a:r>
              <a:rPr lang="en-US" altLang="zh-CN" sz="1200" u="sng" dirty="0" smtClean="0"/>
              <a:t>)</a:t>
            </a:r>
          </a:p>
          <a:p>
            <a:pPr marL="361950" lvl="1" indent="0">
              <a:buNone/>
            </a:pPr>
            <a:r>
              <a:rPr lang="en-US" altLang="zh-CN" sz="800" dirty="0"/>
              <a:t>/**</a:t>
            </a:r>
          </a:p>
          <a:p>
            <a:r>
              <a:rPr lang="zh-CN" altLang="en-US" sz="1200" dirty="0"/>
              <a:t>     * 获取文档列表</a:t>
            </a:r>
          </a:p>
          <a:p>
            <a:r>
              <a:rPr lang="en-US" altLang="zh-CN" sz="1200" dirty="0"/>
              <a:t>     * @</a:t>
            </a:r>
            <a:r>
              <a:rPr lang="en-US" altLang="zh-CN" sz="1200" dirty="0" err="1"/>
              <a:t>param</a:t>
            </a:r>
            <a:r>
              <a:rPr lang="en-US" altLang="zh-CN" sz="1200" dirty="0"/>
              <a:t> </a:t>
            </a:r>
            <a:r>
              <a:rPr lang="en-US" altLang="zh-CN" sz="1200" dirty="0" err="1"/>
              <a:t>array|string</a:t>
            </a:r>
            <a:r>
              <a:rPr lang="en-US" altLang="zh-CN" sz="1200" dirty="0"/>
              <a:t> $select </a:t>
            </a:r>
            <a:r>
              <a:rPr lang="zh-CN" altLang="en-US" sz="1200" dirty="0"/>
              <a:t>支持 </a:t>
            </a:r>
            <a:r>
              <a:rPr lang="en-US" altLang="zh-CN" sz="1200" dirty="0" err="1"/>
              <a:t>name,age,address</a:t>
            </a:r>
            <a:r>
              <a:rPr lang="zh-CN" altLang="en-US" sz="1200" dirty="0"/>
              <a:t>写法</a:t>
            </a:r>
          </a:p>
          <a:p>
            <a:r>
              <a:rPr lang="en-US" altLang="zh-CN" sz="1200" dirty="0"/>
              <a:t>     * @</a:t>
            </a:r>
            <a:r>
              <a:rPr lang="en-US" altLang="zh-CN" sz="1200" dirty="0" err="1"/>
              <a:t>param</a:t>
            </a:r>
            <a:r>
              <a:rPr lang="en-US" altLang="zh-CN" sz="1200" dirty="0"/>
              <a:t> array $where</a:t>
            </a:r>
          </a:p>
          <a:p>
            <a:r>
              <a:rPr lang="en-US" altLang="zh-CN" sz="1200" dirty="0"/>
              <a:t>     * @</a:t>
            </a:r>
            <a:r>
              <a:rPr lang="en-US" altLang="zh-CN" sz="1200" dirty="0" err="1"/>
              <a:t>param</a:t>
            </a:r>
            <a:r>
              <a:rPr lang="en-US" altLang="zh-CN" sz="1200" dirty="0"/>
              <a:t> </a:t>
            </a:r>
            <a:r>
              <a:rPr lang="en-US" altLang="zh-CN" sz="1200" dirty="0" err="1"/>
              <a:t>array|string</a:t>
            </a:r>
            <a:r>
              <a:rPr lang="en-US" altLang="zh-CN" sz="1200" dirty="0"/>
              <a:t> $order </a:t>
            </a:r>
            <a:r>
              <a:rPr lang="zh-CN" altLang="en-US" sz="1200" dirty="0"/>
              <a:t>支持</a:t>
            </a:r>
            <a:r>
              <a:rPr lang="en-US" altLang="zh-CN" sz="1200" dirty="0"/>
              <a:t>name </a:t>
            </a:r>
            <a:r>
              <a:rPr lang="en-US" altLang="zh-CN" sz="1200" dirty="0" err="1"/>
              <a:t>desc,age</a:t>
            </a:r>
            <a:r>
              <a:rPr lang="en-US" altLang="zh-CN" sz="1200" dirty="0"/>
              <a:t> </a:t>
            </a:r>
            <a:r>
              <a:rPr lang="en-US" altLang="zh-CN" sz="1200" dirty="0" err="1"/>
              <a:t>asc</a:t>
            </a:r>
            <a:r>
              <a:rPr lang="zh-CN" altLang="en-US" sz="1200" dirty="0"/>
              <a:t>写法</a:t>
            </a:r>
          </a:p>
          <a:p>
            <a:r>
              <a:rPr lang="en-US" altLang="zh-CN" sz="1200" dirty="0"/>
              <a:t>     * @</a:t>
            </a:r>
            <a:r>
              <a:rPr lang="en-US" altLang="zh-CN" sz="1200" dirty="0" err="1"/>
              <a:t>param</a:t>
            </a:r>
            <a:r>
              <a:rPr lang="en-US" altLang="zh-CN" sz="1200" dirty="0"/>
              <a:t> </a:t>
            </a:r>
            <a:r>
              <a:rPr lang="en-US" altLang="zh-CN" sz="1200" dirty="0" err="1"/>
              <a:t>int</a:t>
            </a:r>
            <a:r>
              <a:rPr lang="en-US" altLang="zh-CN" sz="1200" dirty="0"/>
              <a:t> $count</a:t>
            </a:r>
          </a:p>
          <a:p>
            <a:r>
              <a:rPr lang="en-US" altLang="zh-CN" sz="1200" dirty="0"/>
              <a:t>     * @</a:t>
            </a:r>
            <a:r>
              <a:rPr lang="en-US" altLang="zh-CN" sz="1200" dirty="0" err="1"/>
              <a:t>param</a:t>
            </a:r>
            <a:r>
              <a:rPr lang="en-US" altLang="zh-CN" sz="1200" dirty="0"/>
              <a:t> </a:t>
            </a:r>
            <a:r>
              <a:rPr lang="en-US" altLang="zh-CN" sz="1200" dirty="0" err="1"/>
              <a:t>int</a:t>
            </a:r>
            <a:r>
              <a:rPr lang="en-US" altLang="zh-CN" sz="1200" dirty="0"/>
              <a:t> $offset</a:t>
            </a:r>
          </a:p>
          <a:p>
            <a:r>
              <a:rPr lang="en-US" altLang="zh-CN" sz="1200" dirty="0"/>
              <a:t>     * @return array</a:t>
            </a:r>
          </a:p>
          <a:p>
            <a:r>
              <a:rPr lang="zh-CN" altLang="en-US" sz="1200" dirty="0"/>
              <a:t>     *</a:t>
            </a:r>
            <a:r>
              <a:rPr lang="en-US" altLang="zh-CN" sz="1200" dirty="0" smtClean="0"/>
              <a:t>/</a:t>
            </a:r>
          </a:p>
          <a:p>
            <a:r>
              <a:rPr lang="en-US" altLang="zh-CN" sz="1100" dirty="0" err="1"/>
              <a:t>geoNear</a:t>
            </a:r>
            <a:r>
              <a:rPr lang="en-US" altLang="zh-CN" sz="1100" dirty="0"/>
              <a:t>(array </a:t>
            </a:r>
            <a:r>
              <a:rPr lang="en-US" altLang="zh-CN" sz="1100" u="sng" dirty="0"/>
              <a:t>$location = array(), $distance=0, $</a:t>
            </a:r>
            <a:r>
              <a:rPr lang="en-US" altLang="zh-CN" sz="1100" u="sng" dirty="0" err="1"/>
              <a:t>num</a:t>
            </a:r>
            <a:r>
              <a:rPr lang="en-US" altLang="zh-CN" sz="1100" u="sng" dirty="0"/>
              <a:t> = 10, $query = array())</a:t>
            </a:r>
            <a:endParaRPr lang="en-US" altLang="zh-CN" sz="1200" u="sng" dirty="0" smtClean="0"/>
          </a:p>
        </p:txBody>
      </p:sp>
    </p:spTree>
    <p:extLst>
      <p:ext uri="{BB962C8B-B14F-4D97-AF65-F5344CB8AC3E}">
        <p14:creationId xmlns:p14="http://schemas.microsoft.com/office/powerpoint/2010/main" val="1476838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3663" y="86916"/>
            <a:ext cx="7573962" cy="432197"/>
          </a:xfrm>
        </p:spPr>
        <p:txBody>
          <a:bodyPr/>
          <a:lstStyle/>
          <a:p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MongoModel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及</a:t>
            </a: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MoTools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485" b="30802"/>
          <a:stretch/>
        </p:blipFill>
        <p:spPr bwMode="auto">
          <a:xfrm>
            <a:off x="224510" y="948362"/>
            <a:ext cx="4652282" cy="37569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61" y="1145665"/>
            <a:ext cx="6448425" cy="3362325"/>
          </a:xfrm>
          <a:prstGeom prst="rect">
            <a:avLst/>
          </a:prstGeom>
          <a:ln/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</p:pic>
    </p:spTree>
    <p:extLst>
      <p:ext uri="{BB962C8B-B14F-4D97-AF65-F5344CB8AC3E}">
        <p14:creationId xmlns:p14="http://schemas.microsoft.com/office/powerpoint/2010/main" val="109915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3663" y="86916"/>
            <a:ext cx="7573962" cy="432197"/>
          </a:xfrm>
        </p:spPr>
        <p:txBody>
          <a:bodyPr/>
          <a:lstStyle/>
          <a:p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MongoModel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及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MoTools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714" y="1123988"/>
            <a:ext cx="8534400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0133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更多关于</a:t>
            </a:r>
            <a:r>
              <a:rPr lang="en-US" altLang="zh-CN" dirty="0" err="1" smtClean="0">
                <a:solidFill>
                  <a:schemeClr val="tx1"/>
                </a:solidFill>
              </a:rPr>
              <a:t>MongoDB</a:t>
            </a:r>
            <a:r>
              <a:rPr lang="zh-CN" altLang="en-US" dirty="0" smtClean="0">
                <a:solidFill>
                  <a:schemeClr val="tx1"/>
                </a:solidFill>
              </a:rPr>
              <a:t>的</a:t>
            </a:r>
            <a:r>
              <a:rPr lang="en-US" altLang="zh-CN" dirty="0" smtClean="0">
                <a:solidFill>
                  <a:schemeClr val="tx1"/>
                </a:solidFill>
              </a:rPr>
              <a:t>PHP</a:t>
            </a:r>
            <a:r>
              <a:rPr lang="zh-CN" altLang="en-US" dirty="0" smtClean="0">
                <a:solidFill>
                  <a:schemeClr val="tx1"/>
                </a:solidFill>
              </a:rPr>
              <a:t>驱动</a:t>
            </a:r>
            <a:r>
              <a:rPr lang="en-US" altLang="zh-CN" dirty="0" smtClean="0">
                <a:solidFill>
                  <a:schemeClr val="tx1"/>
                </a:solidFill>
              </a:rPr>
              <a:t>API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dirty="0" smtClean="0"/>
              <a:t>在线手册：</a:t>
            </a:r>
            <a:r>
              <a:rPr lang="en-US" altLang="zh-CN" dirty="0" smtClean="0">
                <a:solidFill>
                  <a:srgbClr val="8C1E00"/>
                </a:solidFill>
                <a:hlinkClick r:id="rId2"/>
              </a:rPr>
              <a:t>http://cn2.php.net/manual/en/book.mongo.php</a:t>
            </a:r>
            <a:endParaRPr lang="zh-CN" altLang="en-US" dirty="0">
              <a:solidFill>
                <a:srgbClr val="8C1E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77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3200" dirty="0" smtClean="0">
                <a:solidFill>
                  <a:srgbClr val="0070C0"/>
                </a:solidFill>
              </a:rPr>
              <a:t>第三部分 </a:t>
            </a:r>
            <a:r>
              <a:rPr lang="en-US" altLang="zh-CN" sz="3200" dirty="0" err="1" smtClean="0">
                <a:solidFill>
                  <a:srgbClr val="0070C0"/>
                </a:solidFill>
              </a:rPr>
              <a:t>MongoDB</a:t>
            </a:r>
            <a:r>
              <a:rPr lang="zh-CN" altLang="en-US" sz="3200" dirty="0" smtClean="0">
                <a:solidFill>
                  <a:srgbClr val="0070C0"/>
                </a:solidFill>
              </a:rPr>
              <a:t>的高级应用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2953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0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</a:t>
            </a:r>
            <a:r>
              <a:rPr lang="en-US" altLang="zh-CN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b="0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altLang="zh-CN" b="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b="0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 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的兴起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AutoShape 2" descr="http://www.lbsvision.com/wp-content/uploads/2012/06/yeamo%EF%BC%8D1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http://www.lbsvision.com/wp-content/uploads/2012/06/yeamo%EF%BC%8D1.jp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60" y="713064"/>
            <a:ext cx="2816263" cy="4240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83" y="2343156"/>
            <a:ext cx="1847850" cy="762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047790"/>
            <a:ext cx="1981200" cy="8286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605" y="3518783"/>
            <a:ext cx="2857500" cy="10096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  <p:pic>
        <p:nvPicPr>
          <p:cNvPr id="4109" name="Picture 1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36" y="679978"/>
            <a:ext cx="2762250" cy="433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329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LBS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应用中基于位置的查询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在传统的解决方案</a:t>
            </a:r>
            <a:r>
              <a:rPr lang="en-US" altLang="zh-CN" b="0" dirty="0"/>
              <a:t>,</a:t>
            </a:r>
            <a:r>
              <a:rPr lang="zh-CN" altLang="en-US" b="0" dirty="0"/>
              <a:t>开发人员需要根据复杂的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几何运算</a:t>
            </a:r>
            <a:r>
              <a:rPr lang="zh-CN" altLang="en-US" b="0" dirty="0"/>
              <a:t>与大量的</a:t>
            </a:r>
            <a:r>
              <a:rPr lang="en-US" altLang="zh-CN" b="0" dirty="0"/>
              <a:t>SQL</a:t>
            </a:r>
            <a:r>
              <a:rPr lang="zh-CN" altLang="en-US" b="0" dirty="0"/>
              <a:t>语句进行查找</a:t>
            </a:r>
            <a:r>
              <a:rPr lang="en-US" altLang="zh-CN" b="0" dirty="0"/>
              <a:t>,</a:t>
            </a:r>
            <a:r>
              <a:rPr lang="zh-CN" altLang="en-US" b="0" dirty="0"/>
              <a:t>这无疑加大的开发人员的开发</a:t>
            </a:r>
            <a:r>
              <a:rPr lang="zh-CN" altLang="en-US" b="0" dirty="0" smtClean="0"/>
              <a:t>难度，查询性能也难以保证。</a:t>
            </a:r>
            <a:endParaRPr lang="en-US" altLang="zh-CN" b="0" dirty="0" smtClean="0"/>
          </a:p>
          <a:p>
            <a:r>
              <a:rPr lang="zh-CN" altLang="en-US" b="0" dirty="0" smtClean="0"/>
              <a:t>我们需要</a:t>
            </a:r>
            <a:r>
              <a:rPr lang="zh-CN" altLang="en-US" b="0" dirty="0"/>
              <a:t>更为</a:t>
            </a:r>
            <a:r>
              <a:rPr lang="zh-CN" altLang="en-US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方便</a:t>
            </a:r>
            <a:r>
              <a:rPr lang="zh-CN" altLang="en-US" dirty="0" smtClean="0">
                <a:solidFill>
                  <a:srgbClr val="0E11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高效</a:t>
            </a:r>
            <a:r>
              <a:rPr lang="zh-CN" altLang="en-US" b="0" dirty="0" smtClean="0"/>
              <a:t>的</a:t>
            </a:r>
            <a:r>
              <a:rPr lang="zh-CN" altLang="en-US" b="0" dirty="0"/>
              <a:t>解决</a:t>
            </a:r>
            <a:r>
              <a:rPr lang="zh-CN" altLang="en-US" b="0" dirty="0" smtClean="0"/>
              <a:t>方案</a:t>
            </a:r>
            <a:endParaRPr lang="en-US" altLang="zh-CN" b="0" dirty="0" smtClean="0"/>
          </a:p>
          <a:p>
            <a:r>
              <a:rPr lang="en-US" altLang="zh-CN" b="0" dirty="0" err="1" smtClean="0"/>
              <a:t>MongoDB</a:t>
            </a:r>
            <a:r>
              <a:rPr lang="zh-CN" altLang="en-US" b="0" dirty="0"/>
              <a:t>为我们完美解决此类</a:t>
            </a:r>
            <a:r>
              <a:rPr lang="en-US" altLang="zh-CN" b="0" dirty="0"/>
              <a:t>LBS</a:t>
            </a:r>
            <a:r>
              <a:rPr lang="zh-CN" altLang="en-US" b="0" dirty="0"/>
              <a:t>问题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indent="0">
              <a:buNone/>
            </a:pPr>
            <a:endParaRPr lang="en-US" altLang="zh-CN" sz="1200" dirty="0" smtClean="0"/>
          </a:p>
          <a:p>
            <a:pPr marL="0" indent="0">
              <a:buNone/>
            </a:pPr>
            <a:endParaRPr lang="en-US" altLang="zh-CN" dirty="0" smtClean="0"/>
          </a:p>
          <a:p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151436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662" y="86916"/>
            <a:ext cx="8059643" cy="432197"/>
          </a:xfrm>
        </p:spPr>
        <p:txBody>
          <a:bodyPr/>
          <a:lstStyle/>
          <a:p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基于地理空间（</a:t>
            </a:r>
            <a:r>
              <a:rPr lang="en-US" altLang="zh-CN" dirty="0"/>
              <a:t> </a:t>
            </a:r>
            <a:r>
              <a:rPr lang="en-US" altLang="zh-CN" dirty="0" smtClean="0"/>
              <a:t>Geo spatial 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）索引的查询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基于经纬度的</a:t>
            </a:r>
            <a:r>
              <a:rPr lang="en-US" altLang="zh-CN" dirty="0" smtClean="0"/>
              <a:t>2D</a:t>
            </a:r>
            <a:r>
              <a:rPr lang="zh-CN" altLang="en-US" dirty="0" smtClean="0"/>
              <a:t>索引</a:t>
            </a:r>
            <a:endParaRPr lang="en-US" altLang="zh-CN" dirty="0" smtClean="0"/>
          </a:p>
          <a:p>
            <a:r>
              <a:rPr lang="zh-CN" altLang="en-US" dirty="0" smtClean="0"/>
              <a:t>基于平面的查询：</a:t>
            </a:r>
            <a:r>
              <a:rPr lang="en-US" altLang="zh-CN" b="0" dirty="0" smtClean="0"/>
              <a:t>$near</a:t>
            </a:r>
            <a:r>
              <a:rPr lang="zh-CN" altLang="en-US" b="0" dirty="0" smtClean="0"/>
              <a:t>、</a:t>
            </a:r>
            <a:r>
              <a:rPr lang="en-US" altLang="zh-CN" b="0" dirty="0"/>
              <a:t> $</a:t>
            </a:r>
            <a:r>
              <a:rPr lang="en-US" altLang="zh-CN" b="0" dirty="0" smtClean="0"/>
              <a:t>box</a:t>
            </a:r>
            <a:r>
              <a:rPr lang="zh-CN" altLang="en-US" b="0" dirty="0" smtClean="0"/>
              <a:t>、</a:t>
            </a:r>
            <a:r>
              <a:rPr lang="en-US" altLang="zh-CN" b="0" dirty="0"/>
              <a:t> $</a:t>
            </a:r>
            <a:r>
              <a:rPr lang="en-US" altLang="zh-CN" b="0" dirty="0" smtClean="0"/>
              <a:t>center</a:t>
            </a:r>
            <a:r>
              <a:rPr lang="zh-CN" altLang="en-US" b="0" dirty="0" smtClean="0"/>
              <a:t>、</a:t>
            </a:r>
            <a:r>
              <a:rPr lang="en-US" altLang="zh-CN" b="0" dirty="0"/>
              <a:t> $</a:t>
            </a:r>
            <a:r>
              <a:rPr lang="en-US" altLang="zh-CN" b="0" dirty="0" smtClean="0"/>
              <a:t>polygon</a:t>
            </a:r>
          </a:p>
          <a:p>
            <a:r>
              <a:rPr lang="zh-CN" altLang="en-US" b="0" dirty="0" smtClean="0"/>
              <a:t>基于球面的查询：</a:t>
            </a:r>
            <a:r>
              <a:rPr lang="en-US" altLang="zh-CN" b="0" dirty="0"/>
              <a:t>$</a:t>
            </a:r>
            <a:r>
              <a:rPr lang="en-US" altLang="zh-CN" b="0" dirty="0" err="1" smtClean="0"/>
              <a:t>nearSphere</a:t>
            </a:r>
            <a:r>
              <a:rPr lang="zh-CN" altLang="en-US" b="0" dirty="0" smtClean="0"/>
              <a:t>、</a:t>
            </a:r>
            <a:r>
              <a:rPr lang="en-US" altLang="zh-CN" b="0" dirty="0" smtClean="0"/>
              <a:t>$</a:t>
            </a:r>
            <a:r>
              <a:rPr lang="en-US" altLang="zh-CN" b="0" dirty="0" err="1" smtClean="0"/>
              <a:t>centerSphere</a:t>
            </a:r>
            <a:r>
              <a:rPr lang="en-US" altLang="zh-CN" b="0" dirty="0" smtClean="0"/>
              <a:t>……</a:t>
            </a:r>
            <a:r>
              <a:rPr lang="zh-CN" altLang="en-US" b="0" dirty="0" smtClean="0"/>
              <a:t>    </a:t>
            </a:r>
            <a:r>
              <a:rPr lang="en-US" altLang="zh-CN" dirty="0" smtClean="0">
                <a:solidFill>
                  <a:srgbClr val="8C1E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v1.8</a:t>
            </a:r>
            <a:r>
              <a:rPr lang="en-US" altLang="zh-CN" dirty="0">
                <a:solidFill>
                  <a:srgbClr val="8C1E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</a:t>
            </a:r>
            <a:r>
              <a:rPr lang="en-US" altLang="zh-CN" b="0" dirty="0">
                <a:solidFill>
                  <a:srgbClr val="8C1E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en-US" altLang="zh-CN" dirty="0" smtClean="0">
              <a:solidFill>
                <a:srgbClr val="8C1E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zh-CN" altLang="en-US" dirty="0" smtClean="0"/>
              <a:t>手册：</a:t>
            </a:r>
            <a:r>
              <a:rPr lang="en-US" altLang="zh-CN" sz="1400" dirty="0" smtClean="0">
                <a:solidFill>
                  <a:srgbClr val="8C1E00"/>
                </a:solidFill>
                <a:hlinkClick r:id="rId2"/>
              </a:rPr>
              <a:t>http://www.mongodb.org/display/DOCS/Geospatial+Indexing</a:t>
            </a:r>
            <a:endParaRPr lang="en-US" altLang="zh-CN" sz="1400" dirty="0" smtClean="0">
              <a:solidFill>
                <a:srgbClr val="8C1E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21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662" y="86916"/>
            <a:ext cx="8059643" cy="432197"/>
          </a:xfrm>
        </p:spPr>
        <p:txBody>
          <a:bodyPr/>
          <a:lstStyle/>
          <a:p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基于地理空间（</a:t>
            </a:r>
            <a:r>
              <a:rPr lang="en-US" altLang="zh-CN" dirty="0"/>
              <a:t> </a:t>
            </a:r>
            <a:r>
              <a:rPr lang="en-US" altLang="zh-CN" dirty="0" smtClean="0"/>
              <a:t>Geo spatial 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）索引的查询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00" y="895394"/>
            <a:ext cx="7305675" cy="384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5228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662" y="86916"/>
            <a:ext cx="8059643" cy="432197"/>
          </a:xfrm>
        </p:spPr>
        <p:txBody>
          <a:bodyPr/>
          <a:lstStyle/>
          <a:p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基于地理空间（</a:t>
            </a:r>
            <a:r>
              <a:rPr lang="en-US" altLang="zh-CN" dirty="0"/>
              <a:t> </a:t>
            </a:r>
            <a:r>
              <a:rPr lang="en-US" altLang="zh-CN" dirty="0" smtClean="0"/>
              <a:t>Geo spatial 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）索引的查询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28" y="666800"/>
            <a:ext cx="6476830" cy="4420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295486" y="4476700"/>
            <a:ext cx="5724644" cy="461665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使用场景：获取某一坐标点附近的标注物</a:t>
            </a:r>
          </a:p>
        </p:txBody>
      </p:sp>
    </p:spTree>
    <p:extLst>
      <p:ext uri="{BB962C8B-B14F-4D97-AF65-F5344CB8AC3E}">
        <p14:creationId xmlns:p14="http://schemas.microsoft.com/office/powerpoint/2010/main" val="149381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3200" dirty="0" smtClean="0">
                <a:solidFill>
                  <a:srgbClr val="0070C0"/>
                </a:solidFill>
              </a:rPr>
              <a:t>第四部分 </a:t>
            </a:r>
            <a:r>
              <a:rPr lang="en-US" altLang="zh-CN" sz="3200" dirty="0" err="1" smtClean="0">
                <a:solidFill>
                  <a:srgbClr val="0070C0"/>
                </a:solidFill>
              </a:rPr>
              <a:t>MongoDB</a:t>
            </a:r>
            <a:r>
              <a:rPr lang="zh-CN" altLang="en-US" sz="3200" dirty="0" smtClean="0">
                <a:solidFill>
                  <a:srgbClr val="0070C0"/>
                </a:solidFill>
              </a:rPr>
              <a:t>的存储机制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74121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MongoDB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使用的存储引擎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/>
              <a:t>使用内存映射文件</a:t>
            </a:r>
            <a:r>
              <a:rPr lang="en-US" altLang="zh-CN" b="0" dirty="0" err="1">
                <a:hlinkClick r:id="rId2" tooltip="百度百科：mmap"/>
              </a:rPr>
              <a:t>mmap</a:t>
            </a:r>
            <a:r>
              <a:rPr lang="zh-CN" altLang="en-US" b="0" dirty="0"/>
              <a:t>实现，而</a:t>
            </a:r>
            <a:r>
              <a:rPr lang="en-US" altLang="zh-CN" b="0" dirty="0"/>
              <a:t>32</a:t>
            </a:r>
            <a:r>
              <a:rPr lang="zh-CN" altLang="en-US" b="0" dirty="0"/>
              <a:t>位机器受地址空间限制，所以单个实例最大数据空间仅为</a:t>
            </a:r>
            <a:r>
              <a:rPr lang="en-US" altLang="zh-CN" b="0" dirty="0"/>
              <a:t>2.5G</a:t>
            </a:r>
            <a:r>
              <a:rPr lang="zh-CN" altLang="en-US" b="0" dirty="0"/>
              <a:t>左右，</a:t>
            </a:r>
            <a:r>
              <a:rPr lang="en-US" altLang="zh-CN" b="0" dirty="0"/>
              <a:t>64</a:t>
            </a:r>
            <a:r>
              <a:rPr lang="zh-CN" altLang="en-US" b="0" dirty="0"/>
              <a:t>位机器基本无限制（</a:t>
            </a:r>
            <a:r>
              <a:rPr lang="en-US" altLang="zh-CN" b="0" dirty="0"/>
              <a:t>128T</a:t>
            </a:r>
            <a:r>
              <a:rPr lang="zh-CN" altLang="en-US" b="0" dirty="0"/>
              <a:t>），故建议使用</a:t>
            </a:r>
            <a:r>
              <a:rPr lang="en-US" altLang="zh-CN" b="0" dirty="0"/>
              <a:t>64</a:t>
            </a:r>
            <a:r>
              <a:rPr lang="zh-CN" altLang="en-US" b="0" dirty="0"/>
              <a:t>位机器部署</a:t>
            </a:r>
            <a:r>
              <a:rPr lang="zh-CN" altLang="en-US" b="0" dirty="0" smtClean="0"/>
              <a:t>。</a:t>
            </a:r>
            <a:endParaRPr lang="en-US" altLang="zh-CN" b="0" dirty="0" smtClean="0"/>
          </a:p>
          <a:p>
            <a:r>
              <a:rPr lang="zh-CN" altLang="en-US" b="0" dirty="0"/>
              <a:t>每个数据库由一个</a:t>
            </a:r>
            <a:r>
              <a:rPr lang="en-US" altLang="zh-CN" b="0" dirty="0"/>
              <a:t>.ns</a:t>
            </a:r>
            <a:r>
              <a:rPr lang="zh-CN" altLang="en-US" b="0" dirty="0"/>
              <a:t>元数据文件，以及多个数据文件组成（</a:t>
            </a:r>
            <a:r>
              <a:rPr lang="en-US" altLang="zh-CN" b="0" dirty="0" err="1"/>
              <a:t>dbname</a:t>
            </a:r>
            <a:r>
              <a:rPr lang="en-US" altLang="zh-CN" b="0" dirty="0"/>
              <a:t>.{0,1,2,……}</a:t>
            </a:r>
            <a:r>
              <a:rPr lang="zh-CN" altLang="en-US" b="0" dirty="0"/>
              <a:t>，以自增的数字为扩展名）。为了防止小数据库浪费空间，</a:t>
            </a:r>
            <a:r>
              <a:rPr lang="en-US" altLang="zh-CN" b="0" dirty="0" err="1"/>
              <a:t>MongoDB</a:t>
            </a:r>
            <a:r>
              <a:rPr lang="zh-CN" altLang="en-US" b="0" dirty="0"/>
              <a:t>的数据文件默认从</a:t>
            </a:r>
            <a:r>
              <a:rPr lang="en-US" altLang="zh-CN" b="0" dirty="0"/>
              <a:t>16M</a:t>
            </a:r>
            <a:r>
              <a:rPr lang="zh-CN" altLang="en-US" b="0" dirty="0"/>
              <a:t>开始，倍数级别增加，</a:t>
            </a:r>
            <a:r>
              <a:rPr lang="en-US" altLang="zh-CN" b="0" dirty="0"/>
              <a:t>2G</a:t>
            </a:r>
            <a:r>
              <a:rPr lang="zh-CN" altLang="en-US" b="0" dirty="0"/>
              <a:t>为单个数据文件的大小上限</a:t>
            </a:r>
            <a:r>
              <a:rPr lang="zh-CN" altLang="en-US" b="0" dirty="0" smtClean="0"/>
              <a:t>。</a:t>
            </a:r>
            <a:endParaRPr lang="en-US" altLang="zh-CN" b="0" dirty="0" smtClean="0"/>
          </a:p>
        </p:txBody>
      </p:sp>
    </p:spTree>
    <p:extLst>
      <p:ext uri="{BB962C8B-B14F-4D97-AF65-F5344CB8AC3E}">
        <p14:creationId xmlns:p14="http://schemas.microsoft.com/office/powerpoint/2010/main" val="273074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数据很少但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磁盘占用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了上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的空间？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dirty="0" smtClean="0"/>
              <a:t>存储空间预分配策略</a:t>
            </a:r>
            <a:endParaRPr lang="en-US" altLang="zh-CN" b="0" dirty="0" smtClean="0"/>
          </a:p>
          <a:p>
            <a:r>
              <a:rPr lang="en-US" altLang="zh-CN" b="0" dirty="0" smtClean="0"/>
              <a:t>16M&gt;32M&gt;64M&gt;128M&gt;256M&gt;512M&gt;1G&gt;2G&gt;2G</a:t>
            </a:r>
            <a:r>
              <a:rPr lang="en-US" altLang="zh-CN" b="0" dirty="0"/>
              <a:t>&gt;……</a:t>
            </a:r>
          </a:p>
          <a:p>
            <a:endParaRPr lang="zh-CN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80" y="1962166"/>
            <a:ext cx="3459173" cy="281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94" y="669519"/>
            <a:ext cx="6781622" cy="43838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531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MMAP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存储引擎原理详解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MMAP: </a:t>
            </a:r>
          </a:p>
          <a:p>
            <a:pPr marL="0" indent="0">
              <a:buNone/>
            </a:pPr>
            <a:r>
              <a:rPr lang="en-US" altLang="zh-CN" sz="1800" dirty="0" smtClean="0">
                <a:latin typeface="MingLiU_HKSCS-ExtB" pitchFamily="18" charset="-120"/>
                <a:ea typeface="MingLiU_HKSCS-ExtB" pitchFamily="18" charset="-120"/>
              </a:rPr>
              <a:t>map a file on disk in memory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17" y="1047790"/>
            <a:ext cx="4943475" cy="3743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6071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虚拟地址空间管理</a:t>
                </a:r>
                <a:endParaRPr lang="en-US" altLang="zh-CN" dirty="0" smtClean="0"/>
              </a:p>
              <a:p>
                <a:r>
                  <a:rPr lang="en-US" altLang="zh-CN" dirty="0" smtClean="0"/>
                  <a:t>32bit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altLang="zh-CN" b="0" dirty="0" smtClean="0"/>
                  <a:t> = 4GB</a:t>
                </a:r>
                <a:r>
                  <a:rPr lang="zh-CN" altLang="en-US" b="0" dirty="0" smtClean="0"/>
                  <a:t>？</a:t>
                </a:r>
                <a:endParaRPr lang="en-US" altLang="zh-CN" b="0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17" t="-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3663" y="86916"/>
            <a:ext cx="7573962" cy="432197"/>
          </a:xfrm>
        </p:spPr>
        <p:txBody>
          <a:bodyPr/>
          <a:lstStyle/>
          <a:p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MMAP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存储引擎原理详解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2990" y="658846"/>
            <a:ext cx="3276514" cy="432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83439" y="2419354"/>
            <a:ext cx="21836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-     </a:t>
            </a:r>
            <a:r>
              <a:rPr lang="en-US" altLang="zh-CN" dirty="0">
                <a:solidFill>
                  <a:srgbClr val="FF0000"/>
                </a:solidFill>
              </a:rPr>
              <a:t>1G  </a:t>
            </a:r>
            <a:r>
              <a:rPr lang="en-US" altLang="zh-CN" dirty="0" smtClean="0">
                <a:solidFill>
                  <a:srgbClr val="FF0000"/>
                </a:solidFill>
              </a:rPr>
              <a:t>Kernel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5276" y="2820990"/>
            <a:ext cx="41649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Tx/>
              <a:buChar char="-"/>
            </a:pPr>
            <a:r>
              <a:rPr lang="en-US" altLang="zh-CN" dirty="0" smtClean="0">
                <a:solidFill>
                  <a:srgbClr val="3399FF"/>
                </a:solidFill>
              </a:rPr>
              <a:t>   ≈</a:t>
            </a:r>
            <a:r>
              <a:rPr lang="en-US" altLang="zh-CN" dirty="0">
                <a:solidFill>
                  <a:srgbClr val="3399FF"/>
                </a:solidFill>
              </a:rPr>
              <a:t>0.5G  stack </a:t>
            </a:r>
            <a:r>
              <a:rPr lang="en-US" altLang="zh-CN" dirty="0" err="1">
                <a:solidFill>
                  <a:srgbClr val="3399FF"/>
                </a:solidFill>
              </a:rPr>
              <a:t>mongod</a:t>
            </a:r>
            <a:r>
              <a:rPr lang="en-US" altLang="zh-CN" dirty="0">
                <a:solidFill>
                  <a:srgbClr val="3399FF"/>
                </a:solidFill>
              </a:rPr>
              <a:t> </a:t>
            </a:r>
            <a:r>
              <a:rPr lang="en-US" altLang="zh-CN" dirty="0" smtClean="0">
                <a:solidFill>
                  <a:srgbClr val="3399FF"/>
                </a:solidFill>
              </a:rPr>
              <a:t>……</a:t>
            </a:r>
            <a:endParaRPr lang="en-US" altLang="zh-CN" dirty="0">
              <a:solidFill>
                <a:srgbClr val="3399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20" y="3031644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altLang="zh-CN" dirty="0" smtClean="0"/>
              <a:t>————————————</a:t>
            </a:r>
          </a:p>
          <a:p>
            <a:pPr marL="0" indent="0">
              <a:buNone/>
            </a:pPr>
            <a:r>
              <a:rPr lang="en-US" altLang="zh-CN" dirty="0" smtClean="0"/>
              <a:t>         </a:t>
            </a:r>
            <a:r>
              <a:rPr lang="en-US" altLang="zh-CN" dirty="0" smtClean="0">
                <a:solidFill>
                  <a:srgbClr val="00B050"/>
                </a:solidFill>
              </a:rPr>
              <a:t>≈ </a:t>
            </a:r>
            <a:r>
              <a:rPr lang="en-US" altLang="zh-CN" dirty="0">
                <a:solidFill>
                  <a:srgbClr val="00B050"/>
                </a:solidFill>
              </a:rPr>
              <a:t>2.5G</a:t>
            </a: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64" y="3397861"/>
            <a:ext cx="1352550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166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20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2000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000"/>
                                        <p:tgtEl>
                                          <p:spTgt spid="102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虚拟地址空间管理</a:t>
                </a:r>
                <a:endParaRPr lang="en-US" altLang="zh-CN" dirty="0" smtClean="0"/>
              </a:p>
              <a:p>
                <a:r>
                  <a:rPr lang="en-US" altLang="zh-CN" dirty="0" smtClean="0"/>
                  <a:t>64bit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64</m:t>
                        </m:r>
                      </m:sup>
                    </m:sSup>
                  </m:oMath>
                </a14:m>
                <a:r>
                  <a:rPr lang="en-US" altLang="zh-CN" dirty="0" smtClean="0"/>
                  <a:t>=1.7</a:t>
                </a:r>
                <a:r>
                  <a:rPr lang="zh-CN" altLang="en-US" dirty="0" smtClean="0"/>
                  <a:t>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/>
                          </a:rPr>
                          <m:t>10</m:t>
                        </m:r>
                      </m:sup>
                    </m:sSup>
                  </m:oMath>
                </a14:m>
                <a:r>
                  <a:rPr lang="en-US" altLang="zh-CN" dirty="0" smtClean="0"/>
                  <a:t>GB</a:t>
                </a:r>
                <a:r>
                  <a:rPr lang="zh-CN" altLang="en-US" dirty="0" smtClean="0"/>
                  <a:t>？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17" t="-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93663" y="86916"/>
            <a:ext cx="7573962" cy="432197"/>
          </a:xfrm>
        </p:spPr>
        <p:txBody>
          <a:bodyPr/>
          <a:lstStyle/>
          <a:p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MMAP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存储引擎原理详解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1109" y="2495552"/>
            <a:ext cx="72314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zh-CN" altLang="en-US" dirty="0"/>
              <a:t>目前</a:t>
            </a:r>
            <a:r>
              <a:rPr lang="en-US" altLang="zh-CN" dirty="0"/>
              <a:t>AMD64</a:t>
            </a:r>
            <a:r>
              <a:rPr lang="zh-CN" altLang="en-US" dirty="0"/>
              <a:t>处理器支持的寻址空间是</a:t>
            </a:r>
            <a:r>
              <a:rPr lang="en-US" altLang="zh-CN" dirty="0"/>
              <a:t>40</a:t>
            </a:r>
            <a:r>
              <a:rPr lang="zh-CN" altLang="en-US" dirty="0"/>
              <a:t>位</a:t>
            </a:r>
            <a:r>
              <a:rPr lang="zh-CN" altLang="en-US" dirty="0" smtClean="0"/>
              <a:t>，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也就是</a:t>
            </a:r>
            <a:r>
              <a:rPr lang="en-US" altLang="zh-CN" dirty="0"/>
              <a:t>1TB</a:t>
            </a:r>
            <a:r>
              <a:rPr lang="zh-CN" altLang="en-US" dirty="0"/>
              <a:t>，虚拟地址空间可达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48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位</a:t>
            </a:r>
            <a:r>
              <a:rPr lang="zh-CN" altLang="en-US" dirty="0"/>
              <a:t>，也就是</a:t>
            </a:r>
            <a:r>
              <a:rPr lang="en-US" altLang="zh-CN" dirty="0" smtClean="0"/>
              <a:t>256TB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308" y="3486126"/>
            <a:ext cx="6165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0xF0 </a:t>
            </a:r>
            <a:r>
              <a:rPr lang="en-US" altLang="zh-CN" dirty="0">
                <a:solidFill>
                  <a:srgbClr val="FF0000"/>
                </a:solidFill>
              </a:rPr>
              <a:t>~ 0xFF kernel           </a:t>
            </a:r>
            <a:r>
              <a:rPr lang="en-US" altLang="zh-CN" dirty="0">
                <a:solidFill>
                  <a:srgbClr val="3399FF"/>
                </a:solidFill>
              </a:rPr>
              <a:t>0x00 ~ 0x7F </a:t>
            </a:r>
            <a:r>
              <a:rPr lang="en-US" altLang="zh-CN" dirty="0" smtClean="0">
                <a:solidFill>
                  <a:srgbClr val="3399FF"/>
                </a:solidFill>
              </a:rPr>
              <a:t>user</a:t>
            </a:r>
            <a:endParaRPr lang="zh-CN" altLang="en-US" dirty="0">
              <a:solidFill>
                <a:srgbClr val="3399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667050" y="4095710"/>
                <a:ext cx="4046172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5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54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altLang="zh-CN" sz="5400" i="1">
                            <a:solidFill>
                              <a:srgbClr val="00B050"/>
                            </a:solidFill>
                            <a:latin typeface="Cambria Math"/>
                          </a:rPr>
                          <m:t>47</m:t>
                        </m:r>
                      </m:sup>
                    </m:sSup>
                  </m:oMath>
                </a14:m>
                <a:r>
                  <a:rPr lang="en-US" altLang="zh-CN" sz="5400" dirty="0">
                    <a:solidFill>
                      <a:srgbClr val="00B050"/>
                    </a:solidFill>
                  </a:rPr>
                  <a:t> = </a:t>
                </a:r>
                <a:r>
                  <a:rPr lang="en-US" altLang="zh-CN" sz="5400" b="1" dirty="0" smtClean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128TB</a:t>
                </a:r>
                <a:endParaRPr lang="en-US" altLang="zh-CN" sz="54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50" y="4095710"/>
                <a:ext cx="4046172" cy="923330"/>
              </a:xfrm>
              <a:prstGeom prst="rect">
                <a:avLst/>
              </a:prstGeom>
              <a:blipFill rotWithShape="1">
                <a:blip r:embed="rId3"/>
                <a:stretch>
                  <a:fillRect t="-19868" r="-8899" b="-45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284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参考资料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1400" dirty="0" err="1" smtClean="0"/>
              <a:t>MongoDB</a:t>
            </a:r>
            <a:r>
              <a:rPr lang="en-US" altLang="zh-CN" sz="1400" dirty="0" smtClean="0"/>
              <a:t> </a:t>
            </a:r>
            <a:r>
              <a:rPr lang="zh-CN" altLang="en-US" sz="1400" dirty="0" smtClean="0"/>
              <a:t>官网：</a:t>
            </a:r>
            <a:r>
              <a:rPr lang="en-US" altLang="zh-CN" sz="1400" dirty="0" smtClean="0">
                <a:hlinkClick r:id="rId2"/>
              </a:rPr>
              <a:t>http://www.mongodb.org/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 smtClean="0"/>
              <a:t>PHP </a:t>
            </a:r>
            <a:r>
              <a:rPr lang="en-US" altLang="zh-CN" sz="1400" dirty="0" err="1" smtClean="0"/>
              <a:t>MongoDB</a:t>
            </a:r>
            <a:r>
              <a:rPr lang="zh-CN" altLang="en-US" sz="1400" dirty="0" smtClean="0"/>
              <a:t>驱动扩展手册：</a:t>
            </a:r>
            <a:r>
              <a:rPr lang="en-US" altLang="zh-CN" sz="1400" dirty="0">
                <a:hlinkClick r:id="rId3"/>
              </a:rPr>
              <a:t>http://</a:t>
            </a:r>
            <a:r>
              <a:rPr lang="en-US" altLang="zh-CN" sz="1400" dirty="0" smtClean="0">
                <a:hlinkClick r:id="rId3"/>
              </a:rPr>
              <a:t>cn2.php.net/manual/en/book.mongo.php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 smtClean="0"/>
              <a:t>10gen:    </a:t>
            </a:r>
            <a:r>
              <a:rPr lang="en-US" altLang="zh-CN" sz="1400" dirty="0" smtClean="0">
                <a:hlinkClick r:id="rId4"/>
              </a:rPr>
              <a:t>http://www.10gen.com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en-US" altLang="zh-CN" sz="1400" dirty="0" smtClean="0"/>
              <a:t>《</a:t>
            </a:r>
            <a:r>
              <a:rPr lang="en-US" altLang="zh-CN" sz="1400" dirty="0" err="1" smtClean="0"/>
              <a:t>MongoDB</a:t>
            </a:r>
            <a:r>
              <a:rPr lang="zh-CN" altLang="en-US" sz="1400" dirty="0" smtClean="0"/>
              <a:t>权威指南</a:t>
            </a:r>
            <a:r>
              <a:rPr lang="en-US" altLang="zh-CN" sz="1400" dirty="0" smtClean="0"/>
              <a:t>》</a:t>
            </a:r>
            <a:r>
              <a:rPr lang="zh-CN" altLang="en-US" sz="1400" dirty="0" smtClean="0"/>
              <a:t> 中文版</a:t>
            </a:r>
            <a:endParaRPr lang="en-US" altLang="zh-CN" sz="1400" dirty="0" smtClean="0"/>
          </a:p>
          <a:p>
            <a:pPr marL="0" indent="0">
              <a:buNone/>
            </a:pPr>
            <a:r>
              <a:rPr lang="zh-CN" altLang="en-US" sz="1400" smtClean="0"/>
              <a:t>分布式文档数据库 </a:t>
            </a:r>
            <a:r>
              <a:rPr lang="en-US" altLang="zh-CN" sz="1400" smtClean="0">
                <a:hlinkClick r:id="rId5"/>
              </a:rPr>
              <a:t>http://www.oschina.net/news/29715/mongodb-2-0-6</a:t>
            </a:r>
            <a:r>
              <a:rPr lang="en-US" altLang="zh-CN" sz="1400" smtClean="0"/>
              <a:t> </a:t>
            </a:r>
          </a:p>
          <a:p>
            <a:pPr marL="0" indent="0">
              <a:buNone/>
            </a:pPr>
            <a:endParaRPr lang="en-US" altLang="zh-CN" sz="1400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默认设计模板">
  <a:themeElements>
    <a:clrScheme name="2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2_默认设计模板">
      <a:majorFont>
        <a:latin typeface="Times New Roman"/>
        <a:ea typeface="华文细黑"/>
        <a:cs typeface=""/>
      </a:majorFont>
      <a:minorFont>
        <a:latin typeface="华文细黑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2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1398</TotalTime>
  <Pages>0</Pages>
  <Words>1422</Words>
  <Characters>0</Characters>
  <Application>Microsoft Office PowerPoint</Application>
  <DocSecurity>0</DocSecurity>
  <PresentationFormat>全屏显示(16:9)</PresentationFormat>
  <Lines>0</Lines>
  <Paragraphs>226</Paragraphs>
  <Slides>37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9" baseType="lpstr">
      <vt:lpstr>MingLiU_HKSCS-ExtB</vt:lpstr>
      <vt:lpstr>黑体</vt:lpstr>
      <vt:lpstr>华文细黑</vt:lpstr>
      <vt:lpstr>宋体</vt:lpstr>
      <vt:lpstr>微软雅黑</vt:lpstr>
      <vt:lpstr>Arial</vt:lpstr>
      <vt:lpstr>Cambria Math</vt:lpstr>
      <vt:lpstr>Times New Roman</vt:lpstr>
      <vt:lpstr>Verdana</vt:lpstr>
      <vt:lpstr>Wingdings</vt:lpstr>
      <vt:lpstr>2_默认设计模板</vt:lpstr>
      <vt:lpstr>包装程序外壳对象</vt:lpstr>
      <vt:lpstr>PowerPoint 演示文稿</vt:lpstr>
      <vt:lpstr>PowerPoint 演示文稿</vt:lpstr>
      <vt:lpstr>What’s MongoDB ?</vt:lpstr>
      <vt:lpstr>NoSQL(Not Only Sql)</vt:lpstr>
      <vt:lpstr>常见的 NoSQL</vt:lpstr>
      <vt:lpstr>WEB应用为什么用 NoSQL</vt:lpstr>
      <vt:lpstr>NoSQL特点总结</vt:lpstr>
      <vt:lpstr>MongoDB’s Features：</vt:lpstr>
      <vt:lpstr>关于MongoDB的一些概念</vt:lpstr>
      <vt:lpstr>MongoDB工作方式</vt:lpstr>
      <vt:lpstr>MongoDB的局限与不足</vt:lpstr>
      <vt:lpstr>MongoDB适用场景</vt:lpstr>
      <vt:lpstr>MongoDB数据类型</vt:lpstr>
      <vt:lpstr>MongoDB的ObjectId</vt:lpstr>
      <vt:lpstr>PowerPoint 演示文稿</vt:lpstr>
      <vt:lpstr>MongoDB的基本操作与SQL语句对比</vt:lpstr>
      <vt:lpstr>MongoDB的基本操作与SQL语句对比</vt:lpstr>
      <vt:lpstr>基于Mongo_db|MoTools|MongoModel开发</vt:lpstr>
      <vt:lpstr>MongoModel介绍</vt:lpstr>
      <vt:lpstr>MongoModel介绍</vt:lpstr>
      <vt:lpstr>MongoModel介绍</vt:lpstr>
      <vt:lpstr>MongoModel及MoTools应用</vt:lpstr>
      <vt:lpstr>MongoModel及MoTools应用</vt:lpstr>
      <vt:lpstr>更多关于MongoDB的PHP驱动API</vt:lpstr>
      <vt:lpstr>PowerPoint 演示文稿</vt:lpstr>
      <vt:lpstr>L B S 的兴起</vt:lpstr>
      <vt:lpstr>LBS应用中基于位置的查询</vt:lpstr>
      <vt:lpstr>基于地理空间（ Geo spatial ）索引的查询</vt:lpstr>
      <vt:lpstr>基于地理空间（ Geo spatial ）索引的查询</vt:lpstr>
      <vt:lpstr>基于地理空间（ Geo spatial ）索引的查询</vt:lpstr>
      <vt:lpstr>PowerPoint 演示文稿</vt:lpstr>
      <vt:lpstr>MongoDB使用的存储引擎</vt:lpstr>
      <vt:lpstr>数据很少但磁盘占用了上G的空间？</vt:lpstr>
      <vt:lpstr>MMAP存储引擎原理详解</vt:lpstr>
      <vt:lpstr>MMAP存储引擎原理详解</vt:lpstr>
      <vt:lpstr>MMAP存储引擎原理详解</vt:lpstr>
      <vt:lpstr>参考资料</vt:lpstr>
    </vt:vector>
  </TitlesOfParts>
  <Company>中国移动通信集团公司</Company>
  <LinksUpToDate>false</LinksUpToDate>
  <CharactersWithSpaces>0</CharactersWithSpaces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shenwei</dc:creator>
  <cp:lastModifiedBy>xatest3</cp:lastModifiedBy>
  <cp:revision>1862</cp:revision>
  <cp:lastPrinted>1601-01-01T00:00:00Z</cp:lastPrinted>
  <dcterms:created xsi:type="dcterms:W3CDTF">1601-01-01T00:00:00Z</dcterms:created>
  <dcterms:modified xsi:type="dcterms:W3CDTF">2017-09-21T02:56:44Z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NXTAG2">
    <vt:lpwstr>000800f819000000000001024120</vt:lpwstr>
  </property>
  <property fmtid="{D5CDD505-2E9C-101B-9397-08002B2CF9AE}" pid="4" name="KSOProductBuildVer">
    <vt:lpwstr>2052-6.6.0.2855</vt:lpwstr>
  </property>
</Properties>
</file>